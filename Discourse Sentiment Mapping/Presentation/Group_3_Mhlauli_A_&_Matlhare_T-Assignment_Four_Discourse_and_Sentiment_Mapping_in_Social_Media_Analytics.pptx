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2"/>
  </p:notesMasterIdLst>
  <p:sldIdLst>
    <p:sldId id="256" r:id="rId2"/>
    <p:sldId id="257" r:id="rId3"/>
    <p:sldId id="258" r:id="rId4"/>
    <p:sldId id="259" r:id="rId5"/>
    <p:sldId id="260" r:id="rId6"/>
    <p:sldId id="296" r:id="rId7"/>
    <p:sldId id="262" r:id="rId8"/>
    <p:sldId id="261" r:id="rId9"/>
    <p:sldId id="263" r:id="rId10"/>
    <p:sldId id="274" r:id="rId11"/>
  </p:sldIdLst>
  <p:sldSz cx="9144000" cy="5143500" type="screen16x9"/>
  <p:notesSz cx="6858000" cy="9144000"/>
  <p:embeddedFontLst>
    <p:embeddedFont>
      <p:font typeface="Baloo 2" panose="020B0604020202020204" charset="0"/>
      <p:regular r:id="rId13"/>
      <p:bold r:id="rId14"/>
    </p:embeddedFont>
    <p:embeddedFont>
      <p:font typeface="Nunito Light" pitchFamily="2" charset="0"/>
      <p:regular r:id="rId15"/>
      <p:italic r:id="rId16"/>
    </p:embeddedFont>
    <p:embeddedFont>
      <p:font typeface="Poppins" panose="00000500000000000000" pitchFamily="2" charset="0"/>
      <p:regular r:id="rId17"/>
      <p:bold r:id="rId18"/>
      <p:italic r:id="rId19"/>
      <p:boldItalic r:id="rId20"/>
    </p:embeddedFont>
    <p:embeddedFont>
      <p:font typeface="Raleway"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A31203-29D4-4CAA-B7F1-83ED001941A9}">
  <a:tblStyle styleId="{DEA31203-29D4-4CAA-B7F1-83ED001941A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CF5DEEE-F1DA-4717-900B-65108622471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412" autoAdjust="0"/>
  </p:normalViewPr>
  <p:slideViewPr>
    <p:cSldViewPr snapToGrid="0">
      <p:cViewPr varScale="1">
        <p:scale>
          <a:sx n="97" d="100"/>
          <a:sy n="97" d="100"/>
        </p:scale>
        <p:origin x="1042"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Good morning everyone. We are Group 3, and our project for Assignment 4 is 'Discourse and Sentiment Mapping in Social Media Analytics.' Over the next few minutes, we will walk you through how we </a:t>
            </a:r>
            <a:r>
              <a:rPr lang="en-ZA" dirty="0" err="1"/>
              <a:t>analyzed</a:t>
            </a:r>
            <a:r>
              <a:rPr lang="en-ZA" dirty="0"/>
              <a:t> a large, restricted social media dataset to identify its dominant themes, emotional tone, and the underlying structure of the conversation.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87c32eba5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87c32eba5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ZA" dirty="0"/>
              <a:t>Our main goal was to map the 'conversation about the conversation.' We wanted to understand </a:t>
            </a:r>
            <a:r>
              <a:rPr lang="en-ZA" i="1" dirty="0"/>
              <a:t>what</a:t>
            </a:r>
            <a:r>
              <a:rPr lang="en-ZA" dirty="0"/>
              <a:t> people were talking about, </a:t>
            </a:r>
            <a:r>
              <a:rPr lang="en-ZA" i="1" dirty="0"/>
              <a:t>how</a:t>
            </a:r>
            <a:r>
              <a:rPr lang="en-ZA" dirty="0"/>
              <a:t> they felt about it, and how those ideas were connected.</a:t>
            </a:r>
          </a:p>
          <a:p>
            <a:pPr marL="158750" indent="0">
              <a:buNone/>
            </a:pPr>
            <a:r>
              <a:rPr lang="en-ZA" dirty="0"/>
              <a:t>It's critical to note that this project came with strict ethical constraints. We were working under an NDA, so all of our analysis, which you'll see today, is at the aggregate level. Our focus was on mapping the overall discourse dynamics, not on any individual users.</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This slide shows our 4-step methodology. First, we performed an essential data cleaning and preprocessing step. Second, we ran sentiment analysis to classify the emotional tone of each post. Third, we used </a:t>
            </a:r>
            <a:r>
              <a:rPr lang="en-ZA" dirty="0" err="1"/>
              <a:t>BERTopic</a:t>
            </a:r>
            <a:r>
              <a:rPr lang="en-ZA" dirty="0"/>
              <a:t>, a state-of-the-art model, to identify the main topics. Finally, and most importantly, we combined these two analyses to create our final discourse map, which we then interpreted.</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ZA" b="0" dirty="0"/>
              <a:t>Before we could </a:t>
            </a:r>
            <a:r>
              <a:rPr lang="en-ZA" b="0" dirty="0" err="1"/>
              <a:t>analyze</a:t>
            </a:r>
            <a:r>
              <a:rPr lang="en-ZA" b="0" dirty="0"/>
              <a:t> </a:t>
            </a:r>
            <a:r>
              <a:rPr lang="en-ZA" b="0" i="1" dirty="0"/>
              <a:t>what</a:t>
            </a:r>
            <a:r>
              <a:rPr lang="en-ZA" b="0" dirty="0"/>
              <a:t> people were saying, we had to understand the fundamental shape of the data itself. This Exploratory Data Analysis, or EDA, was crucial, and it revealed some very important characteristics about our dataset.</a:t>
            </a:r>
          </a:p>
          <a:p>
            <a:pPr marL="158750" indent="0">
              <a:buNone/>
            </a:pPr>
            <a:r>
              <a:rPr lang="en-ZA" b="0" dirty="0"/>
              <a:t>First, the content profile. We're looking at 10,000 posts over a 134-day period. As you can see, the content is extremely clean. The average post length is 34 words, and the standard deviation is tiny, which means almost all posts are this length. Most importantly, there are zero mentions, zero hashtags, and zero URLs. This told us we are </a:t>
            </a:r>
            <a:r>
              <a:rPr lang="en-ZA" b="0" dirty="0" err="1"/>
              <a:t>analyzing</a:t>
            </a:r>
            <a:r>
              <a:rPr lang="en-ZA" b="0" dirty="0"/>
              <a:t> a "closed garden"—a clean, text-only dataset. This is a huge advantage, as it means our analysis can be 100% focused on the </a:t>
            </a:r>
            <a:r>
              <a:rPr lang="en-ZA" b="0" i="1" dirty="0"/>
              <a:t>textual content</a:t>
            </a:r>
            <a:r>
              <a:rPr lang="en-ZA" b="0" dirty="0"/>
              <a:t> without being distracted by external links or complex user interactions.</a:t>
            </a:r>
          </a:p>
          <a:p>
            <a:pPr marL="158750" indent="0">
              <a:buNone/>
            </a:pPr>
            <a:r>
              <a:rPr lang="en-ZA" b="0" dirty="0"/>
              <a:t>Second, and most importantly, the user activity. This was our single most significant finding. Out of 10,000 posts, we have 9,447 unique users. This means almost every post is from a different person. The average posts per user is 1.06. Even the most active user in the entire 5-month period only posted 6 times. This is critical: it means we are </a:t>
            </a:r>
            <a:r>
              <a:rPr lang="en-ZA" b="0" i="1" dirty="0"/>
              <a:t>not</a:t>
            </a:r>
            <a:r>
              <a:rPr lang="en-ZA" b="0" dirty="0"/>
              <a:t> </a:t>
            </a:r>
            <a:r>
              <a:rPr lang="en-ZA" b="0" dirty="0" err="1"/>
              <a:t>analyzing</a:t>
            </a:r>
            <a:r>
              <a:rPr lang="en-ZA" b="0" dirty="0"/>
              <a:t> a typical social media 'community' dominated by a few loud 'power users.' Instead, we are </a:t>
            </a:r>
            <a:r>
              <a:rPr lang="en-ZA" b="0" dirty="0" err="1"/>
              <a:t>analyzing</a:t>
            </a:r>
            <a:r>
              <a:rPr lang="en-ZA" b="0" dirty="0"/>
              <a:t> a very 'wide and shallow' discourse—a massive collection of individual statements. There is no loud minority skewing our results.</a:t>
            </a:r>
          </a:p>
          <a:p>
            <a:pPr marL="158750" indent="0">
              <a:buNone/>
            </a:pPr>
            <a:r>
              <a:rPr lang="en-ZA" b="0" dirty="0"/>
              <a:t>Finally, the temporal profile. The posting activity is almost perfectly uniform, 24 hours a day, 7 days a week. We don't see the organic 'peaks and valleys' you'd expect from human </a:t>
            </a:r>
            <a:r>
              <a:rPr lang="en-ZA" b="0" dirty="0" err="1"/>
              <a:t>behavior</a:t>
            </a:r>
            <a:r>
              <a:rPr lang="en-ZA" b="0" dirty="0"/>
              <a:t>, like more posts in the evening or fewer at 3 AM. This, combined with the stable engagement numbers, confirms that our dataset is incredibly well-balanced and not skewed by a single "viral" event or time of day.</a:t>
            </a:r>
          </a:p>
          <a:p>
            <a:pPr marL="158750" indent="0">
              <a:buNone/>
            </a:pPr>
            <a:r>
              <a:rPr lang="en-ZA" b="0" dirty="0"/>
              <a:t>So, to summarize our EDA: We are working with a high-quality, balanced, text-only dataset of 10,000 individual statements from nearly 10,000 different people. This "wide, shallow" structure is perfect for our analysis, as it means the sentiment and topics we find are truly representative of the </a:t>
            </a:r>
            <a:r>
              <a:rPr lang="en-ZA" b="0" i="1" dirty="0"/>
              <a:t>entire group</a:t>
            </a:r>
            <a:r>
              <a:rPr lang="en-ZA" b="0" dirty="0"/>
              <a:t>, not just a few active users.</a:t>
            </a:r>
          </a:p>
          <a:p>
            <a:pPr marL="158750" indent="0">
              <a:buNone/>
            </a:pPr>
            <a:r>
              <a:rPr lang="en-ZA" b="0" dirty="0"/>
              <a:t>With that understanding, our first step was to </a:t>
            </a:r>
            <a:r>
              <a:rPr lang="en-ZA" b="0" dirty="0" err="1"/>
              <a:t>analyze</a:t>
            </a:r>
            <a:r>
              <a:rPr lang="en-ZA" b="0" dirty="0"/>
              <a:t> the emotional tone of these 10,000 posts.</a:t>
            </a:r>
          </a:p>
          <a:p>
            <a:pPr marL="0" lvl="0" indent="0" algn="l" rtl="0">
              <a:spcBef>
                <a:spcPts val="0"/>
              </a:spcBef>
              <a:spcAft>
                <a:spcPts val="0"/>
              </a:spcAft>
              <a:buNone/>
            </a:pPr>
            <a:endParaRPr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e94c3e8a9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1e94c3e8a9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Our first major finding is from the sentiment analysis. As you can see, the conversation is overwhelmingly positive, at </a:t>
            </a:r>
            <a:r>
              <a:rPr lang="en-ZA" b="1" dirty="0"/>
              <a:t>63.19%</a:t>
            </a:r>
            <a:r>
              <a:rPr lang="en-ZA" dirty="0"/>
              <a:t>. Negative sentiment is remarkably low, at just </a:t>
            </a:r>
            <a:r>
              <a:rPr lang="en-ZA" b="1" dirty="0"/>
              <a:t>11.08%</a:t>
            </a:r>
            <a:r>
              <a:rPr lang="en-ZA" dirty="0"/>
              <a:t>. This is a crucial finding because it immediately tells us the environment is stable and favourable. That 11% figure isn't a sign of a crisis; it's a healthy baseline that we can now monitor. We also see a large 'Mixed/Neutral' block, which points to a high level of nuanced discussion.</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a:extLst>
            <a:ext uri="{FF2B5EF4-FFF2-40B4-BE49-F238E27FC236}">
              <a16:creationId xmlns:a16="http://schemas.microsoft.com/office/drawing/2014/main" id="{E86787E7-B68E-75AB-2FD3-770D4571F7D3}"/>
            </a:ext>
          </a:extLst>
        </p:cNvPr>
        <p:cNvGrpSpPr/>
        <p:nvPr/>
      </p:nvGrpSpPr>
      <p:grpSpPr>
        <a:xfrm>
          <a:off x="0" y="0"/>
          <a:ext cx="0" cy="0"/>
          <a:chOff x="0" y="0"/>
          <a:chExt cx="0" cy="0"/>
        </a:xfrm>
      </p:grpSpPr>
      <p:sp>
        <p:nvSpPr>
          <p:cNvPr id="513" name="Google Shape;513;g54dda1946d_6_322:notes">
            <a:extLst>
              <a:ext uri="{FF2B5EF4-FFF2-40B4-BE49-F238E27FC236}">
                <a16:creationId xmlns:a16="http://schemas.microsoft.com/office/drawing/2014/main" id="{B36D9272-05CB-F536-002E-2E9DFC4A7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54dda1946d_6_322:notes">
            <a:extLst>
              <a:ext uri="{FF2B5EF4-FFF2-40B4-BE49-F238E27FC236}">
                <a16:creationId xmlns:a16="http://schemas.microsoft.com/office/drawing/2014/main" id="{0DEBBBB4-4E3C-EE36-C861-A167AC1987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When we </a:t>
            </a:r>
            <a:r>
              <a:rPr lang="en-ZA" dirty="0" err="1"/>
              <a:t>analyzed</a:t>
            </a:r>
            <a:r>
              <a:rPr lang="en-ZA" dirty="0"/>
              <a:t> </a:t>
            </a:r>
            <a:r>
              <a:rPr lang="en-ZA" i="1" dirty="0"/>
              <a:t>what</a:t>
            </a:r>
            <a:r>
              <a:rPr lang="en-ZA" dirty="0"/>
              <a:t> people were talking about, our topic model found one clear, dominant theme, which we labelled 'General Discussion.' This topic was the </a:t>
            </a:r>
            <a:r>
              <a:rPr lang="en-ZA" dirty="0" err="1"/>
              <a:t>center</a:t>
            </a:r>
            <a:r>
              <a:rPr lang="en-ZA" dirty="0"/>
              <a:t> of gravity for the entire dataset. It had the most posts and, as we'll see, was strongly linked to the positive sentiment we just discussed. Other, smaller, more specific topics were also identified, but this 'General Discussion' hub was the most important finding</a:t>
            </a:r>
            <a:endParaRPr dirty="0"/>
          </a:p>
        </p:txBody>
      </p:sp>
    </p:spTree>
    <p:extLst>
      <p:ext uri="{BB962C8B-B14F-4D97-AF65-F5344CB8AC3E}">
        <p14:creationId xmlns:p14="http://schemas.microsoft.com/office/powerpoint/2010/main" val="3041194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e94c3e8a9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1e94c3e8a9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This slide shows our most important insight. We combined our previous two findings to create a discourse map. We expected to find 'angry topics' and 'happy topics,' but we didn't. Instead, our key finding was that the 'Mixed' sentiment profile was spread </a:t>
            </a:r>
            <a:r>
              <a:rPr lang="en-ZA" i="1" dirty="0"/>
              <a:t>across all topics</a:t>
            </a:r>
            <a:r>
              <a:rPr lang="en-ZA" dirty="0"/>
              <a:t>. This tells us the conversation is highly nuanced. Even in the main positive hub, people are expressing complex, thoughtful opinions. This is a sign of a healthy, mature community, not a polarized one.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Our analysis leads directly to these four actionable recommendations. First, since the 'General Discussion' topic is so large and positive, we recommend prioritizing content that aligns with it. Second, that 11.08% negative rate is now your key performance indicator; the goal is to keep it stable. Third, we suggest a rapid-response protocol for influential users, just to be safe. And finally, don't ignore the 'Mixed' profile. These are your most engaged users; embrace their nuance by publishing transparent, positive updates to answer their questions.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1e94c3e8a9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1e94c3e8a9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It's important to be transparent about our limitations. Our analysis was focused only on text, and it's a static snapshot of a specific time period. This leads directly to our suggestions for future research. The next steps would be to add multimodal analysis for images, conduct a cascade analysis to see </a:t>
            </a:r>
            <a:r>
              <a:rPr lang="en-ZA" i="1" dirty="0"/>
              <a:t>how</a:t>
            </a:r>
            <a:r>
              <a:rPr lang="en-ZA" dirty="0"/>
              <a:t> information spreads, and, most powerfully, to build a real-time dashboard to monitor the KPIs we identified</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1e94c3e8a91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1e94c3e8a91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901975" y="1446263"/>
            <a:ext cx="4528800" cy="19344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191919"/>
              </a:buClr>
              <a:buSzPts val="5200"/>
              <a:buNone/>
              <a:defRPr sz="3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3901975" y="3436038"/>
            <a:ext cx="4528800" cy="475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66900" y="-20050"/>
            <a:ext cx="9280825" cy="1075500"/>
            <a:chOff x="-66900" y="-20050"/>
            <a:chExt cx="9280825" cy="1075500"/>
          </a:xfrm>
        </p:grpSpPr>
        <p:cxnSp>
          <p:nvCxnSpPr>
            <p:cNvPr id="12" name="Google Shape;12;p2"/>
            <p:cNvCxnSpPr/>
            <p:nvPr/>
          </p:nvCxnSpPr>
          <p:spPr>
            <a:xfrm flipH="1">
              <a:off x="-66900" y="-20050"/>
              <a:ext cx="1195800" cy="1075500"/>
            </a:xfrm>
            <a:prstGeom prst="straightConnector1">
              <a:avLst/>
            </a:prstGeom>
            <a:noFill/>
            <a:ln w="9525" cap="flat" cmpd="sng">
              <a:solidFill>
                <a:schemeClr val="dk1"/>
              </a:solidFill>
              <a:prstDash val="dash"/>
              <a:round/>
              <a:headEnd type="none" w="med" len="med"/>
              <a:tailEnd type="none" w="med" len="med"/>
            </a:ln>
          </p:spPr>
        </p:cxnSp>
        <p:cxnSp>
          <p:nvCxnSpPr>
            <p:cNvPr id="13" name="Google Shape;13;p2"/>
            <p:cNvCxnSpPr/>
            <p:nvPr/>
          </p:nvCxnSpPr>
          <p:spPr>
            <a:xfrm rot="10800000">
              <a:off x="6474025" y="50"/>
              <a:ext cx="2739900" cy="1055400"/>
            </a:xfrm>
            <a:prstGeom prst="straightConnector1">
              <a:avLst/>
            </a:prstGeom>
            <a:noFill/>
            <a:ln w="9525" cap="flat" cmpd="sng">
              <a:solidFill>
                <a:schemeClr val="dk1"/>
              </a:solidFill>
              <a:prstDash val="dash"/>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grpSp>
        <p:nvGrpSpPr>
          <p:cNvPr id="15" name="Google Shape;15;p3"/>
          <p:cNvGrpSpPr/>
          <p:nvPr/>
        </p:nvGrpSpPr>
        <p:grpSpPr>
          <a:xfrm>
            <a:off x="-66900" y="-20050"/>
            <a:ext cx="9345250" cy="5444125"/>
            <a:chOff x="-66900" y="-20050"/>
            <a:chExt cx="9345250" cy="5444125"/>
          </a:xfrm>
        </p:grpSpPr>
        <p:cxnSp>
          <p:nvCxnSpPr>
            <p:cNvPr id="16" name="Google Shape;16;p3"/>
            <p:cNvCxnSpPr/>
            <p:nvPr/>
          </p:nvCxnSpPr>
          <p:spPr>
            <a:xfrm flipH="1">
              <a:off x="-66900" y="-20050"/>
              <a:ext cx="1195800" cy="1075500"/>
            </a:xfrm>
            <a:prstGeom prst="straightConnector1">
              <a:avLst/>
            </a:prstGeom>
            <a:noFill/>
            <a:ln w="9525" cap="flat" cmpd="sng">
              <a:solidFill>
                <a:schemeClr val="dk1"/>
              </a:solidFill>
              <a:prstDash val="dash"/>
              <a:round/>
              <a:headEnd type="none" w="med" len="med"/>
              <a:tailEnd type="none" w="med" len="med"/>
            </a:ln>
          </p:spPr>
        </p:cxnSp>
        <p:cxnSp>
          <p:nvCxnSpPr>
            <p:cNvPr id="17" name="Google Shape;17;p3"/>
            <p:cNvCxnSpPr/>
            <p:nvPr/>
          </p:nvCxnSpPr>
          <p:spPr>
            <a:xfrm rot="10800000">
              <a:off x="6474025" y="50"/>
              <a:ext cx="2739900" cy="1055400"/>
            </a:xfrm>
            <a:prstGeom prst="straightConnector1">
              <a:avLst/>
            </a:prstGeom>
            <a:noFill/>
            <a:ln w="9525" cap="flat" cmpd="sng">
              <a:solidFill>
                <a:schemeClr val="dk1"/>
              </a:solidFill>
              <a:prstDash val="dash"/>
              <a:round/>
              <a:headEnd type="none" w="med" len="med"/>
              <a:tailEnd type="none" w="med" len="med"/>
            </a:ln>
          </p:spPr>
        </p:cxnSp>
        <p:cxnSp>
          <p:nvCxnSpPr>
            <p:cNvPr id="18" name="Google Shape;18;p3"/>
            <p:cNvCxnSpPr/>
            <p:nvPr/>
          </p:nvCxnSpPr>
          <p:spPr>
            <a:xfrm flipH="1">
              <a:off x="8082550" y="4348575"/>
              <a:ext cx="1195800" cy="1075500"/>
            </a:xfrm>
            <a:prstGeom prst="straightConnector1">
              <a:avLst/>
            </a:prstGeom>
            <a:noFill/>
            <a:ln w="9525" cap="flat" cmpd="sng">
              <a:solidFill>
                <a:schemeClr val="dk1"/>
              </a:solidFill>
              <a:prstDash val="dash"/>
              <a:round/>
              <a:headEnd type="none" w="med" len="med"/>
              <a:tailEnd type="none" w="med" len="med"/>
            </a:ln>
          </p:spPr>
        </p:cxnSp>
      </p:grpSp>
      <p:grpSp>
        <p:nvGrpSpPr>
          <p:cNvPr id="19" name="Google Shape;19;p3"/>
          <p:cNvGrpSpPr/>
          <p:nvPr/>
        </p:nvGrpSpPr>
        <p:grpSpPr>
          <a:xfrm>
            <a:off x="3" y="63630"/>
            <a:ext cx="8964525" cy="5079877"/>
            <a:chOff x="3" y="63630"/>
            <a:chExt cx="8964525" cy="5079877"/>
          </a:xfrm>
        </p:grpSpPr>
        <p:grpSp>
          <p:nvGrpSpPr>
            <p:cNvPr id="20" name="Google Shape;20;p3"/>
            <p:cNvGrpSpPr/>
            <p:nvPr/>
          </p:nvGrpSpPr>
          <p:grpSpPr>
            <a:xfrm rot="-1286636">
              <a:off x="96689" y="4351633"/>
              <a:ext cx="769298" cy="674599"/>
              <a:chOff x="1565409" y="2345016"/>
              <a:chExt cx="769278" cy="674581"/>
            </a:xfrm>
          </p:grpSpPr>
          <p:sp>
            <p:nvSpPr>
              <p:cNvPr id="21" name="Google Shape;21;p3"/>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flipH="1">
              <a:off x="124176" y="6363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rot="1799961">
              <a:off x="8024802" y="4240323"/>
              <a:ext cx="812401" cy="726986"/>
              <a:chOff x="995678" y="3460637"/>
              <a:chExt cx="502403" cy="449580"/>
            </a:xfrm>
          </p:grpSpPr>
          <p:sp>
            <p:nvSpPr>
              <p:cNvPr id="28" name="Google Shape;28;p3"/>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3"/>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2700000" flipH="1">
              <a:off x="8583171" y="95923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flipH="1">
              <a:off x="8503172" y="1633925"/>
              <a:ext cx="282130" cy="253361"/>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3"/>
          <p:cNvSpPr txBox="1">
            <a:spLocks noGrp="1"/>
          </p:cNvSpPr>
          <p:nvPr>
            <p:ph type="title"/>
          </p:nvPr>
        </p:nvSpPr>
        <p:spPr>
          <a:xfrm>
            <a:off x="4047175" y="2571975"/>
            <a:ext cx="4383600" cy="8418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6" name="Google Shape;36;p3"/>
          <p:cNvSpPr txBox="1">
            <a:spLocks noGrp="1"/>
          </p:cNvSpPr>
          <p:nvPr>
            <p:ph type="title" idx="2" hasCustomPrompt="1"/>
          </p:nvPr>
        </p:nvSpPr>
        <p:spPr>
          <a:xfrm>
            <a:off x="5621125" y="1729950"/>
            <a:ext cx="1235700" cy="841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7" name="Google Shape;37;p3"/>
          <p:cNvSpPr>
            <a:spLocks noGrp="1"/>
          </p:cNvSpPr>
          <p:nvPr>
            <p:ph type="pic" idx="3"/>
          </p:nvPr>
        </p:nvSpPr>
        <p:spPr>
          <a:xfrm>
            <a:off x="713225" y="539500"/>
            <a:ext cx="31278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1"/>
        <p:cNvGrpSpPr/>
        <p:nvPr/>
      </p:nvGrpSpPr>
      <p:grpSpPr>
        <a:xfrm>
          <a:off x="0" y="0"/>
          <a:ext cx="0" cy="0"/>
          <a:chOff x="0" y="0"/>
          <a:chExt cx="0" cy="0"/>
        </a:xfrm>
      </p:grpSpPr>
      <p:grpSp>
        <p:nvGrpSpPr>
          <p:cNvPr id="52" name="Google Shape;52;p5"/>
          <p:cNvGrpSpPr/>
          <p:nvPr/>
        </p:nvGrpSpPr>
        <p:grpSpPr>
          <a:xfrm>
            <a:off x="-400775" y="-128150"/>
            <a:ext cx="9585600" cy="5391775"/>
            <a:chOff x="-400775" y="-128150"/>
            <a:chExt cx="9585600" cy="5391775"/>
          </a:xfrm>
        </p:grpSpPr>
        <p:cxnSp>
          <p:nvCxnSpPr>
            <p:cNvPr id="53" name="Google Shape;53;p5"/>
            <p:cNvCxnSpPr/>
            <p:nvPr/>
          </p:nvCxnSpPr>
          <p:spPr>
            <a:xfrm flipH="1">
              <a:off x="-187100" y="-128150"/>
              <a:ext cx="1022100" cy="1857000"/>
            </a:xfrm>
            <a:prstGeom prst="straightConnector1">
              <a:avLst/>
            </a:prstGeom>
            <a:noFill/>
            <a:ln w="9525" cap="flat" cmpd="sng">
              <a:solidFill>
                <a:schemeClr val="dk1"/>
              </a:solidFill>
              <a:prstDash val="dash"/>
              <a:round/>
              <a:headEnd type="none" w="med" len="med"/>
              <a:tailEnd type="none" w="med" len="med"/>
            </a:ln>
          </p:spPr>
        </p:cxnSp>
        <p:cxnSp>
          <p:nvCxnSpPr>
            <p:cNvPr id="54" name="Google Shape;54;p5"/>
            <p:cNvCxnSpPr/>
            <p:nvPr/>
          </p:nvCxnSpPr>
          <p:spPr>
            <a:xfrm rot="10800000" flipH="1">
              <a:off x="8536825" y="3437025"/>
              <a:ext cx="648000" cy="1797000"/>
            </a:xfrm>
            <a:prstGeom prst="straightConnector1">
              <a:avLst/>
            </a:prstGeom>
            <a:noFill/>
            <a:ln w="9525" cap="flat" cmpd="sng">
              <a:solidFill>
                <a:schemeClr val="dk1"/>
              </a:solidFill>
              <a:prstDash val="dash"/>
              <a:round/>
              <a:headEnd type="none" w="med" len="med"/>
              <a:tailEnd type="none" w="med" len="med"/>
            </a:ln>
          </p:spPr>
        </p:cxnSp>
        <p:cxnSp>
          <p:nvCxnSpPr>
            <p:cNvPr id="55" name="Google Shape;55;p5"/>
            <p:cNvCxnSpPr/>
            <p:nvPr/>
          </p:nvCxnSpPr>
          <p:spPr>
            <a:xfrm>
              <a:off x="-400775" y="4101425"/>
              <a:ext cx="2471700" cy="1162200"/>
            </a:xfrm>
            <a:prstGeom prst="straightConnector1">
              <a:avLst/>
            </a:prstGeom>
            <a:noFill/>
            <a:ln w="9525" cap="flat" cmpd="sng">
              <a:solidFill>
                <a:schemeClr val="dk1"/>
              </a:solidFill>
              <a:prstDash val="dash"/>
              <a:round/>
              <a:headEnd type="none" w="med" len="med"/>
              <a:tailEnd type="none" w="med" len="med"/>
            </a:ln>
          </p:spPr>
        </p:cxnSp>
      </p:grpSp>
      <p:grpSp>
        <p:nvGrpSpPr>
          <p:cNvPr id="56" name="Google Shape;56;p5"/>
          <p:cNvGrpSpPr/>
          <p:nvPr/>
        </p:nvGrpSpPr>
        <p:grpSpPr>
          <a:xfrm>
            <a:off x="-85550" y="209476"/>
            <a:ext cx="8986007" cy="772692"/>
            <a:chOff x="-85550" y="209476"/>
            <a:chExt cx="8986007" cy="772692"/>
          </a:xfrm>
        </p:grpSpPr>
        <p:sp>
          <p:nvSpPr>
            <p:cNvPr id="57" name="Google Shape;57;p5"/>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rot="-2700000" flipH="1">
              <a:off x="8583171" y="67868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5"/>
            <p:cNvGrpSpPr/>
            <p:nvPr/>
          </p:nvGrpSpPr>
          <p:grpSpPr>
            <a:xfrm>
              <a:off x="-85550" y="215461"/>
              <a:ext cx="648023" cy="648075"/>
              <a:chOff x="16546" y="4513750"/>
              <a:chExt cx="572661" cy="572707"/>
            </a:xfrm>
          </p:grpSpPr>
          <p:sp>
            <p:nvSpPr>
              <p:cNvPr id="60" name="Google Shape;60;p5"/>
              <p:cNvSpPr/>
              <p:nvPr/>
            </p:nvSpPr>
            <p:spPr>
              <a:xfrm>
                <a:off x="16546" y="4513750"/>
                <a:ext cx="572661" cy="572707"/>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58828" y="4608008"/>
                <a:ext cx="463169" cy="285223"/>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2" name="Google Shape;6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63" name="Google Shape;63;p5"/>
          <p:cNvSpPr txBox="1">
            <a:spLocks noGrp="1"/>
          </p:cNvSpPr>
          <p:nvPr>
            <p:ph type="subTitle" idx="1"/>
          </p:nvPr>
        </p:nvSpPr>
        <p:spPr>
          <a:xfrm>
            <a:off x="713225" y="3363124"/>
            <a:ext cx="4243200" cy="89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4" name="Google Shape;64;p5"/>
          <p:cNvSpPr txBox="1">
            <a:spLocks noGrp="1"/>
          </p:cNvSpPr>
          <p:nvPr>
            <p:ph type="subTitle" idx="2"/>
          </p:nvPr>
        </p:nvSpPr>
        <p:spPr>
          <a:xfrm>
            <a:off x="713225" y="1805974"/>
            <a:ext cx="4243200" cy="89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5" name="Google Shape;65;p5"/>
          <p:cNvSpPr txBox="1">
            <a:spLocks noGrp="1"/>
          </p:cNvSpPr>
          <p:nvPr>
            <p:ph type="subTitle" idx="3"/>
          </p:nvPr>
        </p:nvSpPr>
        <p:spPr>
          <a:xfrm>
            <a:off x="713226" y="1409475"/>
            <a:ext cx="4243200" cy="47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6" name="Google Shape;66;p5"/>
          <p:cNvSpPr txBox="1">
            <a:spLocks noGrp="1"/>
          </p:cNvSpPr>
          <p:nvPr>
            <p:ph type="subTitle" idx="4"/>
          </p:nvPr>
        </p:nvSpPr>
        <p:spPr>
          <a:xfrm>
            <a:off x="713226" y="2966627"/>
            <a:ext cx="4243200" cy="47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grpSp>
        <p:nvGrpSpPr>
          <p:cNvPr id="69" name="Google Shape;69;p6"/>
          <p:cNvGrpSpPr/>
          <p:nvPr/>
        </p:nvGrpSpPr>
        <p:grpSpPr>
          <a:xfrm>
            <a:off x="16546" y="86979"/>
            <a:ext cx="9186506" cy="4999478"/>
            <a:chOff x="16546" y="86979"/>
            <a:chExt cx="9186506" cy="4999478"/>
          </a:xfrm>
        </p:grpSpPr>
        <p:grpSp>
          <p:nvGrpSpPr>
            <p:cNvPr id="70" name="Google Shape;70;p6"/>
            <p:cNvGrpSpPr/>
            <p:nvPr/>
          </p:nvGrpSpPr>
          <p:grpSpPr>
            <a:xfrm>
              <a:off x="8390667" y="86979"/>
              <a:ext cx="812385" cy="727017"/>
              <a:chOff x="995678" y="3460637"/>
              <a:chExt cx="502403" cy="449580"/>
            </a:xfrm>
          </p:grpSpPr>
          <p:sp>
            <p:nvSpPr>
              <p:cNvPr id="71" name="Google Shape;71;p6"/>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75;p6"/>
            <p:cNvSpPr/>
            <p:nvPr/>
          </p:nvSpPr>
          <p:spPr>
            <a:xfrm flipH="1">
              <a:off x="8480120" y="101772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rot="-2700000" flipH="1">
              <a:off x="8632521" y="148693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 name="Google Shape;77;p6"/>
            <p:cNvGrpSpPr/>
            <p:nvPr/>
          </p:nvGrpSpPr>
          <p:grpSpPr>
            <a:xfrm>
              <a:off x="16546" y="4513750"/>
              <a:ext cx="572661" cy="572707"/>
              <a:chOff x="16546" y="4513750"/>
              <a:chExt cx="572661" cy="572707"/>
            </a:xfrm>
          </p:grpSpPr>
          <p:sp>
            <p:nvSpPr>
              <p:cNvPr id="78" name="Google Shape;78;p6"/>
              <p:cNvSpPr/>
              <p:nvPr/>
            </p:nvSpPr>
            <p:spPr>
              <a:xfrm>
                <a:off x="16546" y="4513750"/>
                <a:ext cx="572661" cy="572707"/>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58828" y="4608008"/>
                <a:ext cx="463169" cy="285223"/>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 name="Google Shape;80;p6"/>
          <p:cNvGrpSpPr/>
          <p:nvPr/>
        </p:nvGrpSpPr>
        <p:grpSpPr>
          <a:xfrm>
            <a:off x="-66900" y="-20050"/>
            <a:ext cx="9245075" cy="5223675"/>
            <a:chOff x="-66900" y="-20050"/>
            <a:chExt cx="9245075" cy="5223675"/>
          </a:xfrm>
        </p:grpSpPr>
        <p:cxnSp>
          <p:nvCxnSpPr>
            <p:cNvPr id="81" name="Google Shape;81;p6"/>
            <p:cNvCxnSpPr/>
            <p:nvPr/>
          </p:nvCxnSpPr>
          <p:spPr>
            <a:xfrm flipH="1">
              <a:off x="-66900" y="-20050"/>
              <a:ext cx="1195800" cy="1075500"/>
            </a:xfrm>
            <a:prstGeom prst="straightConnector1">
              <a:avLst/>
            </a:prstGeom>
            <a:noFill/>
            <a:ln w="9525" cap="flat" cmpd="sng">
              <a:solidFill>
                <a:schemeClr val="dk1"/>
              </a:solidFill>
              <a:prstDash val="dash"/>
              <a:round/>
              <a:headEnd type="none" w="med" len="med"/>
              <a:tailEnd type="none" w="med" len="med"/>
            </a:ln>
          </p:spPr>
        </p:cxnSp>
        <p:cxnSp>
          <p:nvCxnSpPr>
            <p:cNvPr id="82" name="Google Shape;82;p6"/>
            <p:cNvCxnSpPr/>
            <p:nvPr/>
          </p:nvCxnSpPr>
          <p:spPr>
            <a:xfrm rot="10800000" flipH="1">
              <a:off x="8503475" y="3446825"/>
              <a:ext cx="674700" cy="1756800"/>
            </a:xfrm>
            <a:prstGeom prst="straightConnector1">
              <a:avLst/>
            </a:prstGeom>
            <a:noFill/>
            <a:ln w="9525" cap="flat" cmpd="sng">
              <a:solidFill>
                <a:schemeClr val="dk1"/>
              </a:solidFill>
              <a:prstDash val="dash"/>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3"/>
        <p:cNvGrpSpPr/>
        <p:nvPr/>
      </p:nvGrpSpPr>
      <p:grpSpPr>
        <a:xfrm>
          <a:off x="0" y="0"/>
          <a:ext cx="0" cy="0"/>
          <a:chOff x="0" y="0"/>
          <a:chExt cx="0" cy="0"/>
        </a:xfrm>
      </p:grpSpPr>
      <p:grpSp>
        <p:nvGrpSpPr>
          <p:cNvPr id="84" name="Google Shape;84;p7"/>
          <p:cNvGrpSpPr/>
          <p:nvPr/>
        </p:nvGrpSpPr>
        <p:grpSpPr>
          <a:xfrm>
            <a:off x="67417" y="194591"/>
            <a:ext cx="1084595" cy="4826329"/>
            <a:chOff x="67417" y="194591"/>
            <a:chExt cx="1084595" cy="4826329"/>
          </a:xfrm>
        </p:grpSpPr>
        <p:sp>
          <p:nvSpPr>
            <p:cNvPr id="85" name="Google Shape;85;p7"/>
            <p:cNvSpPr/>
            <p:nvPr/>
          </p:nvSpPr>
          <p:spPr>
            <a:xfrm flipH="1">
              <a:off x="274438" y="194591"/>
              <a:ext cx="398332" cy="344917"/>
            </a:xfrm>
            <a:custGeom>
              <a:avLst/>
              <a:gdLst/>
              <a:ahLst/>
              <a:cxnLst/>
              <a:rect l="l" t="t" r="r" b="b"/>
              <a:pathLst>
                <a:path w="4727" h="4093" extrusionOk="0">
                  <a:moveTo>
                    <a:pt x="1229" y="1"/>
                  </a:moveTo>
                  <a:cubicBezTo>
                    <a:pt x="776" y="1"/>
                    <a:pt x="351" y="274"/>
                    <a:pt x="167" y="690"/>
                  </a:cubicBezTo>
                  <a:cubicBezTo>
                    <a:pt x="0" y="1078"/>
                    <a:pt x="48" y="1490"/>
                    <a:pt x="246" y="1799"/>
                  </a:cubicBezTo>
                  <a:lnTo>
                    <a:pt x="1592" y="3952"/>
                  </a:lnTo>
                  <a:cubicBezTo>
                    <a:pt x="1648" y="4044"/>
                    <a:pt x="1743" y="4093"/>
                    <a:pt x="1842" y="4093"/>
                  </a:cubicBezTo>
                  <a:cubicBezTo>
                    <a:pt x="1897" y="4093"/>
                    <a:pt x="1953" y="4078"/>
                    <a:pt x="2003" y="4047"/>
                  </a:cubicBezTo>
                  <a:lnTo>
                    <a:pt x="4157" y="2701"/>
                  </a:lnTo>
                  <a:cubicBezTo>
                    <a:pt x="4465" y="2503"/>
                    <a:pt x="4687" y="2163"/>
                    <a:pt x="4711" y="1735"/>
                  </a:cubicBezTo>
                  <a:cubicBezTo>
                    <a:pt x="4727" y="1268"/>
                    <a:pt x="4450" y="825"/>
                    <a:pt x="4022" y="635"/>
                  </a:cubicBezTo>
                  <a:cubicBezTo>
                    <a:pt x="3903" y="583"/>
                    <a:pt x="3780" y="561"/>
                    <a:pt x="3658" y="561"/>
                  </a:cubicBezTo>
                  <a:cubicBezTo>
                    <a:pt x="3056" y="561"/>
                    <a:pt x="2470" y="1086"/>
                    <a:pt x="2470" y="1086"/>
                  </a:cubicBezTo>
                  <a:cubicBezTo>
                    <a:pt x="2470" y="1086"/>
                    <a:pt x="2035" y="25"/>
                    <a:pt x="1267" y="1"/>
                  </a:cubicBezTo>
                  <a:cubicBezTo>
                    <a:pt x="1254" y="1"/>
                    <a:pt x="1242" y="1"/>
                    <a:pt x="1229"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flipH="1">
              <a:off x="895080" y="308437"/>
              <a:ext cx="256932" cy="231068"/>
            </a:xfrm>
            <a:custGeom>
              <a:avLst/>
              <a:gdLst/>
              <a:ahLst/>
              <a:cxnLst/>
              <a:rect l="l" t="t" r="r" b="b"/>
              <a:pathLst>
                <a:path w="3049" h="2742" extrusionOk="0">
                  <a:moveTo>
                    <a:pt x="2237" y="0"/>
                  </a:moveTo>
                  <a:cubicBezTo>
                    <a:pt x="2180" y="0"/>
                    <a:pt x="2123" y="7"/>
                    <a:pt x="2067" y="20"/>
                  </a:cubicBezTo>
                  <a:cubicBezTo>
                    <a:pt x="1576" y="139"/>
                    <a:pt x="1434" y="875"/>
                    <a:pt x="1434" y="875"/>
                  </a:cubicBezTo>
                  <a:cubicBezTo>
                    <a:pt x="1434" y="875"/>
                    <a:pt x="1092" y="671"/>
                    <a:pt x="747" y="671"/>
                  </a:cubicBezTo>
                  <a:cubicBezTo>
                    <a:pt x="616" y="671"/>
                    <a:pt x="486" y="700"/>
                    <a:pt x="373" y="780"/>
                  </a:cubicBezTo>
                  <a:cubicBezTo>
                    <a:pt x="120" y="954"/>
                    <a:pt x="1" y="1279"/>
                    <a:pt x="72" y="1580"/>
                  </a:cubicBezTo>
                  <a:cubicBezTo>
                    <a:pt x="135" y="1849"/>
                    <a:pt x="317" y="2047"/>
                    <a:pt x="547" y="2134"/>
                  </a:cubicBezTo>
                  <a:lnTo>
                    <a:pt x="2107" y="2728"/>
                  </a:lnTo>
                  <a:cubicBezTo>
                    <a:pt x="2131" y="2737"/>
                    <a:pt x="2156" y="2742"/>
                    <a:pt x="2180" y="2742"/>
                  </a:cubicBezTo>
                  <a:cubicBezTo>
                    <a:pt x="2258" y="2742"/>
                    <a:pt x="2330" y="2695"/>
                    <a:pt x="2360" y="2617"/>
                  </a:cubicBezTo>
                  <a:lnTo>
                    <a:pt x="2962" y="1057"/>
                  </a:lnTo>
                  <a:cubicBezTo>
                    <a:pt x="3049" y="828"/>
                    <a:pt x="3025" y="558"/>
                    <a:pt x="2867" y="329"/>
                  </a:cubicBezTo>
                  <a:cubicBezTo>
                    <a:pt x="2725" y="123"/>
                    <a:pt x="2484" y="0"/>
                    <a:pt x="2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87;p7"/>
            <p:cNvGrpSpPr/>
            <p:nvPr/>
          </p:nvGrpSpPr>
          <p:grpSpPr>
            <a:xfrm>
              <a:off x="67417" y="4293904"/>
              <a:ext cx="812385" cy="727017"/>
              <a:chOff x="995678" y="3460637"/>
              <a:chExt cx="502403" cy="449580"/>
            </a:xfrm>
          </p:grpSpPr>
          <p:sp>
            <p:nvSpPr>
              <p:cNvPr id="88" name="Google Shape;88;p7"/>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 name="Google Shape;92;p7"/>
          <p:cNvGrpSpPr/>
          <p:nvPr/>
        </p:nvGrpSpPr>
        <p:grpSpPr>
          <a:xfrm>
            <a:off x="-20650" y="-53450"/>
            <a:ext cx="9566125" cy="2912400"/>
            <a:chOff x="-20650" y="-53450"/>
            <a:chExt cx="9566125" cy="2912400"/>
          </a:xfrm>
        </p:grpSpPr>
        <p:cxnSp>
          <p:nvCxnSpPr>
            <p:cNvPr id="93" name="Google Shape;93;p7"/>
            <p:cNvCxnSpPr/>
            <p:nvPr/>
          </p:nvCxnSpPr>
          <p:spPr>
            <a:xfrm>
              <a:off x="7693875" y="-53450"/>
              <a:ext cx="1851600" cy="2912400"/>
            </a:xfrm>
            <a:prstGeom prst="straightConnector1">
              <a:avLst/>
            </a:prstGeom>
            <a:noFill/>
            <a:ln w="9525" cap="flat" cmpd="sng">
              <a:solidFill>
                <a:schemeClr val="dk1"/>
              </a:solidFill>
              <a:prstDash val="dash"/>
              <a:round/>
              <a:headEnd type="none" w="med" len="med"/>
              <a:tailEnd type="none" w="med" len="med"/>
            </a:ln>
          </p:spPr>
        </p:cxnSp>
        <p:cxnSp>
          <p:nvCxnSpPr>
            <p:cNvPr id="94" name="Google Shape;94;p7"/>
            <p:cNvCxnSpPr/>
            <p:nvPr/>
          </p:nvCxnSpPr>
          <p:spPr>
            <a:xfrm flipH="1">
              <a:off x="-20650" y="-53450"/>
              <a:ext cx="1102800" cy="1323300"/>
            </a:xfrm>
            <a:prstGeom prst="straightConnector1">
              <a:avLst/>
            </a:prstGeom>
            <a:noFill/>
            <a:ln w="9525" cap="flat" cmpd="sng">
              <a:solidFill>
                <a:schemeClr val="dk1"/>
              </a:solidFill>
              <a:prstDash val="dash"/>
              <a:round/>
              <a:headEnd type="none" w="med" len="med"/>
              <a:tailEnd type="none" w="med" len="med"/>
            </a:ln>
          </p:spPr>
        </p:cxnSp>
      </p:grpSp>
      <p:sp>
        <p:nvSpPr>
          <p:cNvPr id="95" name="Google Shape;95;p7"/>
          <p:cNvSpPr txBox="1">
            <a:spLocks noGrp="1"/>
          </p:cNvSpPr>
          <p:nvPr>
            <p:ph type="title"/>
          </p:nvPr>
        </p:nvSpPr>
        <p:spPr>
          <a:xfrm>
            <a:off x="713225" y="1136250"/>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96" name="Google Shape;96;p7"/>
          <p:cNvSpPr txBox="1">
            <a:spLocks noGrp="1"/>
          </p:cNvSpPr>
          <p:nvPr>
            <p:ph type="subTitle" idx="1"/>
          </p:nvPr>
        </p:nvSpPr>
        <p:spPr>
          <a:xfrm>
            <a:off x="713225" y="1708950"/>
            <a:ext cx="42948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97" name="Google Shape;97;p7"/>
          <p:cNvSpPr>
            <a:spLocks noGrp="1"/>
          </p:cNvSpPr>
          <p:nvPr>
            <p:ph type="pic" idx="2"/>
          </p:nvPr>
        </p:nvSpPr>
        <p:spPr>
          <a:xfrm>
            <a:off x="5643775" y="539500"/>
            <a:ext cx="2787000" cy="40644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8"/>
        <p:cNvGrpSpPr/>
        <p:nvPr/>
      </p:nvGrpSpPr>
      <p:grpSpPr>
        <a:xfrm>
          <a:off x="0" y="0"/>
          <a:ext cx="0" cy="0"/>
          <a:chOff x="0" y="0"/>
          <a:chExt cx="0" cy="0"/>
        </a:xfrm>
      </p:grpSpPr>
      <p:grpSp>
        <p:nvGrpSpPr>
          <p:cNvPr id="99" name="Google Shape;99;p8"/>
          <p:cNvGrpSpPr/>
          <p:nvPr/>
        </p:nvGrpSpPr>
        <p:grpSpPr>
          <a:xfrm>
            <a:off x="-66900" y="-20050"/>
            <a:ext cx="9280825" cy="1075500"/>
            <a:chOff x="-66900" y="-20050"/>
            <a:chExt cx="9280825" cy="1075500"/>
          </a:xfrm>
        </p:grpSpPr>
        <p:cxnSp>
          <p:nvCxnSpPr>
            <p:cNvPr id="100" name="Google Shape;100;p8"/>
            <p:cNvCxnSpPr/>
            <p:nvPr/>
          </p:nvCxnSpPr>
          <p:spPr>
            <a:xfrm flipH="1">
              <a:off x="-66900" y="-20050"/>
              <a:ext cx="1195800" cy="1075500"/>
            </a:xfrm>
            <a:prstGeom prst="straightConnector1">
              <a:avLst/>
            </a:prstGeom>
            <a:noFill/>
            <a:ln w="9525" cap="flat" cmpd="sng">
              <a:solidFill>
                <a:schemeClr val="dk1"/>
              </a:solidFill>
              <a:prstDash val="dash"/>
              <a:round/>
              <a:headEnd type="none" w="med" len="med"/>
              <a:tailEnd type="none" w="med" len="med"/>
            </a:ln>
          </p:spPr>
        </p:cxnSp>
        <p:cxnSp>
          <p:nvCxnSpPr>
            <p:cNvPr id="101" name="Google Shape;101;p8"/>
            <p:cNvCxnSpPr/>
            <p:nvPr/>
          </p:nvCxnSpPr>
          <p:spPr>
            <a:xfrm rot="10800000">
              <a:off x="6474025" y="50"/>
              <a:ext cx="2739900" cy="1055400"/>
            </a:xfrm>
            <a:prstGeom prst="straightConnector1">
              <a:avLst/>
            </a:prstGeom>
            <a:noFill/>
            <a:ln w="9525" cap="flat" cmpd="sng">
              <a:solidFill>
                <a:schemeClr val="dk1"/>
              </a:solidFill>
              <a:prstDash val="dash"/>
              <a:round/>
              <a:headEnd type="none" w="med" len="med"/>
              <a:tailEnd type="none" w="med" len="med"/>
            </a:ln>
          </p:spPr>
        </p:cxnSp>
      </p:grpSp>
      <p:sp>
        <p:nvSpPr>
          <p:cNvPr id="102" name="Google Shape;102;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03" name="Google Shape;103;p8"/>
          <p:cNvGrpSpPr/>
          <p:nvPr/>
        </p:nvGrpSpPr>
        <p:grpSpPr>
          <a:xfrm flipH="1">
            <a:off x="187039" y="177836"/>
            <a:ext cx="9702543" cy="4787815"/>
            <a:chOff x="-752736" y="193699"/>
            <a:chExt cx="9702543" cy="4787815"/>
          </a:xfrm>
        </p:grpSpPr>
        <p:grpSp>
          <p:nvGrpSpPr>
            <p:cNvPr id="104" name="Google Shape;104;p8"/>
            <p:cNvGrpSpPr/>
            <p:nvPr/>
          </p:nvGrpSpPr>
          <p:grpSpPr>
            <a:xfrm>
              <a:off x="309148" y="202191"/>
              <a:ext cx="8506276" cy="4779323"/>
              <a:chOff x="309148" y="202191"/>
              <a:chExt cx="8506276" cy="4779323"/>
            </a:xfrm>
          </p:grpSpPr>
          <p:grpSp>
            <p:nvGrpSpPr>
              <p:cNvPr id="105" name="Google Shape;105;p8"/>
              <p:cNvGrpSpPr/>
              <p:nvPr/>
            </p:nvGrpSpPr>
            <p:grpSpPr>
              <a:xfrm>
                <a:off x="309148" y="4226472"/>
                <a:ext cx="808155" cy="755042"/>
                <a:chOff x="1169100" y="1853651"/>
                <a:chExt cx="581867" cy="543626"/>
              </a:xfrm>
            </p:grpSpPr>
            <p:sp>
              <p:nvSpPr>
                <p:cNvPr id="106" name="Google Shape;106;p8"/>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8"/>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 name="Google Shape;109;p8"/>
              <p:cNvGrpSpPr/>
              <p:nvPr/>
            </p:nvGrpSpPr>
            <p:grpSpPr>
              <a:xfrm>
                <a:off x="8046146" y="202191"/>
                <a:ext cx="769278" cy="674581"/>
                <a:chOff x="1565409" y="2345016"/>
                <a:chExt cx="769278" cy="674581"/>
              </a:xfrm>
            </p:grpSpPr>
            <p:sp>
              <p:nvSpPr>
                <p:cNvPr id="110" name="Google Shape;110;p8"/>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8"/>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 name="Google Shape;115;p8"/>
            <p:cNvGrpSpPr/>
            <p:nvPr/>
          </p:nvGrpSpPr>
          <p:grpSpPr>
            <a:xfrm>
              <a:off x="-752736" y="193699"/>
              <a:ext cx="1934328" cy="1789007"/>
              <a:chOff x="4113000" y="1745425"/>
              <a:chExt cx="1077500" cy="996550"/>
            </a:xfrm>
          </p:grpSpPr>
          <p:sp>
            <p:nvSpPr>
              <p:cNvPr id="116" name="Google Shape;116;p8"/>
              <p:cNvSpPr/>
              <p:nvPr/>
            </p:nvSpPr>
            <p:spPr>
              <a:xfrm>
                <a:off x="4119725" y="1787300"/>
                <a:ext cx="1064450" cy="954675"/>
              </a:xfrm>
              <a:custGeom>
                <a:avLst/>
                <a:gdLst/>
                <a:ahLst/>
                <a:cxnLst/>
                <a:rect l="l" t="t" r="r" b="b"/>
                <a:pathLst>
                  <a:path w="42578" h="38187" extrusionOk="0">
                    <a:moveTo>
                      <a:pt x="20250" y="0"/>
                    </a:moveTo>
                    <a:cubicBezTo>
                      <a:pt x="19440" y="0"/>
                      <a:pt x="18614" y="398"/>
                      <a:pt x="18233" y="1019"/>
                    </a:cubicBezTo>
                    <a:lnTo>
                      <a:pt x="9" y="29694"/>
                    </a:lnTo>
                    <a:cubicBezTo>
                      <a:pt x="9" y="29694"/>
                      <a:pt x="1" y="31174"/>
                      <a:pt x="9" y="31404"/>
                    </a:cubicBezTo>
                    <a:cubicBezTo>
                      <a:pt x="25" y="31934"/>
                      <a:pt x="420" y="32393"/>
                      <a:pt x="1093" y="32576"/>
                    </a:cubicBezTo>
                    <a:lnTo>
                      <a:pt x="21725" y="38109"/>
                    </a:lnTo>
                    <a:cubicBezTo>
                      <a:pt x="21917" y="38162"/>
                      <a:pt x="22118" y="38186"/>
                      <a:pt x="22319" y="38186"/>
                    </a:cubicBezTo>
                    <a:cubicBezTo>
                      <a:pt x="23127" y="38186"/>
                      <a:pt x="23949" y="37788"/>
                      <a:pt x="24329" y="37167"/>
                    </a:cubicBezTo>
                    <a:lnTo>
                      <a:pt x="42356" y="7487"/>
                    </a:lnTo>
                    <a:cubicBezTo>
                      <a:pt x="42522" y="7226"/>
                      <a:pt x="42578" y="6949"/>
                      <a:pt x="42554" y="6696"/>
                    </a:cubicBezTo>
                    <a:cubicBezTo>
                      <a:pt x="42490" y="6205"/>
                      <a:pt x="42562" y="5199"/>
                      <a:pt x="42562" y="5199"/>
                    </a:cubicBezTo>
                    <a:lnTo>
                      <a:pt x="20846" y="77"/>
                    </a:lnTo>
                    <a:cubicBezTo>
                      <a:pt x="20653" y="25"/>
                      <a:pt x="20452" y="0"/>
                      <a:pt x="20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a:off x="4113000" y="1745425"/>
                <a:ext cx="1077500" cy="954600"/>
              </a:xfrm>
              <a:custGeom>
                <a:avLst/>
                <a:gdLst/>
                <a:ahLst/>
                <a:cxnLst/>
                <a:rect l="l" t="t" r="r" b="b"/>
                <a:pathLst>
                  <a:path w="43100" h="38184" extrusionOk="0">
                    <a:moveTo>
                      <a:pt x="20526" y="0"/>
                    </a:moveTo>
                    <a:cubicBezTo>
                      <a:pt x="19714" y="0"/>
                      <a:pt x="18884" y="393"/>
                      <a:pt x="18502" y="1016"/>
                    </a:cubicBezTo>
                    <a:lnTo>
                      <a:pt x="476" y="30696"/>
                    </a:lnTo>
                    <a:cubicBezTo>
                      <a:pt x="1" y="31472"/>
                      <a:pt x="397" y="32319"/>
                      <a:pt x="1362" y="32572"/>
                    </a:cubicBezTo>
                    <a:lnTo>
                      <a:pt x="21994" y="38106"/>
                    </a:lnTo>
                    <a:cubicBezTo>
                      <a:pt x="22188" y="38159"/>
                      <a:pt x="22390" y="38184"/>
                      <a:pt x="22594" y="38184"/>
                    </a:cubicBezTo>
                    <a:cubicBezTo>
                      <a:pt x="23400" y="38184"/>
                      <a:pt x="24219" y="37790"/>
                      <a:pt x="24598" y="37164"/>
                    </a:cubicBezTo>
                    <a:lnTo>
                      <a:pt x="42625" y="7492"/>
                    </a:lnTo>
                    <a:cubicBezTo>
                      <a:pt x="43100" y="6708"/>
                      <a:pt x="42704" y="5869"/>
                      <a:pt x="41738" y="5608"/>
                    </a:cubicBezTo>
                    <a:lnTo>
                      <a:pt x="21115" y="74"/>
                    </a:lnTo>
                    <a:cubicBezTo>
                      <a:pt x="20924" y="24"/>
                      <a:pt x="20726" y="0"/>
                      <a:pt x="2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a:off x="4118350" y="1930925"/>
                <a:ext cx="1063250" cy="772300"/>
              </a:xfrm>
              <a:custGeom>
                <a:avLst/>
                <a:gdLst/>
                <a:ahLst/>
                <a:cxnLst/>
                <a:rect l="l" t="t" r="r" b="b"/>
                <a:pathLst>
                  <a:path w="42530" h="30892" extrusionOk="0">
                    <a:moveTo>
                      <a:pt x="42300" y="1"/>
                    </a:moveTo>
                    <a:lnTo>
                      <a:pt x="24273" y="29673"/>
                    </a:lnTo>
                    <a:cubicBezTo>
                      <a:pt x="23919" y="30261"/>
                      <a:pt x="23140" y="30632"/>
                      <a:pt x="22377" y="30632"/>
                    </a:cubicBezTo>
                    <a:cubicBezTo>
                      <a:pt x="22185" y="30632"/>
                      <a:pt x="21994" y="30609"/>
                      <a:pt x="21811" y="30559"/>
                    </a:cubicBezTo>
                    <a:lnTo>
                      <a:pt x="1188" y="25026"/>
                    </a:lnTo>
                    <a:cubicBezTo>
                      <a:pt x="721" y="24907"/>
                      <a:pt x="380" y="24630"/>
                      <a:pt x="246" y="24266"/>
                    </a:cubicBezTo>
                    <a:lnTo>
                      <a:pt x="0" y="24361"/>
                    </a:lnTo>
                    <a:cubicBezTo>
                      <a:pt x="159" y="24796"/>
                      <a:pt x="570" y="25136"/>
                      <a:pt x="1117" y="25287"/>
                    </a:cubicBezTo>
                    <a:lnTo>
                      <a:pt x="21740" y="30813"/>
                    </a:lnTo>
                    <a:cubicBezTo>
                      <a:pt x="21946" y="30868"/>
                      <a:pt x="22152" y="30892"/>
                      <a:pt x="22365" y="30892"/>
                    </a:cubicBezTo>
                    <a:cubicBezTo>
                      <a:pt x="23220" y="30892"/>
                      <a:pt x="24091" y="30472"/>
                      <a:pt x="24495" y="29815"/>
                    </a:cubicBezTo>
                    <a:lnTo>
                      <a:pt x="42530" y="135"/>
                    </a:lnTo>
                    <a:lnTo>
                      <a:pt x="423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8"/>
              <p:cNvSpPr/>
              <p:nvPr/>
            </p:nvSpPr>
            <p:spPr>
              <a:xfrm>
                <a:off x="4167825" y="1785950"/>
                <a:ext cx="970025" cy="859175"/>
              </a:xfrm>
              <a:custGeom>
                <a:avLst/>
                <a:gdLst/>
                <a:ahLst/>
                <a:cxnLst/>
                <a:rect l="l" t="t" r="r" b="b"/>
                <a:pathLst>
                  <a:path w="38801" h="34367" extrusionOk="0">
                    <a:moveTo>
                      <a:pt x="18477" y="1"/>
                    </a:moveTo>
                    <a:cubicBezTo>
                      <a:pt x="17746" y="1"/>
                      <a:pt x="17001" y="356"/>
                      <a:pt x="16658" y="915"/>
                    </a:cubicBezTo>
                    <a:lnTo>
                      <a:pt x="428" y="27626"/>
                    </a:lnTo>
                    <a:cubicBezTo>
                      <a:pt x="1" y="28331"/>
                      <a:pt x="365" y="29091"/>
                      <a:pt x="1236" y="29320"/>
                    </a:cubicBezTo>
                    <a:lnTo>
                      <a:pt x="19793" y="34300"/>
                    </a:lnTo>
                    <a:cubicBezTo>
                      <a:pt x="19965" y="34345"/>
                      <a:pt x="20144" y="34367"/>
                      <a:pt x="20324" y="34367"/>
                    </a:cubicBezTo>
                    <a:cubicBezTo>
                      <a:pt x="21055" y="34367"/>
                      <a:pt x="21801" y="34012"/>
                      <a:pt x="22144" y="33453"/>
                    </a:cubicBezTo>
                    <a:lnTo>
                      <a:pt x="38374" y="6742"/>
                    </a:lnTo>
                    <a:cubicBezTo>
                      <a:pt x="38801" y="6037"/>
                      <a:pt x="38437" y="5285"/>
                      <a:pt x="37566" y="5048"/>
                    </a:cubicBezTo>
                    <a:lnTo>
                      <a:pt x="33251" y="3892"/>
                    </a:lnTo>
                    <a:lnTo>
                      <a:pt x="32713" y="4770"/>
                    </a:lnTo>
                    <a:cubicBezTo>
                      <a:pt x="32536" y="5061"/>
                      <a:pt x="32157" y="5241"/>
                      <a:pt x="31781" y="5241"/>
                    </a:cubicBezTo>
                    <a:cubicBezTo>
                      <a:pt x="31687" y="5241"/>
                      <a:pt x="31592" y="5230"/>
                      <a:pt x="31502" y="5206"/>
                    </a:cubicBezTo>
                    <a:lnTo>
                      <a:pt x="21946" y="2649"/>
                    </a:lnTo>
                    <a:cubicBezTo>
                      <a:pt x="21503" y="2522"/>
                      <a:pt x="21313" y="2134"/>
                      <a:pt x="21534" y="1778"/>
                    </a:cubicBezTo>
                    <a:lnTo>
                      <a:pt x="22073" y="891"/>
                    </a:lnTo>
                    <a:lnTo>
                      <a:pt x="19009" y="68"/>
                    </a:lnTo>
                    <a:cubicBezTo>
                      <a:pt x="18837" y="22"/>
                      <a:pt x="18657" y="1"/>
                      <a:pt x="18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a:off x="4459175" y="1890775"/>
                <a:ext cx="579325" cy="365925"/>
              </a:xfrm>
              <a:custGeom>
                <a:avLst/>
                <a:gdLst/>
                <a:ahLst/>
                <a:cxnLst/>
                <a:rect l="l" t="t" r="r" b="b"/>
                <a:pathLst>
                  <a:path w="23173" h="14637" extrusionOk="0">
                    <a:moveTo>
                      <a:pt x="6823" y="0"/>
                    </a:moveTo>
                    <a:cubicBezTo>
                      <a:pt x="6293" y="0"/>
                      <a:pt x="5787" y="276"/>
                      <a:pt x="5502" y="744"/>
                    </a:cubicBezTo>
                    <a:lnTo>
                      <a:pt x="277" y="9349"/>
                    </a:lnTo>
                    <a:cubicBezTo>
                      <a:pt x="0" y="9793"/>
                      <a:pt x="238" y="10370"/>
                      <a:pt x="736" y="10505"/>
                    </a:cubicBezTo>
                    <a:lnTo>
                      <a:pt x="15945" y="14582"/>
                    </a:lnTo>
                    <a:cubicBezTo>
                      <a:pt x="16079" y="14619"/>
                      <a:pt x="16215" y="14637"/>
                      <a:pt x="16350" y="14637"/>
                    </a:cubicBezTo>
                    <a:cubicBezTo>
                      <a:pt x="16880" y="14637"/>
                      <a:pt x="17386" y="14361"/>
                      <a:pt x="17671" y="13893"/>
                    </a:cubicBezTo>
                    <a:lnTo>
                      <a:pt x="22904" y="5288"/>
                    </a:lnTo>
                    <a:cubicBezTo>
                      <a:pt x="23173" y="4845"/>
                      <a:pt x="22935" y="4267"/>
                      <a:pt x="22436" y="4132"/>
                    </a:cubicBezTo>
                    <a:lnTo>
                      <a:pt x="7228" y="55"/>
                    </a:lnTo>
                    <a:cubicBezTo>
                      <a:pt x="7094" y="18"/>
                      <a:pt x="6958" y="0"/>
                      <a:pt x="6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a:off x="4384350" y="2207625"/>
                <a:ext cx="445350" cy="153400"/>
              </a:xfrm>
              <a:custGeom>
                <a:avLst/>
                <a:gdLst/>
                <a:ahLst/>
                <a:cxnLst/>
                <a:rect l="l" t="t" r="r" b="b"/>
                <a:pathLst>
                  <a:path w="17814" h="6136" extrusionOk="0">
                    <a:moveTo>
                      <a:pt x="816" y="0"/>
                    </a:moveTo>
                    <a:lnTo>
                      <a:pt x="1" y="1346"/>
                    </a:lnTo>
                    <a:lnTo>
                      <a:pt x="16998" y="6136"/>
                    </a:lnTo>
                    <a:lnTo>
                      <a:pt x="17814" y="4790"/>
                    </a:lnTo>
                    <a:lnTo>
                      <a:pt x="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4344375" y="2272525"/>
                <a:ext cx="445350" cy="153425"/>
              </a:xfrm>
              <a:custGeom>
                <a:avLst/>
                <a:gdLst/>
                <a:ahLst/>
                <a:cxnLst/>
                <a:rect l="l" t="t" r="r" b="b"/>
                <a:pathLst>
                  <a:path w="17814" h="6137" extrusionOk="0">
                    <a:moveTo>
                      <a:pt x="816" y="1"/>
                    </a:moveTo>
                    <a:lnTo>
                      <a:pt x="0" y="1347"/>
                    </a:lnTo>
                    <a:lnTo>
                      <a:pt x="16998" y="6136"/>
                    </a:lnTo>
                    <a:lnTo>
                      <a:pt x="17813" y="4799"/>
                    </a:lnTo>
                    <a:lnTo>
                      <a:pt x="8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4304400" y="2337450"/>
                <a:ext cx="445350" cy="153425"/>
              </a:xfrm>
              <a:custGeom>
                <a:avLst/>
                <a:gdLst/>
                <a:ahLst/>
                <a:cxnLst/>
                <a:rect l="l" t="t" r="r" b="b"/>
                <a:pathLst>
                  <a:path w="17814" h="6137" extrusionOk="0">
                    <a:moveTo>
                      <a:pt x="816" y="1"/>
                    </a:moveTo>
                    <a:lnTo>
                      <a:pt x="0" y="1347"/>
                    </a:lnTo>
                    <a:lnTo>
                      <a:pt x="16998" y="6136"/>
                    </a:lnTo>
                    <a:lnTo>
                      <a:pt x="17813" y="4798"/>
                    </a:lnTo>
                    <a:lnTo>
                      <a:pt x="8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4264425" y="2402375"/>
                <a:ext cx="445125" cy="153400"/>
              </a:xfrm>
              <a:custGeom>
                <a:avLst/>
                <a:gdLst/>
                <a:ahLst/>
                <a:cxnLst/>
                <a:rect l="l" t="t" r="r" b="b"/>
                <a:pathLst>
                  <a:path w="17805" h="6136" extrusionOk="0">
                    <a:moveTo>
                      <a:pt x="815" y="0"/>
                    </a:moveTo>
                    <a:lnTo>
                      <a:pt x="0" y="1346"/>
                    </a:lnTo>
                    <a:lnTo>
                      <a:pt x="16997" y="6136"/>
                    </a:lnTo>
                    <a:lnTo>
                      <a:pt x="17805" y="4798"/>
                    </a:lnTo>
                    <a:lnTo>
                      <a:pt x="8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8"/>
            <p:cNvGrpSpPr/>
            <p:nvPr/>
          </p:nvGrpSpPr>
          <p:grpSpPr>
            <a:xfrm>
              <a:off x="8480120" y="3836104"/>
              <a:ext cx="469686" cy="917745"/>
              <a:chOff x="8480120" y="1379404"/>
              <a:chExt cx="469686" cy="917745"/>
            </a:xfrm>
          </p:grpSpPr>
          <p:sp>
            <p:nvSpPr>
              <p:cNvPr id="126" name="Google Shape;126;p8"/>
              <p:cNvSpPr/>
              <p:nvPr/>
            </p:nvSpPr>
            <p:spPr>
              <a:xfrm flipH="1">
                <a:off x="8480120" y="1978751"/>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2700000" flipH="1">
                <a:off x="8632521" y="1439559"/>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8"/>
        <p:cNvGrpSpPr/>
        <p:nvPr/>
      </p:nvGrpSpPr>
      <p:grpSpPr>
        <a:xfrm>
          <a:off x="0" y="0"/>
          <a:ext cx="0" cy="0"/>
          <a:chOff x="0" y="0"/>
          <a:chExt cx="0" cy="0"/>
        </a:xfrm>
      </p:grpSpPr>
      <p:grpSp>
        <p:nvGrpSpPr>
          <p:cNvPr id="129" name="Google Shape;129;p9"/>
          <p:cNvGrpSpPr/>
          <p:nvPr/>
        </p:nvGrpSpPr>
        <p:grpSpPr>
          <a:xfrm>
            <a:off x="-206925" y="-40075"/>
            <a:ext cx="9465225" cy="5243725"/>
            <a:chOff x="-206925" y="-40075"/>
            <a:chExt cx="9465225" cy="5243725"/>
          </a:xfrm>
        </p:grpSpPr>
        <p:cxnSp>
          <p:nvCxnSpPr>
            <p:cNvPr id="130" name="Google Shape;130;p9"/>
            <p:cNvCxnSpPr/>
            <p:nvPr/>
          </p:nvCxnSpPr>
          <p:spPr>
            <a:xfrm flipH="1">
              <a:off x="8283000" y="2170950"/>
              <a:ext cx="975300" cy="3032700"/>
            </a:xfrm>
            <a:prstGeom prst="straightConnector1">
              <a:avLst/>
            </a:prstGeom>
            <a:noFill/>
            <a:ln w="9525" cap="flat" cmpd="sng">
              <a:solidFill>
                <a:schemeClr val="dk1"/>
              </a:solidFill>
              <a:prstDash val="dash"/>
              <a:round/>
              <a:headEnd type="none" w="med" len="med"/>
              <a:tailEnd type="none" w="med" len="med"/>
            </a:ln>
          </p:spPr>
        </p:cxnSp>
        <p:cxnSp>
          <p:nvCxnSpPr>
            <p:cNvPr id="131" name="Google Shape;131;p9"/>
            <p:cNvCxnSpPr/>
            <p:nvPr/>
          </p:nvCxnSpPr>
          <p:spPr>
            <a:xfrm flipH="1">
              <a:off x="-206925" y="-40075"/>
              <a:ext cx="1242300" cy="1436100"/>
            </a:xfrm>
            <a:prstGeom prst="straightConnector1">
              <a:avLst/>
            </a:prstGeom>
            <a:noFill/>
            <a:ln w="9525" cap="flat" cmpd="sng">
              <a:solidFill>
                <a:schemeClr val="dk1"/>
              </a:solidFill>
              <a:prstDash val="dash"/>
              <a:round/>
              <a:headEnd type="none" w="med" len="med"/>
              <a:tailEnd type="none" w="med" len="med"/>
            </a:ln>
          </p:spPr>
        </p:cxnSp>
      </p:grpSp>
      <p:sp>
        <p:nvSpPr>
          <p:cNvPr id="132" name="Google Shape;132;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5000"/>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endParaRPr/>
          </a:p>
        </p:txBody>
      </p:sp>
      <p:sp>
        <p:nvSpPr>
          <p:cNvPr id="133" name="Google Shape;13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34" name="Google Shape;134;p9"/>
          <p:cNvGrpSpPr/>
          <p:nvPr/>
        </p:nvGrpSpPr>
        <p:grpSpPr>
          <a:xfrm>
            <a:off x="3" y="63630"/>
            <a:ext cx="8964525" cy="5079877"/>
            <a:chOff x="3" y="63630"/>
            <a:chExt cx="8964525" cy="5079877"/>
          </a:xfrm>
        </p:grpSpPr>
        <p:grpSp>
          <p:nvGrpSpPr>
            <p:cNvPr id="135" name="Google Shape;135;p9"/>
            <p:cNvGrpSpPr/>
            <p:nvPr/>
          </p:nvGrpSpPr>
          <p:grpSpPr>
            <a:xfrm rot="-1286636">
              <a:off x="96689" y="4351633"/>
              <a:ext cx="769298" cy="674599"/>
              <a:chOff x="1565409" y="2345016"/>
              <a:chExt cx="769278" cy="674581"/>
            </a:xfrm>
          </p:grpSpPr>
          <p:sp>
            <p:nvSpPr>
              <p:cNvPr id="136" name="Google Shape;136;p9"/>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9"/>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 name="Google Shape;141;p9"/>
            <p:cNvSpPr/>
            <p:nvPr/>
          </p:nvSpPr>
          <p:spPr>
            <a:xfrm flipH="1">
              <a:off x="124176" y="6363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9"/>
            <p:cNvGrpSpPr/>
            <p:nvPr/>
          </p:nvGrpSpPr>
          <p:grpSpPr>
            <a:xfrm rot="1799961">
              <a:off x="8024802" y="4240323"/>
              <a:ext cx="812401" cy="726986"/>
              <a:chOff x="995678" y="3460637"/>
              <a:chExt cx="502403" cy="449580"/>
            </a:xfrm>
          </p:grpSpPr>
          <p:sp>
            <p:nvSpPr>
              <p:cNvPr id="143" name="Google Shape;143;p9"/>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9"/>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9"/>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rot="-2700000" flipH="1">
              <a:off x="8583171" y="95923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flipH="1">
              <a:off x="8503172" y="1633925"/>
              <a:ext cx="282130" cy="253361"/>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0"/>
        <p:cNvGrpSpPr/>
        <p:nvPr/>
      </p:nvGrpSpPr>
      <p:grpSpPr>
        <a:xfrm>
          <a:off x="0" y="0"/>
          <a:ext cx="0" cy="0"/>
          <a:chOff x="0" y="0"/>
          <a:chExt cx="0" cy="0"/>
        </a:xfrm>
      </p:grpSpPr>
      <p:sp>
        <p:nvSpPr>
          <p:cNvPr id="151" name="Google Shape;151;p10"/>
          <p:cNvSpPr>
            <a:spLocks noGrp="1"/>
          </p:cNvSpPr>
          <p:nvPr>
            <p:ph type="pic" idx="2"/>
          </p:nvPr>
        </p:nvSpPr>
        <p:spPr>
          <a:xfrm>
            <a:off x="-25" y="0"/>
            <a:ext cx="9144000" cy="5143500"/>
          </a:xfrm>
          <a:prstGeom prst="rect">
            <a:avLst/>
          </a:prstGeom>
          <a:noFill/>
          <a:ln>
            <a:noFill/>
          </a:ln>
        </p:spPr>
      </p:sp>
      <p:sp>
        <p:nvSpPr>
          <p:cNvPr id="152" name="Google Shape;152;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500"/>
              <a:buNone/>
              <a:defRPr/>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8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89"/>
        <p:cNvGrpSpPr/>
        <p:nvPr/>
      </p:nvGrpSpPr>
      <p:grpSpPr>
        <a:xfrm>
          <a:off x="0" y="0"/>
          <a:ext cx="0" cy="0"/>
          <a:chOff x="0" y="0"/>
          <a:chExt cx="0" cy="0"/>
        </a:xfrm>
      </p:grpSpPr>
      <p:grpSp>
        <p:nvGrpSpPr>
          <p:cNvPr id="190" name="Google Shape;190;p13"/>
          <p:cNvGrpSpPr/>
          <p:nvPr/>
        </p:nvGrpSpPr>
        <p:grpSpPr>
          <a:xfrm>
            <a:off x="-206925" y="-40075"/>
            <a:ext cx="9465225" cy="5243725"/>
            <a:chOff x="-206925" y="-40075"/>
            <a:chExt cx="9465225" cy="5243725"/>
          </a:xfrm>
        </p:grpSpPr>
        <p:cxnSp>
          <p:nvCxnSpPr>
            <p:cNvPr id="191" name="Google Shape;191;p13"/>
            <p:cNvCxnSpPr/>
            <p:nvPr/>
          </p:nvCxnSpPr>
          <p:spPr>
            <a:xfrm flipH="1">
              <a:off x="8283000" y="2170950"/>
              <a:ext cx="975300" cy="3032700"/>
            </a:xfrm>
            <a:prstGeom prst="straightConnector1">
              <a:avLst/>
            </a:prstGeom>
            <a:noFill/>
            <a:ln w="9525" cap="flat" cmpd="sng">
              <a:solidFill>
                <a:schemeClr val="dk1"/>
              </a:solidFill>
              <a:prstDash val="dash"/>
              <a:round/>
              <a:headEnd type="none" w="med" len="med"/>
              <a:tailEnd type="none" w="med" len="med"/>
            </a:ln>
          </p:spPr>
        </p:cxnSp>
        <p:cxnSp>
          <p:nvCxnSpPr>
            <p:cNvPr id="192" name="Google Shape;192;p13"/>
            <p:cNvCxnSpPr/>
            <p:nvPr/>
          </p:nvCxnSpPr>
          <p:spPr>
            <a:xfrm flipH="1">
              <a:off x="-206925" y="-40075"/>
              <a:ext cx="1242300" cy="1436100"/>
            </a:xfrm>
            <a:prstGeom prst="straightConnector1">
              <a:avLst/>
            </a:prstGeom>
            <a:noFill/>
            <a:ln w="9525" cap="flat" cmpd="sng">
              <a:solidFill>
                <a:schemeClr val="dk1"/>
              </a:solidFill>
              <a:prstDash val="dash"/>
              <a:round/>
              <a:headEnd type="none" w="med" len="med"/>
              <a:tailEnd type="none" w="med" len="med"/>
            </a:ln>
          </p:spPr>
        </p:cxnSp>
      </p:grpSp>
      <p:grpSp>
        <p:nvGrpSpPr>
          <p:cNvPr id="193" name="Google Shape;193;p13"/>
          <p:cNvGrpSpPr/>
          <p:nvPr/>
        </p:nvGrpSpPr>
        <p:grpSpPr>
          <a:xfrm>
            <a:off x="-108272" y="209476"/>
            <a:ext cx="9008729" cy="4934030"/>
            <a:chOff x="-108272" y="209476"/>
            <a:chExt cx="9008729" cy="4934030"/>
          </a:xfrm>
        </p:grpSpPr>
        <p:sp>
          <p:nvSpPr>
            <p:cNvPr id="194" name="Google Shape;194;p13"/>
            <p:cNvSpPr/>
            <p:nvPr/>
          </p:nvSpPr>
          <p:spPr>
            <a:xfrm flipH="1">
              <a:off x="-69549" y="26403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3"/>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3"/>
            <p:cNvSpPr/>
            <p:nvPr/>
          </p:nvSpPr>
          <p:spPr>
            <a:xfrm rot="-2700000" flipH="1">
              <a:off x="8583171" y="67868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 name="Google Shape;197;p13"/>
            <p:cNvGrpSpPr/>
            <p:nvPr/>
          </p:nvGrpSpPr>
          <p:grpSpPr>
            <a:xfrm rot="-1286636">
              <a:off x="-11586" y="4351633"/>
              <a:ext cx="769298" cy="674599"/>
              <a:chOff x="1565409" y="2345016"/>
              <a:chExt cx="769278" cy="674581"/>
            </a:xfrm>
          </p:grpSpPr>
          <p:sp>
            <p:nvSpPr>
              <p:cNvPr id="198" name="Google Shape;198;p13"/>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3"/>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3"/>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3"/>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3"/>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3"/>
            <p:cNvGrpSpPr/>
            <p:nvPr/>
          </p:nvGrpSpPr>
          <p:grpSpPr>
            <a:xfrm>
              <a:off x="25300" y="528538"/>
              <a:ext cx="581867" cy="543626"/>
              <a:chOff x="1169100" y="1853651"/>
              <a:chExt cx="581867" cy="543626"/>
            </a:xfrm>
          </p:grpSpPr>
          <p:sp>
            <p:nvSpPr>
              <p:cNvPr id="204" name="Google Shape;204;p13"/>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3"/>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3"/>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7" name="Google Shape;20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208" name="Google Shape;208;p13"/>
          <p:cNvSpPr txBox="1">
            <a:spLocks noGrp="1"/>
          </p:cNvSpPr>
          <p:nvPr>
            <p:ph type="title" idx="2" hasCustomPrompt="1"/>
          </p:nvPr>
        </p:nvSpPr>
        <p:spPr>
          <a:xfrm>
            <a:off x="720000" y="154113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9" name="Google Shape;209;p13"/>
          <p:cNvSpPr txBox="1">
            <a:spLocks noGrp="1"/>
          </p:cNvSpPr>
          <p:nvPr>
            <p:ph type="title" idx="3" hasCustomPrompt="1"/>
          </p:nvPr>
        </p:nvSpPr>
        <p:spPr>
          <a:xfrm>
            <a:off x="720000" y="31269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0" name="Google Shape;210;p13"/>
          <p:cNvSpPr txBox="1">
            <a:spLocks noGrp="1"/>
          </p:cNvSpPr>
          <p:nvPr>
            <p:ph type="title" idx="4" hasCustomPrompt="1"/>
          </p:nvPr>
        </p:nvSpPr>
        <p:spPr>
          <a:xfrm>
            <a:off x="3419275" y="154113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1" name="Google Shape;211;p13"/>
          <p:cNvSpPr txBox="1">
            <a:spLocks noGrp="1"/>
          </p:cNvSpPr>
          <p:nvPr>
            <p:ph type="title" idx="5" hasCustomPrompt="1"/>
          </p:nvPr>
        </p:nvSpPr>
        <p:spPr>
          <a:xfrm>
            <a:off x="3419275" y="31269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6" hasCustomPrompt="1"/>
          </p:nvPr>
        </p:nvSpPr>
        <p:spPr>
          <a:xfrm>
            <a:off x="6118550" y="154113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7" hasCustomPrompt="1"/>
          </p:nvPr>
        </p:nvSpPr>
        <p:spPr>
          <a:xfrm>
            <a:off x="6118550" y="31269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subTitle" idx="1"/>
          </p:nvPr>
        </p:nvSpPr>
        <p:spPr>
          <a:xfrm>
            <a:off x="720000" y="19886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5" name="Google Shape;215;p13"/>
          <p:cNvSpPr txBox="1">
            <a:spLocks noGrp="1"/>
          </p:cNvSpPr>
          <p:nvPr>
            <p:ph type="subTitle" idx="8"/>
          </p:nvPr>
        </p:nvSpPr>
        <p:spPr>
          <a:xfrm>
            <a:off x="3419275" y="19886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6" name="Google Shape;216;p13"/>
          <p:cNvSpPr txBox="1">
            <a:spLocks noGrp="1"/>
          </p:cNvSpPr>
          <p:nvPr>
            <p:ph type="subTitle" idx="9"/>
          </p:nvPr>
        </p:nvSpPr>
        <p:spPr>
          <a:xfrm>
            <a:off x="6118550" y="19886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7" name="Google Shape;217;p13"/>
          <p:cNvSpPr txBox="1">
            <a:spLocks noGrp="1"/>
          </p:cNvSpPr>
          <p:nvPr>
            <p:ph type="subTitle" idx="13"/>
          </p:nvPr>
        </p:nvSpPr>
        <p:spPr>
          <a:xfrm>
            <a:off x="720000" y="3574550"/>
            <a:ext cx="2305500" cy="71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8" name="Google Shape;218;p13"/>
          <p:cNvSpPr txBox="1">
            <a:spLocks noGrp="1"/>
          </p:cNvSpPr>
          <p:nvPr>
            <p:ph type="subTitle" idx="14"/>
          </p:nvPr>
        </p:nvSpPr>
        <p:spPr>
          <a:xfrm>
            <a:off x="3419275" y="3574550"/>
            <a:ext cx="2305500" cy="71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9" name="Google Shape;219;p13"/>
          <p:cNvSpPr txBox="1">
            <a:spLocks noGrp="1"/>
          </p:cNvSpPr>
          <p:nvPr>
            <p:ph type="subTitle" idx="15"/>
          </p:nvPr>
        </p:nvSpPr>
        <p:spPr>
          <a:xfrm>
            <a:off x="6118550" y="3574550"/>
            <a:ext cx="2305500" cy="71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20"/>
        <p:cNvGrpSpPr/>
        <p:nvPr/>
      </p:nvGrpSpPr>
      <p:grpSpPr>
        <a:xfrm>
          <a:off x="0" y="0"/>
          <a:ext cx="0" cy="0"/>
          <a:chOff x="0" y="0"/>
          <a:chExt cx="0" cy="0"/>
        </a:xfrm>
      </p:grpSpPr>
      <p:grpSp>
        <p:nvGrpSpPr>
          <p:cNvPr id="221" name="Google Shape;221;p14"/>
          <p:cNvGrpSpPr/>
          <p:nvPr/>
        </p:nvGrpSpPr>
        <p:grpSpPr>
          <a:xfrm>
            <a:off x="-165175" y="-207100"/>
            <a:ext cx="9469475" cy="5631850"/>
            <a:chOff x="-165175" y="-207100"/>
            <a:chExt cx="9469475" cy="5631850"/>
          </a:xfrm>
        </p:grpSpPr>
        <p:cxnSp>
          <p:nvCxnSpPr>
            <p:cNvPr id="222" name="Google Shape;222;p14"/>
            <p:cNvCxnSpPr/>
            <p:nvPr/>
          </p:nvCxnSpPr>
          <p:spPr>
            <a:xfrm flipH="1">
              <a:off x="-165175" y="-207100"/>
              <a:ext cx="1102800" cy="1323300"/>
            </a:xfrm>
            <a:prstGeom prst="straightConnector1">
              <a:avLst/>
            </a:prstGeom>
            <a:noFill/>
            <a:ln w="9525" cap="flat" cmpd="sng">
              <a:solidFill>
                <a:schemeClr val="dk1"/>
              </a:solidFill>
              <a:prstDash val="dash"/>
              <a:round/>
              <a:headEnd type="none" w="med" len="med"/>
              <a:tailEnd type="none" w="med" len="med"/>
            </a:ln>
          </p:spPr>
        </p:cxnSp>
        <p:cxnSp>
          <p:nvCxnSpPr>
            <p:cNvPr id="223" name="Google Shape;223;p14"/>
            <p:cNvCxnSpPr/>
            <p:nvPr/>
          </p:nvCxnSpPr>
          <p:spPr>
            <a:xfrm flipH="1">
              <a:off x="8061100" y="2530350"/>
              <a:ext cx="1243200" cy="2894400"/>
            </a:xfrm>
            <a:prstGeom prst="straightConnector1">
              <a:avLst/>
            </a:prstGeom>
            <a:noFill/>
            <a:ln w="9525" cap="flat" cmpd="sng">
              <a:solidFill>
                <a:schemeClr val="dk1"/>
              </a:solidFill>
              <a:prstDash val="dash"/>
              <a:round/>
              <a:headEnd type="none" w="med" len="med"/>
              <a:tailEnd type="none" w="med" len="med"/>
            </a:ln>
          </p:spPr>
        </p:cxnSp>
      </p:grpSp>
      <p:grpSp>
        <p:nvGrpSpPr>
          <p:cNvPr id="224" name="Google Shape;224;p14"/>
          <p:cNvGrpSpPr/>
          <p:nvPr/>
        </p:nvGrpSpPr>
        <p:grpSpPr>
          <a:xfrm>
            <a:off x="3" y="253150"/>
            <a:ext cx="9003430" cy="4890357"/>
            <a:chOff x="3" y="253150"/>
            <a:chExt cx="9003430" cy="4890357"/>
          </a:xfrm>
        </p:grpSpPr>
        <p:grpSp>
          <p:nvGrpSpPr>
            <p:cNvPr id="225" name="Google Shape;225;p14"/>
            <p:cNvGrpSpPr/>
            <p:nvPr/>
          </p:nvGrpSpPr>
          <p:grpSpPr>
            <a:xfrm>
              <a:off x="8430771" y="253150"/>
              <a:ext cx="572661" cy="572707"/>
              <a:chOff x="16546" y="4513750"/>
              <a:chExt cx="572661" cy="572707"/>
            </a:xfrm>
          </p:grpSpPr>
          <p:sp>
            <p:nvSpPr>
              <p:cNvPr id="226" name="Google Shape;226;p14"/>
              <p:cNvSpPr/>
              <p:nvPr/>
            </p:nvSpPr>
            <p:spPr>
              <a:xfrm>
                <a:off x="16546" y="4513750"/>
                <a:ext cx="572661" cy="572707"/>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4"/>
              <p:cNvSpPr/>
              <p:nvPr/>
            </p:nvSpPr>
            <p:spPr>
              <a:xfrm>
                <a:off x="58828" y="4608008"/>
                <a:ext cx="463169" cy="285223"/>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14"/>
            <p:cNvSpPr/>
            <p:nvPr/>
          </p:nvSpPr>
          <p:spPr>
            <a:xfrm flipH="1">
              <a:off x="8480120" y="1405151"/>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4"/>
            <p:cNvSpPr/>
            <p:nvPr/>
          </p:nvSpPr>
          <p:spPr>
            <a:xfrm rot="-2700000" flipH="1">
              <a:off x="8632521" y="1874359"/>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 name="Google Shape;230;p14"/>
            <p:cNvGrpSpPr/>
            <p:nvPr/>
          </p:nvGrpSpPr>
          <p:grpSpPr>
            <a:xfrm rot="-1286636">
              <a:off x="96689" y="4351633"/>
              <a:ext cx="769298" cy="674599"/>
              <a:chOff x="1565409" y="2345016"/>
              <a:chExt cx="769278" cy="674581"/>
            </a:xfrm>
          </p:grpSpPr>
          <p:sp>
            <p:nvSpPr>
              <p:cNvPr id="231" name="Google Shape;231;p14"/>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4"/>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4"/>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4"/>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4"/>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14"/>
            <p:cNvSpPr/>
            <p:nvPr/>
          </p:nvSpPr>
          <p:spPr>
            <a:xfrm rot="-2374941" flipH="1">
              <a:off x="197897" y="3782134"/>
              <a:ext cx="269141" cy="241711"/>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23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238" name="Google Shape;238;p14"/>
          <p:cNvSpPr txBox="1">
            <a:spLocks noGrp="1"/>
          </p:cNvSpPr>
          <p:nvPr>
            <p:ph type="subTitle" idx="1"/>
          </p:nvPr>
        </p:nvSpPr>
        <p:spPr>
          <a:xfrm>
            <a:off x="937625" y="25036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9" name="Google Shape;239;p14"/>
          <p:cNvSpPr txBox="1">
            <a:spLocks noGrp="1"/>
          </p:cNvSpPr>
          <p:nvPr>
            <p:ph type="subTitle" idx="2"/>
          </p:nvPr>
        </p:nvSpPr>
        <p:spPr>
          <a:xfrm>
            <a:off x="3484347" y="25036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0" name="Google Shape;240;p14"/>
          <p:cNvSpPr txBox="1">
            <a:spLocks noGrp="1"/>
          </p:cNvSpPr>
          <p:nvPr>
            <p:ph type="subTitle" idx="3"/>
          </p:nvPr>
        </p:nvSpPr>
        <p:spPr>
          <a:xfrm>
            <a:off x="6031075" y="25036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14"/>
          <p:cNvSpPr txBox="1">
            <a:spLocks noGrp="1"/>
          </p:cNvSpPr>
          <p:nvPr>
            <p:ph type="subTitle" idx="4"/>
          </p:nvPr>
        </p:nvSpPr>
        <p:spPr>
          <a:xfrm>
            <a:off x="937625" y="2064076"/>
            <a:ext cx="2175300" cy="50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2" name="Google Shape;242;p14"/>
          <p:cNvSpPr txBox="1">
            <a:spLocks noGrp="1"/>
          </p:cNvSpPr>
          <p:nvPr>
            <p:ph type="subTitle" idx="5"/>
          </p:nvPr>
        </p:nvSpPr>
        <p:spPr>
          <a:xfrm>
            <a:off x="3484350" y="2064076"/>
            <a:ext cx="2175300" cy="50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3" name="Google Shape;243;p14"/>
          <p:cNvSpPr txBox="1">
            <a:spLocks noGrp="1"/>
          </p:cNvSpPr>
          <p:nvPr>
            <p:ph type="subTitle" idx="6"/>
          </p:nvPr>
        </p:nvSpPr>
        <p:spPr>
          <a:xfrm>
            <a:off x="6031075" y="2064076"/>
            <a:ext cx="2175300" cy="50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44"/>
        <p:cNvGrpSpPr/>
        <p:nvPr/>
      </p:nvGrpSpPr>
      <p:grpSpPr>
        <a:xfrm>
          <a:off x="0" y="0"/>
          <a:ext cx="0" cy="0"/>
          <a:chOff x="0" y="0"/>
          <a:chExt cx="0" cy="0"/>
        </a:xfrm>
      </p:grpSpPr>
      <p:grpSp>
        <p:nvGrpSpPr>
          <p:cNvPr id="245" name="Google Shape;245;p15"/>
          <p:cNvGrpSpPr/>
          <p:nvPr/>
        </p:nvGrpSpPr>
        <p:grpSpPr>
          <a:xfrm rot="10800000" flipH="1">
            <a:off x="-86850" y="-322650"/>
            <a:ext cx="9431225" cy="5547000"/>
            <a:chOff x="-86850" y="-6700"/>
            <a:chExt cx="9431225" cy="5547000"/>
          </a:xfrm>
        </p:grpSpPr>
        <p:cxnSp>
          <p:nvCxnSpPr>
            <p:cNvPr id="246" name="Google Shape;246;p15"/>
            <p:cNvCxnSpPr/>
            <p:nvPr/>
          </p:nvCxnSpPr>
          <p:spPr>
            <a:xfrm flipH="1">
              <a:off x="-86850" y="-6700"/>
              <a:ext cx="1251600" cy="1543800"/>
            </a:xfrm>
            <a:prstGeom prst="straightConnector1">
              <a:avLst/>
            </a:prstGeom>
            <a:noFill/>
            <a:ln w="9525" cap="flat" cmpd="sng">
              <a:solidFill>
                <a:schemeClr val="dk1"/>
              </a:solidFill>
              <a:prstDash val="dash"/>
              <a:round/>
              <a:headEnd type="none" w="med" len="med"/>
              <a:tailEnd type="none" w="med" len="med"/>
            </a:ln>
          </p:spPr>
        </p:cxnSp>
        <p:cxnSp>
          <p:nvCxnSpPr>
            <p:cNvPr id="247" name="Google Shape;247;p15"/>
            <p:cNvCxnSpPr/>
            <p:nvPr/>
          </p:nvCxnSpPr>
          <p:spPr>
            <a:xfrm flipH="1">
              <a:off x="8101175" y="2645900"/>
              <a:ext cx="1243200" cy="2894400"/>
            </a:xfrm>
            <a:prstGeom prst="straightConnector1">
              <a:avLst/>
            </a:prstGeom>
            <a:noFill/>
            <a:ln w="9525" cap="flat" cmpd="sng">
              <a:solidFill>
                <a:schemeClr val="dk1"/>
              </a:solidFill>
              <a:prstDash val="dash"/>
              <a:round/>
              <a:headEnd type="none" w="med" len="med"/>
              <a:tailEnd type="none" w="med" len="med"/>
            </a:ln>
          </p:spPr>
        </p:cxnSp>
      </p:grpSp>
      <p:grpSp>
        <p:nvGrpSpPr>
          <p:cNvPr id="248" name="Google Shape;248;p15"/>
          <p:cNvGrpSpPr/>
          <p:nvPr/>
        </p:nvGrpSpPr>
        <p:grpSpPr>
          <a:xfrm>
            <a:off x="-229874" y="171238"/>
            <a:ext cx="9310574" cy="4837285"/>
            <a:chOff x="-229874" y="171238"/>
            <a:chExt cx="9310574" cy="4837285"/>
          </a:xfrm>
        </p:grpSpPr>
        <p:grpSp>
          <p:nvGrpSpPr>
            <p:cNvPr id="249" name="Google Shape;249;p15"/>
            <p:cNvGrpSpPr/>
            <p:nvPr/>
          </p:nvGrpSpPr>
          <p:grpSpPr>
            <a:xfrm rot="2700000">
              <a:off x="8374308" y="4333872"/>
              <a:ext cx="603787" cy="540305"/>
              <a:chOff x="995678" y="3460637"/>
              <a:chExt cx="502403" cy="449580"/>
            </a:xfrm>
          </p:grpSpPr>
          <p:sp>
            <p:nvSpPr>
              <p:cNvPr id="250" name="Google Shape;250;p15"/>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5"/>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5"/>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5"/>
            <p:cNvSpPr/>
            <p:nvPr/>
          </p:nvSpPr>
          <p:spPr>
            <a:xfrm flipH="1">
              <a:off x="-229874" y="52128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 name="Google Shape;255;p15"/>
            <p:cNvGrpSpPr/>
            <p:nvPr/>
          </p:nvGrpSpPr>
          <p:grpSpPr>
            <a:xfrm>
              <a:off x="25300" y="171238"/>
              <a:ext cx="581867" cy="543626"/>
              <a:chOff x="1169100" y="1853651"/>
              <a:chExt cx="581867" cy="543626"/>
            </a:xfrm>
          </p:grpSpPr>
          <p:sp>
            <p:nvSpPr>
              <p:cNvPr id="256" name="Google Shape;256;p15"/>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5"/>
            <p:cNvGrpSpPr/>
            <p:nvPr/>
          </p:nvGrpSpPr>
          <p:grpSpPr>
            <a:xfrm flipH="1">
              <a:off x="8424002" y="245329"/>
              <a:ext cx="616298" cy="616347"/>
              <a:chOff x="16546" y="4513750"/>
              <a:chExt cx="572661" cy="572707"/>
            </a:xfrm>
          </p:grpSpPr>
          <p:sp>
            <p:nvSpPr>
              <p:cNvPr id="260" name="Google Shape;260;p15"/>
              <p:cNvSpPr/>
              <p:nvPr/>
            </p:nvSpPr>
            <p:spPr>
              <a:xfrm>
                <a:off x="16546" y="4513750"/>
                <a:ext cx="572661" cy="572707"/>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a:off x="58828" y="4608008"/>
                <a:ext cx="463169" cy="285223"/>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5"/>
            <p:cNvGrpSpPr/>
            <p:nvPr/>
          </p:nvGrpSpPr>
          <p:grpSpPr>
            <a:xfrm>
              <a:off x="71967" y="4319904"/>
              <a:ext cx="648040" cy="568267"/>
              <a:chOff x="1565409" y="2345016"/>
              <a:chExt cx="769278" cy="674581"/>
            </a:xfrm>
          </p:grpSpPr>
          <p:sp>
            <p:nvSpPr>
              <p:cNvPr id="263" name="Google Shape;263;p15"/>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269" name="Google Shape;269;p15"/>
          <p:cNvSpPr txBox="1">
            <a:spLocks noGrp="1"/>
          </p:cNvSpPr>
          <p:nvPr>
            <p:ph type="subTitle" idx="1"/>
          </p:nvPr>
        </p:nvSpPr>
        <p:spPr>
          <a:xfrm>
            <a:off x="927413" y="1825100"/>
            <a:ext cx="3282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0" name="Google Shape;270;p15"/>
          <p:cNvSpPr txBox="1">
            <a:spLocks noGrp="1"/>
          </p:cNvSpPr>
          <p:nvPr>
            <p:ph type="subTitle" idx="2"/>
          </p:nvPr>
        </p:nvSpPr>
        <p:spPr>
          <a:xfrm>
            <a:off x="4934548" y="1825100"/>
            <a:ext cx="3282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1" name="Google Shape;271;p15"/>
          <p:cNvSpPr txBox="1">
            <a:spLocks noGrp="1"/>
          </p:cNvSpPr>
          <p:nvPr>
            <p:ph type="subTitle" idx="3"/>
          </p:nvPr>
        </p:nvSpPr>
        <p:spPr>
          <a:xfrm>
            <a:off x="927413" y="3338175"/>
            <a:ext cx="3282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2" name="Google Shape;272;p15"/>
          <p:cNvSpPr txBox="1">
            <a:spLocks noGrp="1"/>
          </p:cNvSpPr>
          <p:nvPr>
            <p:ph type="subTitle" idx="4"/>
          </p:nvPr>
        </p:nvSpPr>
        <p:spPr>
          <a:xfrm>
            <a:off x="4934548" y="3338175"/>
            <a:ext cx="3282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3" name="Google Shape;273;p15"/>
          <p:cNvSpPr txBox="1">
            <a:spLocks noGrp="1"/>
          </p:cNvSpPr>
          <p:nvPr>
            <p:ph type="subTitle" idx="5"/>
          </p:nvPr>
        </p:nvSpPr>
        <p:spPr>
          <a:xfrm>
            <a:off x="927425" y="1439400"/>
            <a:ext cx="3282000" cy="46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4" name="Google Shape;274;p15"/>
          <p:cNvSpPr txBox="1">
            <a:spLocks noGrp="1"/>
          </p:cNvSpPr>
          <p:nvPr>
            <p:ph type="subTitle" idx="6"/>
          </p:nvPr>
        </p:nvSpPr>
        <p:spPr>
          <a:xfrm>
            <a:off x="927425" y="2952500"/>
            <a:ext cx="3282000" cy="46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5" name="Google Shape;275;p15"/>
          <p:cNvSpPr txBox="1">
            <a:spLocks noGrp="1"/>
          </p:cNvSpPr>
          <p:nvPr>
            <p:ph type="subTitle" idx="7"/>
          </p:nvPr>
        </p:nvSpPr>
        <p:spPr>
          <a:xfrm>
            <a:off x="4934527" y="1439400"/>
            <a:ext cx="3282000" cy="46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6" name="Google Shape;276;p15"/>
          <p:cNvSpPr txBox="1">
            <a:spLocks noGrp="1"/>
          </p:cNvSpPr>
          <p:nvPr>
            <p:ph type="subTitle" idx="8"/>
          </p:nvPr>
        </p:nvSpPr>
        <p:spPr>
          <a:xfrm>
            <a:off x="4934527" y="2952500"/>
            <a:ext cx="3282000" cy="46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334"/>
        <p:cNvGrpSpPr/>
        <p:nvPr/>
      </p:nvGrpSpPr>
      <p:grpSpPr>
        <a:xfrm>
          <a:off x="0" y="0"/>
          <a:ext cx="0" cy="0"/>
          <a:chOff x="0" y="0"/>
          <a:chExt cx="0" cy="0"/>
        </a:xfrm>
      </p:grpSpPr>
      <p:grpSp>
        <p:nvGrpSpPr>
          <p:cNvPr id="335" name="Google Shape;335;p19"/>
          <p:cNvGrpSpPr/>
          <p:nvPr/>
        </p:nvGrpSpPr>
        <p:grpSpPr>
          <a:xfrm rot="10800000" flipH="1">
            <a:off x="-206925" y="-40075"/>
            <a:ext cx="9492475" cy="5243725"/>
            <a:chOff x="-206925" y="-40075"/>
            <a:chExt cx="9492475" cy="5243725"/>
          </a:xfrm>
        </p:grpSpPr>
        <p:cxnSp>
          <p:nvCxnSpPr>
            <p:cNvPr id="336" name="Google Shape;336;p19"/>
            <p:cNvCxnSpPr/>
            <p:nvPr/>
          </p:nvCxnSpPr>
          <p:spPr>
            <a:xfrm flipH="1">
              <a:off x="8310250" y="2170950"/>
              <a:ext cx="975300" cy="3032700"/>
            </a:xfrm>
            <a:prstGeom prst="straightConnector1">
              <a:avLst/>
            </a:prstGeom>
            <a:noFill/>
            <a:ln w="9525" cap="flat" cmpd="sng">
              <a:solidFill>
                <a:schemeClr val="dk1"/>
              </a:solidFill>
              <a:prstDash val="dash"/>
              <a:round/>
              <a:headEnd type="none" w="med" len="med"/>
              <a:tailEnd type="none" w="med" len="med"/>
            </a:ln>
          </p:spPr>
        </p:cxnSp>
        <p:cxnSp>
          <p:nvCxnSpPr>
            <p:cNvPr id="337" name="Google Shape;337;p19"/>
            <p:cNvCxnSpPr/>
            <p:nvPr/>
          </p:nvCxnSpPr>
          <p:spPr>
            <a:xfrm flipH="1">
              <a:off x="-206925" y="-40075"/>
              <a:ext cx="1242300" cy="1436100"/>
            </a:xfrm>
            <a:prstGeom prst="straightConnector1">
              <a:avLst/>
            </a:prstGeom>
            <a:noFill/>
            <a:ln w="9525" cap="flat" cmpd="sng">
              <a:solidFill>
                <a:schemeClr val="dk1"/>
              </a:solidFill>
              <a:prstDash val="dash"/>
              <a:round/>
              <a:headEnd type="none" w="med" len="med"/>
              <a:tailEnd type="none" w="med" len="med"/>
            </a:ln>
          </p:spPr>
        </p:cxnSp>
      </p:grpSp>
      <p:grpSp>
        <p:nvGrpSpPr>
          <p:cNvPr id="338" name="Google Shape;338;p19"/>
          <p:cNvGrpSpPr/>
          <p:nvPr/>
        </p:nvGrpSpPr>
        <p:grpSpPr>
          <a:xfrm>
            <a:off x="-285073" y="-152321"/>
            <a:ext cx="9505625" cy="2149339"/>
            <a:chOff x="-285073" y="-152321"/>
            <a:chExt cx="9505625" cy="2149339"/>
          </a:xfrm>
        </p:grpSpPr>
        <p:sp>
          <p:nvSpPr>
            <p:cNvPr id="339" name="Google Shape;339;p19"/>
            <p:cNvSpPr/>
            <p:nvPr/>
          </p:nvSpPr>
          <p:spPr>
            <a:xfrm flipH="1">
              <a:off x="-176862" y="41283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rot="-2700000" flipH="1">
              <a:off x="153596" y="169353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1" name="Google Shape;341;p19"/>
            <p:cNvGrpSpPr/>
            <p:nvPr/>
          </p:nvGrpSpPr>
          <p:grpSpPr>
            <a:xfrm rot="1286447" flipH="1">
              <a:off x="8461771" y="62682"/>
              <a:ext cx="674072" cy="591095"/>
              <a:chOff x="1565409" y="2345016"/>
              <a:chExt cx="769278" cy="674581"/>
            </a:xfrm>
          </p:grpSpPr>
          <p:sp>
            <p:nvSpPr>
              <p:cNvPr id="342" name="Google Shape;342;p19"/>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19"/>
            <p:cNvGrpSpPr/>
            <p:nvPr/>
          </p:nvGrpSpPr>
          <p:grpSpPr>
            <a:xfrm rot="-1800052" flipH="1">
              <a:off x="-160034" y="-693"/>
              <a:ext cx="797795" cy="713915"/>
              <a:chOff x="995678" y="3460637"/>
              <a:chExt cx="502403" cy="449580"/>
            </a:xfrm>
          </p:grpSpPr>
          <p:sp>
            <p:nvSpPr>
              <p:cNvPr id="348" name="Google Shape;348;p19"/>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 name="Google Shape;352;p19"/>
            <p:cNvSpPr/>
            <p:nvPr/>
          </p:nvSpPr>
          <p:spPr>
            <a:xfrm flipH="1">
              <a:off x="8596529" y="977109"/>
              <a:ext cx="270937" cy="243335"/>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flipH="1">
              <a:off x="107247" y="1191400"/>
              <a:ext cx="282130" cy="253361"/>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 name="Google Shape;354;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65"/>
        <p:cNvGrpSpPr/>
        <p:nvPr/>
      </p:nvGrpSpPr>
      <p:grpSpPr>
        <a:xfrm>
          <a:off x="0" y="0"/>
          <a:ext cx="0" cy="0"/>
          <a:chOff x="0" y="0"/>
          <a:chExt cx="0" cy="0"/>
        </a:xfrm>
      </p:grpSpPr>
      <p:grpSp>
        <p:nvGrpSpPr>
          <p:cNvPr id="366" name="Google Shape;366;p21"/>
          <p:cNvGrpSpPr/>
          <p:nvPr/>
        </p:nvGrpSpPr>
        <p:grpSpPr>
          <a:xfrm>
            <a:off x="-69549" y="209476"/>
            <a:ext cx="8970006" cy="4934030"/>
            <a:chOff x="-69549" y="209476"/>
            <a:chExt cx="8970006" cy="4934030"/>
          </a:xfrm>
        </p:grpSpPr>
        <p:sp>
          <p:nvSpPr>
            <p:cNvPr id="367" name="Google Shape;367;p21"/>
            <p:cNvSpPr/>
            <p:nvPr/>
          </p:nvSpPr>
          <p:spPr>
            <a:xfrm flipH="1">
              <a:off x="-69549" y="26403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1"/>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1"/>
            <p:cNvSpPr/>
            <p:nvPr/>
          </p:nvSpPr>
          <p:spPr>
            <a:xfrm rot="-2700000" flipH="1">
              <a:off x="8583171" y="67868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0" name="Google Shape;370;p21"/>
            <p:cNvGrpSpPr/>
            <p:nvPr/>
          </p:nvGrpSpPr>
          <p:grpSpPr>
            <a:xfrm rot="-1286636">
              <a:off x="96689" y="4351633"/>
              <a:ext cx="769298" cy="674599"/>
              <a:chOff x="1565409" y="2345016"/>
              <a:chExt cx="769278" cy="674581"/>
            </a:xfrm>
          </p:grpSpPr>
          <p:sp>
            <p:nvSpPr>
              <p:cNvPr id="371" name="Google Shape;371;p21"/>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1"/>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1"/>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1"/>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376;p21"/>
            <p:cNvGrpSpPr/>
            <p:nvPr/>
          </p:nvGrpSpPr>
          <p:grpSpPr>
            <a:xfrm>
              <a:off x="25300" y="528538"/>
              <a:ext cx="581867" cy="543626"/>
              <a:chOff x="1169100" y="1853651"/>
              <a:chExt cx="581867" cy="543626"/>
            </a:xfrm>
          </p:grpSpPr>
          <p:sp>
            <p:nvSpPr>
              <p:cNvPr id="377" name="Google Shape;377;p21"/>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80"/>
        <p:cNvGrpSpPr/>
        <p:nvPr/>
      </p:nvGrpSpPr>
      <p:grpSpPr>
        <a:xfrm>
          <a:off x="0" y="0"/>
          <a:ext cx="0" cy="0"/>
          <a:chOff x="0" y="0"/>
          <a:chExt cx="0" cy="0"/>
        </a:xfrm>
      </p:grpSpPr>
      <p:grpSp>
        <p:nvGrpSpPr>
          <p:cNvPr id="381" name="Google Shape;381;p22"/>
          <p:cNvGrpSpPr/>
          <p:nvPr/>
        </p:nvGrpSpPr>
        <p:grpSpPr>
          <a:xfrm>
            <a:off x="-400775" y="-128150"/>
            <a:ext cx="9585600" cy="5391775"/>
            <a:chOff x="-400775" y="-128150"/>
            <a:chExt cx="9585600" cy="5391775"/>
          </a:xfrm>
        </p:grpSpPr>
        <p:cxnSp>
          <p:nvCxnSpPr>
            <p:cNvPr id="382" name="Google Shape;382;p22"/>
            <p:cNvCxnSpPr/>
            <p:nvPr/>
          </p:nvCxnSpPr>
          <p:spPr>
            <a:xfrm flipH="1">
              <a:off x="-187100" y="-128150"/>
              <a:ext cx="1022100" cy="1857000"/>
            </a:xfrm>
            <a:prstGeom prst="straightConnector1">
              <a:avLst/>
            </a:prstGeom>
            <a:noFill/>
            <a:ln w="9525" cap="flat" cmpd="sng">
              <a:solidFill>
                <a:schemeClr val="dk1"/>
              </a:solidFill>
              <a:prstDash val="dash"/>
              <a:round/>
              <a:headEnd type="none" w="med" len="med"/>
              <a:tailEnd type="none" w="med" len="med"/>
            </a:ln>
          </p:spPr>
        </p:cxnSp>
        <p:cxnSp>
          <p:nvCxnSpPr>
            <p:cNvPr id="383" name="Google Shape;383;p22"/>
            <p:cNvCxnSpPr/>
            <p:nvPr/>
          </p:nvCxnSpPr>
          <p:spPr>
            <a:xfrm rot="10800000" flipH="1">
              <a:off x="8536825" y="3437025"/>
              <a:ext cx="648000" cy="1797000"/>
            </a:xfrm>
            <a:prstGeom prst="straightConnector1">
              <a:avLst/>
            </a:prstGeom>
            <a:noFill/>
            <a:ln w="9525" cap="flat" cmpd="sng">
              <a:solidFill>
                <a:schemeClr val="dk1"/>
              </a:solidFill>
              <a:prstDash val="dash"/>
              <a:round/>
              <a:headEnd type="none" w="med" len="med"/>
              <a:tailEnd type="none" w="med" len="med"/>
            </a:ln>
          </p:spPr>
        </p:cxnSp>
        <p:cxnSp>
          <p:nvCxnSpPr>
            <p:cNvPr id="384" name="Google Shape;384;p22"/>
            <p:cNvCxnSpPr/>
            <p:nvPr/>
          </p:nvCxnSpPr>
          <p:spPr>
            <a:xfrm>
              <a:off x="-400775" y="4101425"/>
              <a:ext cx="2471700" cy="1162200"/>
            </a:xfrm>
            <a:prstGeom prst="straightConnector1">
              <a:avLst/>
            </a:prstGeom>
            <a:noFill/>
            <a:ln w="9525" cap="flat" cmpd="sng">
              <a:solidFill>
                <a:schemeClr val="dk1"/>
              </a:solidFill>
              <a:prstDash val="dash"/>
              <a:round/>
              <a:headEnd type="none" w="med" len="med"/>
              <a:tailEnd type="none" w="med" len="med"/>
            </a:ln>
          </p:spPr>
        </p:cxnSp>
      </p:grpSp>
      <p:grpSp>
        <p:nvGrpSpPr>
          <p:cNvPr id="385" name="Google Shape;385;p22"/>
          <p:cNvGrpSpPr/>
          <p:nvPr/>
        </p:nvGrpSpPr>
        <p:grpSpPr>
          <a:xfrm>
            <a:off x="-85550" y="209476"/>
            <a:ext cx="8986007" cy="772692"/>
            <a:chOff x="-85550" y="209476"/>
            <a:chExt cx="8986007" cy="772692"/>
          </a:xfrm>
        </p:grpSpPr>
        <p:sp>
          <p:nvSpPr>
            <p:cNvPr id="386" name="Google Shape;386;p22"/>
            <p:cNvSpPr/>
            <p:nvPr/>
          </p:nvSpPr>
          <p:spPr>
            <a:xfrm flipH="1">
              <a:off x="8430770" y="209476"/>
              <a:ext cx="354530" cy="318398"/>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p:nvPr/>
          </p:nvSpPr>
          <p:spPr>
            <a:xfrm rot="-2700000" flipH="1">
              <a:off x="8583171" y="678684"/>
              <a:ext cx="270932" cy="243330"/>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2"/>
            <p:cNvGrpSpPr/>
            <p:nvPr/>
          </p:nvGrpSpPr>
          <p:grpSpPr>
            <a:xfrm>
              <a:off x="-85550" y="215461"/>
              <a:ext cx="648023" cy="648075"/>
              <a:chOff x="16546" y="4513750"/>
              <a:chExt cx="572661" cy="572707"/>
            </a:xfrm>
          </p:grpSpPr>
          <p:sp>
            <p:nvSpPr>
              <p:cNvPr id="389" name="Google Shape;389;p22"/>
              <p:cNvSpPr/>
              <p:nvPr/>
            </p:nvSpPr>
            <p:spPr>
              <a:xfrm>
                <a:off x="16546" y="4513750"/>
                <a:ext cx="572661" cy="572707"/>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58828" y="4608008"/>
                <a:ext cx="463169" cy="285223"/>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1pPr>
            <a:lvl2pPr lvl="1"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2pPr>
            <a:lvl3pPr lvl="2"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3pPr>
            <a:lvl4pPr lvl="3"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4pPr>
            <a:lvl5pPr lvl="4"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5pPr>
            <a:lvl6pPr lvl="5"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6pPr>
            <a:lvl7pPr lvl="6"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7pPr>
            <a:lvl8pPr lvl="7"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8pPr>
            <a:lvl9pPr lvl="8" rtl="0">
              <a:spcBef>
                <a:spcPts val="0"/>
              </a:spcBef>
              <a:spcAft>
                <a:spcPts val="0"/>
              </a:spcAft>
              <a:buClr>
                <a:schemeClr val="dk1"/>
              </a:buClr>
              <a:buSzPts val="2500"/>
              <a:buFont typeface="Poppins"/>
              <a:buNone/>
              <a:defRPr sz="2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1pPr>
            <a:lvl2pPr marL="914400" lvl="1"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2pPr>
            <a:lvl3pPr marL="1371600" lvl="2"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3pPr>
            <a:lvl4pPr marL="1828800" lvl="3"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4pPr>
            <a:lvl5pPr marL="2286000" lvl="4"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5pPr>
            <a:lvl6pPr marL="2743200" lvl="5"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6pPr>
            <a:lvl7pPr marL="3200400" lvl="6"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7pPr>
            <a:lvl8pPr marL="3657600" lvl="7"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8pPr>
            <a:lvl9pPr marL="4114800" lvl="8" indent="-304800">
              <a:lnSpc>
                <a:spcPct val="100000"/>
              </a:lnSpc>
              <a:spcBef>
                <a:spcPts val="0"/>
              </a:spcBef>
              <a:spcAft>
                <a:spcPts val="0"/>
              </a:spcAft>
              <a:buClr>
                <a:schemeClr val="dk1"/>
              </a:buClr>
              <a:buSzPts val="1200"/>
              <a:buFont typeface="Baloo 2"/>
              <a:buChar char="■"/>
              <a:defRPr sz="1200">
                <a:solidFill>
                  <a:schemeClr val="dk1"/>
                </a:solidFill>
                <a:latin typeface="Baloo 2"/>
                <a:ea typeface="Baloo 2"/>
                <a:cs typeface="Baloo 2"/>
                <a:sym typeface="Baloo 2"/>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 id="2147483661" r:id="rId12"/>
    <p:sldLayoutId id="2147483665" r:id="rId13"/>
    <p:sldLayoutId id="2147483667" r:id="rId14"/>
    <p:sldLayoutId id="214748366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cxnSp>
        <p:nvCxnSpPr>
          <p:cNvPr id="401" name="Google Shape;401;p26"/>
          <p:cNvCxnSpPr/>
          <p:nvPr/>
        </p:nvCxnSpPr>
        <p:spPr>
          <a:xfrm rot="10800000">
            <a:off x="-123300" y="3512475"/>
            <a:ext cx="4758900" cy="1666800"/>
          </a:xfrm>
          <a:prstGeom prst="straightConnector1">
            <a:avLst/>
          </a:prstGeom>
          <a:noFill/>
          <a:ln w="9525" cap="flat" cmpd="sng">
            <a:solidFill>
              <a:schemeClr val="dk1"/>
            </a:solidFill>
            <a:prstDash val="dash"/>
            <a:round/>
            <a:headEnd type="none" w="med" len="med"/>
            <a:tailEnd type="none" w="med" len="med"/>
          </a:ln>
        </p:spPr>
      </p:cxnSp>
      <p:sp>
        <p:nvSpPr>
          <p:cNvPr id="402" name="Google Shape;402;p26"/>
          <p:cNvSpPr txBox="1">
            <a:spLocks noGrp="1"/>
          </p:cNvSpPr>
          <p:nvPr>
            <p:ph type="ctrTitle"/>
          </p:nvPr>
        </p:nvSpPr>
        <p:spPr>
          <a:xfrm>
            <a:off x="3933461" y="641477"/>
            <a:ext cx="4528800" cy="1934400"/>
          </a:xfrm>
          <a:prstGeom prst="rect">
            <a:avLst/>
          </a:prstGeom>
        </p:spPr>
        <p:txBody>
          <a:bodyPr spcFirstLastPara="1" wrap="square" lIns="91425" tIns="91425" rIns="91425" bIns="91425" anchor="b" anchorCtr="0">
            <a:noAutofit/>
          </a:bodyPr>
          <a:lstStyle/>
          <a:p>
            <a:pPr lvl="0" algn="l"/>
            <a:r>
              <a:rPr lang="en-ZA" dirty="0"/>
              <a:t>Discourse and Sentiment Mapping in Social Media Analytics</a:t>
            </a:r>
            <a:endParaRPr dirty="0"/>
          </a:p>
        </p:txBody>
      </p:sp>
      <p:sp>
        <p:nvSpPr>
          <p:cNvPr id="403" name="Google Shape;403;p26"/>
          <p:cNvSpPr txBox="1">
            <a:spLocks noGrp="1"/>
          </p:cNvSpPr>
          <p:nvPr>
            <p:ph type="subTitle" idx="1"/>
          </p:nvPr>
        </p:nvSpPr>
        <p:spPr>
          <a:xfrm>
            <a:off x="3933461" y="2534171"/>
            <a:ext cx="5425437"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sz="1400" b="1" dirty="0"/>
              <a:t>Group 3 </a:t>
            </a:r>
          </a:p>
          <a:p>
            <a:pPr marL="0" lvl="0" indent="0" algn="l" rtl="0">
              <a:spcBef>
                <a:spcPts val="0"/>
              </a:spcBef>
              <a:spcAft>
                <a:spcPts val="0"/>
              </a:spcAft>
              <a:buNone/>
            </a:pPr>
            <a:r>
              <a:rPr lang="en-ZA" sz="1400" b="1" dirty="0"/>
              <a:t>EDAB 6808: </a:t>
            </a:r>
            <a:r>
              <a:rPr lang="en-ZA" sz="1400" b="1" dirty="0" err="1"/>
              <a:t>B.Com</a:t>
            </a:r>
            <a:r>
              <a:rPr lang="en-ZA" sz="1400" b="1" dirty="0"/>
              <a:t>(Hons) Business and Financial Analytics </a:t>
            </a:r>
          </a:p>
          <a:p>
            <a:pPr marL="0" lvl="0" indent="0" algn="l" rtl="0">
              <a:spcBef>
                <a:spcPts val="0"/>
              </a:spcBef>
              <a:spcAft>
                <a:spcPts val="0"/>
              </a:spcAft>
              <a:buNone/>
            </a:pPr>
            <a:r>
              <a:rPr lang="en-ZA" sz="1400" b="1" dirty="0"/>
              <a:t>Assignment 4 </a:t>
            </a:r>
          </a:p>
          <a:p>
            <a:pPr marL="0" lvl="0" indent="0" algn="l" rtl="0">
              <a:spcBef>
                <a:spcPts val="0"/>
              </a:spcBef>
              <a:spcAft>
                <a:spcPts val="0"/>
              </a:spcAft>
              <a:buNone/>
            </a:pPr>
            <a:r>
              <a:rPr lang="en-ZA" sz="1400" b="1" dirty="0"/>
              <a:t>Assessors: Dr Combrink, Dr </a:t>
            </a:r>
            <a:r>
              <a:rPr lang="en-ZA" sz="1400" b="1" dirty="0" err="1"/>
              <a:t>Tamuka</a:t>
            </a:r>
            <a:r>
              <a:rPr lang="en-ZA" sz="1400" b="1" dirty="0"/>
              <a:t>, and Miss </a:t>
            </a:r>
            <a:r>
              <a:rPr lang="en-ZA" sz="1400" b="1" dirty="0" err="1"/>
              <a:t>Oelofse</a:t>
            </a:r>
            <a:r>
              <a:rPr lang="en-ZA" sz="1400" b="1" dirty="0"/>
              <a:t> </a:t>
            </a:r>
            <a:endParaRPr sz="1400" b="1" dirty="0"/>
          </a:p>
        </p:txBody>
      </p:sp>
      <p:grpSp>
        <p:nvGrpSpPr>
          <p:cNvPr id="404" name="Google Shape;404;p26"/>
          <p:cNvGrpSpPr/>
          <p:nvPr/>
        </p:nvGrpSpPr>
        <p:grpSpPr>
          <a:xfrm>
            <a:off x="-458219" y="441341"/>
            <a:ext cx="3962844" cy="5121287"/>
            <a:chOff x="-458219" y="441341"/>
            <a:chExt cx="3962844" cy="5121287"/>
          </a:xfrm>
        </p:grpSpPr>
        <p:cxnSp>
          <p:nvCxnSpPr>
            <p:cNvPr id="405" name="Google Shape;405;p26"/>
            <p:cNvCxnSpPr/>
            <p:nvPr/>
          </p:nvCxnSpPr>
          <p:spPr>
            <a:xfrm>
              <a:off x="842500" y="3400475"/>
              <a:ext cx="634500" cy="721200"/>
            </a:xfrm>
            <a:prstGeom prst="straightConnector1">
              <a:avLst/>
            </a:prstGeom>
            <a:noFill/>
            <a:ln w="9525" cap="flat" cmpd="sng">
              <a:solidFill>
                <a:schemeClr val="dk1"/>
              </a:solidFill>
              <a:prstDash val="dash"/>
              <a:round/>
              <a:headEnd type="none" w="med" len="med"/>
              <a:tailEnd type="none" w="med" len="med"/>
            </a:ln>
          </p:spPr>
        </p:cxnSp>
        <p:cxnSp>
          <p:nvCxnSpPr>
            <p:cNvPr id="406" name="Google Shape;406;p26"/>
            <p:cNvCxnSpPr/>
            <p:nvPr/>
          </p:nvCxnSpPr>
          <p:spPr>
            <a:xfrm rot="10800000" flipH="1">
              <a:off x="1490450" y="3948275"/>
              <a:ext cx="1810200" cy="180300"/>
            </a:xfrm>
            <a:prstGeom prst="straightConnector1">
              <a:avLst/>
            </a:prstGeom>
            <a:noFill/>
            <a:ln w="9525" cap="flat" cmpd="sng">
              <a:solidFill>
                <a:schemeClr val="dk1"/>
              </a:solidFill>
              <a:prstDash val="dash"/>
              <a:round/>
              <a:headEnd type="none" w="med" len="med"/>
              <a:tailEnd type="none" w="med" len="med"/>
            </a:ln>
          </p:spPr>
        </p:cxnSp>
        <p:cxnSp>
          <p:nvCxnSpPr>
            <p:cNvPr id="407" name="Google Shape;407;p26"/>
            <p:cNvCxnSpPr/>
            <p:nvPr/>
          </p:nvCxnSpPr>
          <p:spPr>
            <a:xfrm rot="10800000">
              <a:off x="3287275" y="3106675"/>
              <a:ext cx="20100" cy="861600"/>
            </a:xfrm>
            <a:prstGeom prst="straightConnector1">
              <a:avLst/>
            </a:prstGeom>
            <a:noFill/>
            <a:ln w="9525" cap="flat" cmpd="sng">
              <a:solidFill>
                <a:schemeClr val="dk1"/>
              </a:solidFill>
              <a:prstDash val="dash"/>
              <a:round/>
              <a:headEnd type="none" w="med" len="med"/>
              <a:tailEnd type="none" w="med" len="med"/>
            </a:ln>
          </p:spPr>
        </p:cxnSp>
        <p:cxnSp>
          <p:nvCxnSpPr>
            <p:cNvPr id="408" name="Google Shape;408;p26"/>
            <p:cNvCxnSpPr/>
            <p:nvPr/>
          </p:nvCxnSpPr>
          <p:spPr>
            <a:xfrm rot="10800000" flipH="1">
              <a:off x="1029550" y="1229550"/>
              <a:ext cx="734700" cy="1482900"/>
            </a:xfrm>
            <a:prstGeom prst="straightConnector1">
              <a:avLst/>
            </a:prstGeom>
            <a:noFill/>
            <a:ln w="9525" cap="flat" cmpd="sng">
              <a:solidFill>
                <a:schemeClr val="dk1"/>
              </a:solidFill>
              <a:prstDash val="dash"/>
              <a:round/>
              <a:headEnd type="none" w="med" len="med"/>
              <a:tailEnd type="none" w="med" len="med"/>
            </a:ln>
          </p:spPr>
        </p:cxnSp>
        <p:cxnSp>
          <p:nvCxnSpPr>
            <p:cNvPr id="409" name="Google Shape;409;p26"/>
            <p:cNvCxnSpPr/>
            <p:nvPr/>
          </p:nvCxnSpPr>
          <p:spPr>
            <a:xfrm rot="10800000" flipH="1">
              <a:off x="1777700" y="902300"/>
              <a:ext cx="921900" cy="333900"/>
            </a:xfrm>
            <a:prstGeom prst="straightConnector1">
              <a:avLst/>
            </a:prstGeom>
            <a:noFill/>
            <a:ln w="9525" cap="flat" cmpd="sng">
              <a:solidFill>
                <a:schemeClr val="dk1"/>
              </a:solidFill>
              <a:prstDash val="dash"/>
              <a:round/>
              <a:headEnd type="none" w="med" len="med"/>
              <a:tailEnd type="none" w="med" len="med"/>
            </a:ln>
          </p:spPr>
        </p:cxnSp>
        <p:cxnSp>
          <p:nvCxnSpPr>
            <p:cNvPr id="410" name="Google Shape;410;p26"/>
            <p:cNvCxnSpPr/>
            <p:nvPr/>
          </p:nvCxnSpPr>
          <p:spPr>
            <a:xfrm>
              <a:off x="3140375" y="942275"/>
              <a:ext cx="193800" cy="1950600"/>
            </a:xfrm>
            <a:prstGeom prst="straightConnector1">
              <a:avLst/>
            </a:prstGeom>
            <a:noFill/>
            <a:ln w="9525" cap="flat" cmpd="sng">
              <a:solidFill>
                <a:schemeClr val="dk1"/>
              </a:solidFill>
              <a:prstDash val="dash"/>
              <a:round/>
              <a:headEnd type="none" w="med" len="med"/>
              <a:tailEnd type="none" w="med" len="med"/>
            </a:ln>
          </p:spPr>
        </p:cxnSp>
        <p:sp>
          <p:nvSpPr>
            <p:cNvPr id="411" name="Google Shape;411;p26"/>
            <p:cNvSpPr/>
            <p:nvPr/>
          </p:nvSpPr>
          <p:spPr>
            <a:xfrm flipH="1">
              <a:off x="3135618" y="3904671"/>
              <a:ext cx="335637" cy="335647"/>
            </a:xfrm>
            <a:custGeom>
              <a:avLst/>
              <a:gdLst/>
              <a:ahLst/>
              <a:cxnLst/>
              <a:rect l="l" t="t" r="r" b="b"/>
              <a:pathLst>
                <a:path w="3983" h="3983" extrusionOk="0">
                  <a:moveTo>
                    <a:pt x="1995" y="159"/>
                  </a:moveTo>
                  <a:cubicBezTo>
                    <a:pt x="3001" y="159"/>
                    <a:pt x="3824" y="982"/>
                    <a:pt x="3824" y="1995"/>
                  </a:cubicBezTo>
                  <a:cubicBezTo>
                    <a:pt x="3824" y="3001"/>
                    <a:pt x="3001" y="3824"/>
                    <a:pt x="1995" y="3824"/>
                  </a:cubicBezTo>
                  <a:cubicBezTo>
                    <a:pt x="982" y="3824"/>
                    <a:pt x="167" y="3001"/>
                    <a:pt x="167" y="1995"/>
                  </a:cubicBezTo>
                  <a:cubicBezTo>
                    <a:pt x="167" y="982"/>
                    <a:pt x="982" y="159"/>
                    <a:pt x="1995" y="159"/>
                  </a:cubicBezTo>
                  <a:close/>
                  <a:moveTo>
                    <a:pt x="1995" y="0"/>
                  </a:moveTo>
                  <a:cubicBezTo>
                    <a:pt x="895" y="0"/>
                    <a:pt x="0" y="895"/>
                    <a:pt x="0" y="1995"/>
                  </a:cubicBezTo>
                  <a:cubicBezTo>
                    <a:pt x="0" y="3088"/>
                    <a:pt x="895" y="3982"/>
                    <a:pt x="1995" y="3982"/>
                  </a:cubicBezTo>
                  <a:cubicBezTo>
                    <a:pt x="3088" y="3982"/>
                    <a:pt x="3983" y="3088"/>
                    <a:pt x="3983" y="1995"/>
                  </a:cubicBezTo>
                  <a:cubicBezTo>
                    <a:pt x="3983" y="895"/>
                    <a:pt x="3088" y="0"/>
                    <a:pt x="19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6"/>
            <p:cNvSpPr/>
            <p:nvPr/>
          </p:nvSpPr>
          <p:spPr>
            <a:xfrm flipH="1">
              <a:off x="1283001" y="1750880"/>
              <a:ext cx="535773" cy="496435"/>
            </a:xfrm>
            <a:custGeom>
              <a:avLst/>
              <a:gdLst/>
              <a:ahLst/>
              <a:cxnLst/>
              <a:rect l="l" t="t" r="r" b="b"/>
              <a:pathLst>
                <a:path w="6358" h="5891" extrusionOk="0">
                  <a:moveTo>
                    <a:pt x="3040" y="158"/>
                  </a:moveTo>
                  <a:cubicBezTo>
                    <a:pt x="3357" y="158"/>
                    <a:pt x="3682" y="214"/>
                    <a:pt x="3998" y="333"/>
                  </a:cubicBezTo>
                  <a:cubicBezTo>
                    <a:pt x="5439" y="871"/>
                    <a:pt x="6175" y="2470"/>
                    <a:pt x="5645" y="3911"/>
                  </a:cubicBezTo>
                  <a:cubicBezTo>
                    <a:pt x="5231" y="5035"/>
                    <a:pt x="4163" y="5730"/>
                    <a:pt x="3029" y="5730"/>
                  </a:cubicBezTo>
                  <a:cubicBezTo>
                    <a:pt x="2709" y="5730"/>
                    <a:pt x="2384" y="5674"/>
                    <a:pt x="2067" y="5558"/>
                  </a:cubicBezTo>
                  <a:cubicBezTo>
                    <a:pt x="1370" y="5304"/>
                    <a:pt x="816" y="4790"/>
                    <a:pt x="507" y="4109"/>
                  </a:cubicBezTo>
                  <a:cubicBezTo>
                    <a:pt x="190" y="3436"/>
                    <a:pt x="167" y="2676"/>
                    <a:pt x="420" y="1979"/>
                  </a:cubicBezTo>
                  <a:cubicBezTo>
                    <a:pt x="840" y="855"/>
                    <a:pt x="1900" y="158"/>
                    <a:pt x="3040" y="158"/>
                  </a:cubicBezTo>
                  <a:close/>
                  <a:moveTo>
                    <a:pt x="3039" y="0"/>
                  </a:moveTo>
                  <a:cubicBezTo>
                    <a:pt x="1841" y="0"/>
                    <a:pt x="708" y="738"/>
                    <a:pt x="270" y="1924"/>
                  </a:cubicBezTo>
                  <a:cubicBezTo>
                    <a:pt x="0" y="2660"/>
                    <a:pt x="32" y="3460"/>
                    <a:pt x="357" y="4180"/>
                  </a:cubicBezTo>
                  <a:cubicBezTo>
                    <a:pt x="689" y="4893"/>
                    <a:pt x="1275" y="5439"/>
                    <a:pt x="2011" y="5708"/>
                  </a:cubicBezTo>
                  <a:cubicBezTo>
                    <a:pt x="2344" y="5835"/>
                    <a:pt x="2692" y="5890"/>
                    <a:pt x="3032" y="5890"/>
                  </a:cubicBezTo>
                  <a:cubicBezTo>
                    <a:pt x="4228" y="5890"/>
                    <a:pt x="5360" y="5154"/>
                    <a:pt x="5795" y="3966"/>
                  </a:cubicBezTo>
                  <a:cubicBezTo>
                    <a:pt x="6358" y="2446"/>
                    <a:pt x="5582" y="744"/>
                    <a:pt x="4054" y="182"/>
                  </a:cubicBezTo>
                  <a:cubicBezTo>
                    <a:pt x="3720" y="59"/>
                    <a:pt x="3377" y="0"/>
                    <a:pt x="3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6"/>
            <p:cNvSpPr/>
            <p:nvPr/>
          </p:nvSpPr>
          <p:spPr>
            <a:xfrm flipH="1">
              <a:off x="904047" y="2811128"/>
              <a:ext cx="2154973" cy="2751500"/>
            </a:xfrm>
            <a:custGeom>
              <a:avLst/>
              <a:gdLst/>
              <a:ahLst/>
              <a:cxnLst/>
              <a:rect l="l" t="t" r="r" b="b"/>
              <a:pathLst>
                <a:path w="25573" h="32651" extrusionOk="0">
                  <a:moveTo>
                    <a:pt x="6419" y="1"/>
                  </a:moveTo>
                  <a:cubicBezTo>
                    <a:pt x="6134" y="1"/>
                    <a:pt x="5839" y="138"/>
                    <a:pt x="5638" y="350"/>
                  </a:cubicBezTo>
                  <a:cubicBezTo>
                    <a:pt x="5329" y="675"/>
                    <a:pt x="5186" y="1118"/>
                    <a:pt x="5060" y="1545"/>
                  </a:cubicBezTo>
                  <a:cubicBezTo>
                    <a:pt x="4973" y="1181"/>
                    <a:pt x="4886" y="809"/>
                    <a:pt x="4680" y="508"/>
                  </a:cubicBezTo>
                  <a:cubicBezTo>
                    <a:pt x="4493" y="245"/>
                    <a:pt x="4184" y="36"/>
                    <a:pt x="3866" y="36"/>
                  </a:cubicBezTo>
                  <a:cubicBezTo>
                    <a:pt x="3820" y="36"/>
                    <a:pt x="3775" y="40"/>
                    <a:pt x="3730" y="49"/>
                  </a:cubicBezTo>
                  <a:cubicBezTo>
                    <a:pt x="3089" y="168"/>
                    <a:pt x="2930" y="991"/>
                    <a:pt x="2780" y="1632"/>
                  </a:cubicBezTo>
                  <a:cubicBezTo>
                    <a:pt x="2408" y="3279"/>
                    <a:pt x="1252" y="4641"/>
                    <a:pt x="690" y="6232"/>
                  </a:cubicBezTo>
                  <a:cubicBezTo>
                    <a:pt x="1" y="8180"/>
                    <a:pt x="246" y="10309"/>
                    <a:pt x="492" y="12352"/>
                  </a:cubicBezTo>
                  <a:cubicBezTo>
                    <a:pt x="587" y="13096"/>
                    <a:pt x="682" y="13848"/>
                    <a:pt x="935" y="14553"/>
                  </a:cubicBezTo>
                  <a:cubicBezTo>
                    <a:pt x="1181" y="15249"/>
                    <a:pt x="1584" y="15875"/>
                    <a:pt x="1980" y="16500"/>
                  </a:cubicBezTo>
                  <a:cubicBezTo>
                    <a:pt x="3754" y="19295"/>
                    <a:pt x="10317" y="29088"/>
                    <a:pt x="12581" y="32650"/>
                  </a:cubicBezTo>
                  <a:lnTo>
                    <a:pt x="25572" y="30141"/>
                  </a:lnTo>
                  <a:cubicBezTo>
                    <a:pt x="25572" y="30141"/>
                    <a:pt x="19603" y="23499"/>
                    <a:pt x="16753" y="19041"/>
                  </a:cubicBezTo>
                  <a:cubicBezTo>
                    <a:pt x="16428" y="18139"/>
                    <a:pt x="16223" y="17173"/>
                    <a:pt x="15763" y="16334"/>
                  </a:cubicBezTo>
                  <a:cubicBezTo>
                    <a:pt x="14750" y="14481"/>
                    <a:pt x="11932" y="13215"/>
                    <a:pt x="11219" y="11236"/>
                  </a:cubicBezTo>
                  <a:cubicBezTo>
                    <a:pt x="10507" y="9264"/>
                    <a:pt x="11370" y="7752"/>
                    <a:pt x="10926" y="5710"/>
                  </a:cubicBezTo>
                  <a:cubicBezTo>
                    <a:pt x="10823" y="5250"/>
                    <a:pt x="10625" y="4768"/>
                    <a:pt x="10198" y="4554"/>
                  </a:cubicBezTo>
                  <a:cubicBezTo>
                    <a:pt x="10159" y="4535"/>
                    <a:pt x="10121" y="4526"/>
                    <a:pt x="10085" y="4526"/>
                  </a:cubicBezTo>
                  <a:cubicBezTo>
                    <a:pt x="9723" y="4526"/>
                    <a:pt x="9462" y="5361"/>
                    <a:pt x="9462" y="5361"/>
                  </a:cubicBezTo>
                  <a:cubicBezTo>
                    <a:pt x="9462" y="5361"/>
                    <a:pt x="9367" y="4348"/>
                    <a:pt x="9390" y="3833"/>
                  </a:cubicBezTo>
                  <a:cubicBezTo>
                    <a:pt x="9414" y="3319"/>
                    <a:pt x="9129" y="2527"/>
                    <a:pt x="8773" y="2147"/>
                  </a:cubicBezTo>
                  <a:cubicBezTo>
                    <a:pt x="8653" y="2019"/>
                    <a:pt x="8515" y="1962"/>
                    <a:pt x="8378" y="1962"/>
                  </a:cubicBezTo>
                  <a:cubicBezTo>
                    <a:pt x="8116" y="1962"/>
                    <a:pt x="7855" y="2168"/>
                    <a:pt x="7720" y="2480"/>
                  </a:cubicBezTo>
                  <a:cubicBezTo>
                    <a:pt x="7649" y="1870"/>
                    <a:pt x="7490" y="1268"/>
                    <a:pt x="7245" y="706"/>
                  </a:cubicBezTo>
                  <a:cubicBezTo>
                    <a:pt x="7150" y="492"/>
                    <a:pt x="7039" y="263"/>
                    <a:pt x="6849" y="128"/>
                  </a:cubicBezTo>
                  <a:cubicBezTo>
                    <a:pt x="6719" y="40"/>
                    <a:pt x="6571" y="1"/>
                    <a:pt x="64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flipH="1">
              <a:off x="553831" y="2662817"/>
              <a:ext cx="2776698" cy="2063772"/>
            </a:xfrm>
            <a:custGeom>
              <a:avLst/>
              <a:gdLst/>
              <a:ahLst/>
              <a:cxnLst/>
              <a:rect l="l" t="t" r="r" b="b"/>
              <a:pathLst>
                <a:path w="32951" h="24490" extrusionOk="0">
                  <a:moveTo>
                    <a:pt x="13005" y="0"/>
                  </a:moveTo>
                  <a:cubicBezTo>
                    <a:pt x="12859" y="0"/>
                    <a:pt x="12715" y="25"/>
                    <a:pt x="12573" y="75"/>
                  </a:cubicBezTo>
                  <a:lnTo>
                    <a:pt x="1" y="4026"/>
                  </a:lnTo>
                  <a:cubicBezTo>
                    <a:pt x="1" y="4026"/>
                    <a:pt x="1" y="4493"/>
                    <a:pt x="9" y="4881"/>
                  </a:cubicBezTo>
                  <a:cubicBezTo>
                    <a:pt x="17" y="5071"/>
                    <a:pt x="17" y="5261"/>
                    <a:pt x="151" y="5443"/>
                  </a:cubicBezTo>
                  <a:cubicBezTo>
                    <a:pt x="151" y="5443"/>
                    <a:pt x="13230" y="18561"/>
                    <a:pt x="18772" y="24000"/>
                  </a:cubicBezTo>
                  <a:cubicBezTo>
                    <a:pt x="19065" y="24281"/>
                    <a:pt x="19507" y="24490"/>
                    <a:pt x="19948" y="24490"/>
                  </a:cubicBezTo>
                  <a:cubicBezTo>
                    <a:pt x="20091" y="24490"/>
                    <a:pt x="20233" y="24468"/>
                    <a:pt x="20371" y="24419"/>
                  </a:cubicBezTo>
                  <a:lnTo>
                    <a:pt x="32349" y="20200"/>
                  </a:lnTo>
                  <a:cubicBezTo>
                    <a:pt x="32705" y="20073"/>
                    <a:pt x="32919" y="19812"/>
                    <a:pt x="32935" y="19527"/>
                  </a:cubicBezTo>
                  <a:cubicBezTo>
                    <a:pt x="32951" y="19400"/>
                    <a:pt x="32935" y="18482"/>
                    <a:pt x="32935" y="18482"/>
                  </a:cubicBezTo>
                  <a:lnTo>
                    <a:pt x="32325" y="18324"/>
                  </a:lnTo>
                  <a:cubicBezTo>
                    <a:pt x="32325" y="18324"/>
                    <a:pt x="19167" y="5498"/>
                    <a:pt x="14330" y="669"/>
                  </a:cubicBezTo>
                  <a:cubicBezTo>
                    <a:pt x="13881" y="220"/>
                    <a:pt x="13436" y="0"/>
                    <a:pt x="130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6"/>
            <p:cNvSpPr/>
            <p:nvPr/>
          </p:nvSpPr>
          <p:spPr>
            <a:xfrm flipH="1">
              <a:off x="540517" y="2575263"/>
              <a:ext cx="2804001" cy="2063941"/>
            </a:xfrm>
            <a:custGeom>
              <a:avLst/>
              <a:gdLst/>
              <a:ahLst/>
              <a:cxnLst/>
              <a:rect l="l" t="t" r="r" b="b"/>
              <a:pathLst>
                <a:path w="33275" h="24492" extrusionOk="0">
                  <a:moveTo>
                    <a:pt x="13177" y="1"/>
                  </a:moveTo>
                  <a:cubicBezTo>
                    <a:pt x="13029" y="1"/>
                    <a:pt x="12883" y="27"/>
                    <a:pt x="12739" y="77"/>
                  </a:cubicBezTo>
                  <a:lnTo>
                    <a:pt x="761" y="4297"/>
                  </a:lnTo>
                  <a:cubicBezTo>
                    <a:pt x="198" y="4495"/>
                    <a:pt x="1" y="5009"/>
                    <a:pt x="317" y="5437"/>
                  </a:cubicBezTo>
                  <a:cubicBezTo>
                    <a:pt x="317" y="5437"/>
                    <a:pt x="13396" y="18563"/>
                    <a:pt x="18938" y="23994"/>
                  </a:cubicBezTo>
                  <a:cubicBezTo>
                    <a:pt x="19231" y="24281"/>
                    <a:pt x="19674" y="24492"/>
                    <a:pt x="20115" y="24492"/>
                  </a:cubicBezTo>
                  <a:cubicBezTo>
                    <a:pt x="20257" y="24492"/>
                    <a:pt x="20400" y="24470"/>
                    <a:pt x="20537" y="24421"/>
                  </a:cubicBezTo>
                  <a:lnTo>
                    <a:pt x="32515" y="20194"/>
                  </a:lnTo>
                  <a:cubicBezTo>
                    <a:pt x="33077" y="19996"/>
                    <a:pt x="33275" y="19489"/>
                    <a:pt x="32950" y="19054"/>
                  </a:cubicBezTo>
                  <a:cubicBezTo>
                    <a:pt x="32950" y="19054"/>
                    <a:pt x="19333" y="5500"/>
                    <a:pt x="14496" y="671"/>
                  </a:cubicBezTo>
                  <a:cubicBezTo>
                    <a:pt x="14049" y="218"/>
                    <a:pt x="13606" y="1"/>
                    <a:pt x="13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6"/>
            <p:cNvSpPr/>
            <p:nvPr/>
          </p:nvSpPr>
          <p:spPr>
            <a:xfrm flipH="1">
              <a:off x="690597" y="2670485"/>
              <a:ext cx="2504514" cy="1873406"/>
            </a:xfrm>
            <a:custGeom>
              <a:avLst/>
              <a:gdLst/>
              <a:ahLst/>
              <a:cxnLst/>
              <a:rect l="l" t="t" r="r" b="b"/>
              <a:pathLst>
                <a:path w="29721" h="22231" extrusionOk="0">
                  <a:moveTo>
                    <a:pt x="11401" y="0"/>
                  </a:moveTo>
                  <a:cubicBezTo>
                    <a:pt x="11385" y="0"/>
                    <a:pt x="11369" y="0"/>
                    <a:pt x="11338" y="8"/>
                  </a:cubicBezTo>
                  <a:lnTo>
                    <a:pt x="9390" y="697"/>
                  </a:lnTo>
                  <a:cubicBezTo>
                    <a:pt x="9557" y="863"/>
                    <a:pt x="9644" y="958"/>
                    <a:pt x="9644" y="958"/>
                  </a:cubicBezTo>
                  <a:cubicBezTo>
                    <a:pt x="9762" y="1116"/>
                    <a:pt x="9691" y="1299"/>
                    <a:pt x="9485" y="1378"/>
                  </a:cubicBezTo>
                  <a:lnTo>
                    <a:pt x="5115" y="2914"/>
                  </a:lnTo>
                  <a:cubicBezTo>
                    <a:pt x="5063" y="2933"/>
                    <a:pt x="5010" y="2942"/>
                    <a:pt x="4956" y="2942"/>
                  </a:cubicBezTo>
                  <a:cubicBezTo>
                    <a:pt x="4796" y="2942"/>
                    <a:pt x="4636" y="2864"/>
                    <a:pt x="4529" y="2763"/>
                  </a:cubicBezTo>
                  <a:cubicBezTo>
                    <a:pt x="4450" y="2676"/>
                    <a:pt x="4363" y="2597"/>
                    <a:pt x="4268" y="2502"/>
                  </a:cubicBezTo>
                  <a:lnTo>
                    <a:pt x="183" y="3943"/>
                  </a:lnTo>
                  <a:cubicBezTo>
                    <a:pt x="48" y="3990"/>
                    <a:pt x="1" y="4172"/>
                    <a:pt x="112" y="4283"/>
                  </a:cubicBezTo>
                  <a:cubicBezTo>
                    <a:pt x="2993" y="7165"/>
                    <a:pt x="13254" y="17449"/>
                    <a:pt x="17956" y="22056"/>
                  </a:cubicBezTo>
                  <a:cubicBezTo>
                    <a:pt x="18059" y="22159"/>
                    <a:pt x="18225" y="22230"/>
                    <a:pt x="18344" y="22230"/>
                  </a:cubicBezTo>
                  <a:cubicBezTo>
                    <a:pt x="18360" y="22230"/>
                    <a:pt x="18376" y="22230"/>
                    <a:pt x="18384" y="22223"/>
                  </a:cubicBezTo>
                  <a:lnTo>
                    <a:pt x="29539" y="18296"/>
                  </a:lnTo>
                  <a:cubicBezTo>
                    <a:pt x="29673" y="18240"/>
                    <a:pt x="29721" y="18066"/>
                    <a:pt x="29610" y="17955"/>
                  </a:cubicBezTo>
                  <a:cubicBezTo>
                    <a:pt x="26657" y="15018"/>
                    <a:pt x="16048" y="4449"/>
                    <a:pt x="11924" y="341"/>
                  </a:cubicBezTo>
                  <a:cubicBezTo>
                    <a:pt x="11678" y="87"/>
                    <a:pt x="11488" y="0"/>
                    <a:pt x="114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6"/>
            <p:cNvSpPr/>
            <p:nvPr/>
          </p:nvSpPr>
          <p:spPr>
            <a:xfrm flipH="1">
              <a:off x="602538" y="3028707"/>
              <a:ext cx="2719986" cy="1617226"/>
            </a:xfrm>
            <a:custGeom>
              <a:avLst/>
              <a:gdLst/>
              <a:ahLst/>
              <a:cxnLst/>
              <a:rect l="l" t="t" r="r" b="b"/>
              <a:pathLst>
                <a:path w="32278" h="19191" extrusionOk="0">
                  <a:moveTo>
                    <a:pt x="112" y="0"/>
                  </a:moveTo>
                  <a:lnTo>
                    <a:pt x="1" y="119"/>
                  </a:lnTo>
                  <a:cubicBezTo>
                    <a:pt x="127" y="246"/>
                    <a:pt x="13143" y="13301"/>
                    <a:pt x="18621" y="18668"/>
                  </a:cubicBezTo>
                  <a:cubicBezTo>
                    <a:pt x="18906" y="18953"/>
                    <a:pt x="19373" y="19191"/>
                    <a:pt x="19856" y="19191"/>
                  </a:cubicBezTo>
                  <a:cubicBezTo>
                    <a:pt x="20007" y="19191"/>
                    <a:pt x="20157" y="19167"/>
                    <a:pt x="20300" y="19120"/>
                  </a:cubicBezTo>
                  <a:lnTo>
                    <a:pt x="32278" y="14892"/>
                  </a:lnTo>
                  <a:lnTo>
                    <a:pt x="32222" y="14742"/>
                  </a:lnTo>
                  <a:lnTo>
                    <a:pt x="20244" y="18961"/>
                  </a:lnTo>
                  <a:cubicBezTo>
                    <a:pt x="20113" y="19008"/>
                    <a:pt x="19979" y="19029"/>
                    <a:pt x="19846" y="19029"/>
                  </a:cubicBezTo>
                  <a:cubicBezTo>
                    <a:pt x="19414" y="19029"/>
                    <a:pt x="18994" y="18811"/>
                    <a:pt x="18740" y="18557"/>
                  </a:cubicBezTo>
                  <a:cubicBezTo>
                    <a:pt x="13254" y="13182"/>
                    <a:pt x="246" y="135"/>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6"/>
            <p:cNvSpPr/>
            <p:nvPr/>
          </p:nvSpPr>
          <p:spPr>
            <a:xfrm flipH="1">
              <a:off x="1411760" y="3389120"/>
              <a:ext cx="858686" cy="451097"/>
            </a:xfrm>
            <a:custGeom>
              <a:avLst/>
              <a:gdLst/>
              <a:ahLst/>
              <a:cxnLst/>
              <a:rect l="l" t="t" r="r" b="b"/>
              <a:pathLst>
                <a:path w="10190" h="5353" extrusionOk="0">
                  <a:moveTo>
                    <a:pt x="7488" y="0"/>
                  </a:moveTo>
                  <a:cubicBezTo>
                    <a:pt x="7396" y="0"/>
                    <a:pt x="7303" y="15"/>
                    <a:pt x="7213" y="46"/>
                  </a:cubicBezTo>
                  <a:lnTo>
                    <a:pt x="555" y="2397"/>
                  </a:lnTo>
                  <a:cubicBezTo>
                    <a:pt x="143" y="2540"/>
                    <a:pt x="1" y="2912"/>
                    <a:pt x="230" y="3221"/>
                  </a:cubicBezTo>
                  <a:cubicBezTo>
                    <a:pt x="230" y="3221"/>
                    <a:pt x="966" y="3957"/>
                    <a:pt x="2114" y="5113"/>
                  </a:cubicBezTo>
                  <a:cubicBezTo>
                    <a:pt x="2269" y="5267"/>
                    <a:pt x="2481" y="5353"/>
                    <a:pt x="2695" y="5353"/>
                  </a:cubicBezTo>
                  <a:cubicBezTo>
                    <a:pt x="2787" y="5353"/>
                    <a:pt x="2881" y="5336"/>
                    <a:pt x="2969" y="5303"/>
                  </a:cubicBezTo>
                  <a:lnTo>
                    <a:pt x="9643" y="2952"/>
                  </a:lnTo>
                  <a:cubicBezTo>
                    <a:pt x="10047" y="2809"/>
                    <a:pt x="10190" y="2437"/>
                    <a:pt x="9960" y="2128"/>
                  </a:cubicBezTo>
                  <a:cubicBezTo>
                    <a:pt x="9960" y="2128"/>
                    <a:pt x="9216" y="1384"/>
                    <a:pt x="8068" y="244"/>
                  </a:cubicBezTo>
                  <a:cubicBezTo>
                    <a:pt x="7913" y="83"/>
                    <a:pt x="7703" y="0"/>
                    <a:pt x="7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6"/>
            <p:cNvSpPr/>
            <p:nvPr/>
          </p:nvSpPr>
          <p:spPr>
            <a:xfrm flipH="1">
              <a:off x="1626558" y="3443642"/>
              <a:ext cx="535773" cy="200226"/>
            </a:xfrm>
            <a:custGeom>
              <a:avLst/>
              <a:gdLst/>
              <a:ahLst/>
              <a:cxnLst/>
              <a:rect l="l" t="t" r="r" b="b"/>
              <a:pathLst>
                <a:path w="6358" h="2376" extrusionOk="0">
                  <a:moveTo>
                    <a:pt x="6302" y="1"/>
                  </a:moveTo>
                  <a:lnTo>
                    <a:pt x="0" y="2225"/>
                  </a:lnTo>
                  <a:lnTo>
                    <a:pt x="56" y="2376"/>
                  </a:lnTo>
                  <a:lnTo>
                    <a:pt x="6357" y="151"/>
                  </a:lnTo>
                  <a:lnTo>
                    <a:pt x="6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6"/>
            <p:cNvSpPr/>
            <p:nvPr/>
          </p:nvSpPr>
          <p:spPr>
            <a:xfrm flipH="1">
              <a:off x="1568498" y="3507011"/>
              <a:ext cx="535183" cy="200226"/>
            </a:xfrm>
            <a:custGeom>
              <a:avLst/>
              <a:gdLst/>
              <a:ahLst/>
              <a:cxnLst/>
              <a:rect l="l" t="t" r="r" b="b"/>
              <a:pathLst>
                <a:path w="6351" h="2376" extrusionOk="0">
                  <a:moveTo>
                    <a:pt x="6303" y="1"/>
                  </a:moveTo>
                  <a:lnTo>
                    <a:pt x="1" y="2225"/>
                  </a:lnTo>
                  <a:lnTo>
                    <a:pt x="56" y="2376"/>
                  </a:lnTo>
                  <a:lnTo>
                    <a:pt x="6350" y="159"/>
                  </a:lnTo>
                  <a:lnTo>
                    <a:pt x="63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6"/>
            <p:cNvSpPr/>
            <p:nvPr/>
          </p:nvSpPr>
          <p:spPr>
            <a:xfrm flipH="1">
              <a:off x="1636587" y="3615801"/>
              <a:ext cx="409034" cy="154804"/>
            </a:xfrm>
            <a:custGeom>
              <a:avLst/>
              <a:gdLst/>
              <a:ahLst/>
              <a:cxnLst/>
              <a:rect l="l" t="t" r="r" b="b"/>
              <a:pathLst>
                <a:path w="4854" h="1837" extrusionOk="0">
                  <a:moveTo>
                    <a:pt x="4798" y="0"/>
                  </a:moveTo>
                  <a:lnTo>
                    <a:pt x="1" y="1687"/>
                  </a:lnTo>
                  <a:lnTo>
                    <a:pt x="56" y="1837"/>
                  </a:lnTo>
                  <a:lnTo>
                    <a:pt x="4854" y="151"/>
                  </a:lnTo>
                  <a:lnTo>
                    <a:pt x="47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6"/>
            <p:cNvSpPr/>
            <p:nvPr/>
          </p:nvSpPr>
          <p:spPr>
            <a:xfrm flipH="1">
              <a:off x="1138903" y="3882761"/>
              <a:ext cx="805934" cy="423120"/>
            </a:xfrm>
            <a:custGeom>
              <a:avLst/>
              <a:gdLst/>
              <a:ahLst/>
              <a:cxnLst/>
              <a:rect l="l" t="t" r="r" b="b"/>
              <a:pathLst>
                <a:path w="9564" h="5021" extrusionOk="0">
                  <a:moveTo>
                    <a:pt x="7027" y="0"/>
                  </a:moveTo>
                  <a:cubicBezTo>
                    <a:pt x="6940" y="0"/>
                    <a:pt x="6853" y="15"/>
                    <a:pt x="6769" y="46"/>
                  </a:cubicBezTo>
                  <a:lnTo>
                    <a:pt x="515" y="2247"/>
                  </a:lnTo>
                  <a:cubicBezTo>
                    <a:pt x="135" y="2382"/>
                    <a:pt x="0" y="2730"/>
                    <a:pt x="222" y="3023"/>
                  </a:cubicBezTo>
                  <a:cubicBezTo>
                    <a:pt x="222" y="3023"/>
                    <a:pt x="910" y="3720"/>
                    <a:pt x="1987" y="4797"/>
                  </a:cubicBezTo>
                  <a:cubicBezTo>
                    <a:pt x="2133" y="4942"/>
                    <a:pt x="2333" y="5020"/>
                    <a:pt x="2536" y="5020"/>
                  </a:cubicBezTo>
                  <a:cubicBezTo>
                    <a:pt x="2620" y="5020"/>
                    <a:pt x="2705" y="5007"/>
                    <a:pt x="2787" y="4979"/>
                  </a:cubicBezTo>
                  <a:lnTo>
                    <a:pt x="9049" y="2770"/>
                  </a:lnTo>
                  <a:cubicBezTo>
                    <a:pt x="9429" y="2635"/>
                    <a:pt x="9564" y="2287"/>
                    <a:pt x="9342" y="1994"/>
                  </a:cubicBezTo>
                  <a:cubicBezTo>
                    <a:pt x="9342" y="1994"/>
                    <a:pt x="8645" y="1297"/>
                    <a:pt x="7569" y="229"/>
                  </a:cubicBezTo>
                  <a:cubicBezTo>
                    <a:pt x="7420" y="80"/>
                    <a:pt x="7225" y="0"/>
                    <a:pt x="70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6"/>
            <p:cNvSpPr/>
            <p:nvPr/>
          </p:nvSpPr>
          <p:spPr>
            <a:xfrm flipH="1">
              <a:off x="1340387" y="3933322"/>
              <a:ext cx="503077" cy="188933"/>
            </a:xfrm>
            <a:custGeom>
              <a:avLst/>
              <a:gdLst/>
              <a:ahLst/>
              <a:cxnLst/>
              <a:rect l="l" t="t" r="r" b="b"/>
              <a:pathLst>
                <a:path w="5970" h="2242" extrusionOk="0">
                  <a:moveTo>
                    <a:pt x="5914" y="1"/>
                  </a:moveTo>
                  <a:lnTo>
                    <a:pt x="0" y="2091"/>
                  </a:lnTo>
                  <a:lnTo>
                    <a:pt x="56" y="2241"/>
                  </a:lnTo>
                  <a:lnTo>
                    <a:pt x="5970" y="159"/>
                  </a:lnTo>
                  <a:lnTo>
                    <a:pt x="59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6"/>
            <p:cNvSpPr/>
            <p:nvPr/>
          </p:nvSpPr>
          <p:spPr>
            <a:xfrm flipH="1">
              <a:off x="1285697" y="3993404"/>
              <a:ext cx="503077" cy="188175"/>
            </a:xfrm>
            <a:custGeom>
              <a:avLst/>
              <a:gdLst/>
              <a:ahLst/>
              <a:cxnLst/>
              <a:rect l="l" t="t" r="r" b="b"/>
              <a:pathLst>
                <a:path w="5970" h="2233" extrusionOk="0">
                  <a:moveTo>
                    <a:pt x="5914" y="0"/>
                  </a:moveTo>
                  <a:lnTo>
                    <a:pt x="1" y="2082"/>
                  </a:lnTo>
                  <a:lnTo>
                    <a:pt x="56" y="2233"/>
                  </a:lnTo>
                  <a:lnTo>
                    <a:pt x="5970" y="151"/>
                  </a:lnTo>
                  <a:lnTo>
                    <a:pt x="59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6"/>
            <p:cNvSpPr/>
            <p:nvPr/>
          </p:nvSpPr>
          <p:spPr>
            <a:xfrm flipH="1">
              <a:off x="1349741" y="4094779"/>
              <a:ext cx="383670" cy="146883"/>
            </a:xfrm>
            <a:custGeom>
              <a:avLst/>
              <a:gdLst/>
              <a:ahLst/>
              <a:cxnLst/>
              <a:rect l="l" t="t" r="r" b="b"/>
              <a:pathLst>
                <a:path w="4553" h="1743" extrusionOk="0">
                  <a:moveTo>
                    <a:pt x="4497" y="0"/>
                  </a:moveTo>
                  <a:lnTo>
                    <a:pt x="1" y="1584"/>
                  </a:lnTo>
                  <a:lnTo>
                    <a:pt x="48" y="1742"/>
                  </a:lnTo>
                  <a:lnTo>
                    <a:pt x="4553" y="151"/>
                  </a:lnTo>
                  <a:lnTo>
                    <a:pt x="44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6"/>
            <p:cNvSpPr/>
            <p:nvPr/>
          </p:nvSpPr>
          <p:spPr>
            <a:xfrm flipH="1">
              <a:off x="1950819" y="3003596"/>
              <a:ext cx="858686" cy="451266"/>
            </a:xfrm>
            <a:custGeom>
              <a:avLst/>
              <a:gdLst/>
              <a:ahLst/>
              <a:cxnLst/>
              <a:rect l="l" t="t" r="r" b="b"/>
              <a:pathLst>
                <a:path w="10190" h="5355" extrusionOk="0">
                  <a:moveTo>
                    <a:pt x="7473" y="1"/>
                  </a:moveTo>
                  <a:cubicBezTo>
                    <a:pt x="7383" y="1"/>
                    <a:pt x="7293" y="15"/>
                    <a:pt x="7205" y="45"/>
                  </a:cubicBezTo>
                  <a:lnTo>
                    <a:pt x="547" y="2396"/>
                  </a:lnTo>
                  <a:cubicBezTo>
                    <a:pt x="143" y="2539"/>
                    <a:pt x="1" y="2911"/>
                    <a:pt x="230" y="3228"/>
                  </a:cubicBezTo>
                  <a:cubicBezTo>
                    <a:pt x="230" y="3228"/>
                    <a:pt x="967" y="3964"/>
                    <a:pt x="2115" y="5112"/>
                  </a:cubicBezTo>
                  <a:cubicBezTo>
                    <a:pt x="2272" y="5269"/>
                    <a:pt x="2484" y="5354"/>
                    <a:pt x="2702" y="5354"/>
                  </a:cubicBezTo>
                  <a:cubicBezTo>
                    <a:pt x="2791" y="5354"/>
                    <a:pt x="2882" y="5340"/>
                    <a:pt x="2970" y="5310"/>
                  </a:cubicBezTo>
                  <a:lnTo>
                    <a:pt x="9636" y="2951"/>
                  </a:lnTo>
                  <a:cubicBezTo>
                    <a:pt x="10047" y="2808"/>
                    <a:pt x="10190" y="2444"/>
                    <a:pt x="9960" y="2127"/>
                  </a:cubicBezTo>
                  <a:cubicBezTo>
                    <a:pt x="9960" y="2127"/>
                    <a:pt x="9216" y="1391"/>
                    <a:pt x="8060" y="243"/>
                  </a:cubicBezTo>
                  <a:cubicBezTo>
                    <a:pt x="7903" y="86"/>
                    <a:pt x="7691" y="1"/>
                    <a:pt x="74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6"/>
            <p:cNvSpPr/>
            <p:nvPr/>
          </p:nvSpPr>
          <p:spPr>
            <a:xfrm flipH="1">
              <a:off x="2166291" y="3058032"/>
              <a:ext cx="535099" cy="200226"/>
            </a:xfrm>
            <a:custGeom>
              <a:avLst/>
              <a:gdLst/>
              <a:ahLst/>
              <a:cxnLst/>
              <a:rect l="l" t="t" r="r" b="b"/>
              <a:pathLst>
                <a:path w="6350" h="2376" extrusionOk="0">
                  <a:moveTo>
                    <a:pt x="6302" y="1"/>
                  </a:moveTo>
                  <a:lnTo>
                    <a:pt x="0" y="2225"/>
                  </a:lnTo>
                  <a:lnTo>
                    <a:pt x="56" y="2376"/>
                  </a:lnTo>
                  <a:lnTo>
                    <a:pt x="6350" y="159"/>
                  </a:lnTo>
                  <a:lnTo>
                    <a:pt x="6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6"/>
            <p:cNvSpPr/>
            <p:nvPr/>
          </p:nvSpPr>
          <p:spPr>
            <a:xfrm flipH="1">
              <a:off x="2107556" y="3122076"/>
              <a:ext cx="535773" cy="199551"/>
            </a:xfrm>
            <a:custGeom>
              <a:avLst/>
              <a:gdLst/>
              <a:ahLst/>
              <a:cxnLst/>
              <a:rect l="l" t="t" r="r" b="b"/>
              <a:pathLst>
                <a:path w="6358" h="2368" extrusionOk="0">
                  <a:moveTo>
                    <a:pt x="6302" y="1"/>
                  </a:moveTo>
                  <a:lnTo>
                    <a:pt x="0" y="2218"/>
                  </a:lnTo>
                  <a:lnTo>
                    <a:pt x="56" y="2368"/>
                  </a:lnTo>
                  <a:lnTo>
                    <a:pt x="6357" y="151"/>
                  </a:lnTo>
                  <a:lnTo>
                    <a:pt x="6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6"/>
            <p:cNvSpPr/>
            <p:nvPr/>
          </p:nvSpPr>
          <p:spPr>
            <a:xfrm flipH="1">
              <a:off x="2176319" y="3230191"/>
              <a:ext cx="408360" cy="155478"/>
            </a:xfrm>
            <a:custGeom>
              <a:avLst/>
              <a:gdLst/>
              <a:ahLst/>
              <a:cxnLst/>
              <a:rect l="l" t="t" r="r" b="b"/>
              <a:pathLst>
                <a:path w="4846" h="1845" extrusionOk="0">
                  <a:moveTo>
                    <a:pt x="4798" y="0"/>
                  </a:moveTo>
                  <a:lnTo>
                    <a:pt x="1" y="1695"/>
                  </a:lnTo>
                  <a:lnTo>
                    <a:pt x="56" y="1845"/>
                  </a:lnTo>
                  <a:lnTo>
                    <a:pt x="4846" y="151"/>
                  </a:lnTo>
                  <a:lnTo>
                    <a:pt x="47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flipH="1">
              <a:off x="2383786" y="3551083"/>
              <a:ext cx="100110" cy="48118"/>
            </a:xfrm>
            <a:custGeom>
              <a:avLst/>
              <a:gdLst/>
              <a:ahLst/>
              <a:cxnLst/>
              <a:rect l="l" t="t" r="r" b="b"/>
              <a:pathLst>
                <a:path w="1188" h="571" extrusionOk="0">
                  <a:moveTo>
                    <a:pt x="594" y="0"/>
                  </a:moveTo>
                  <a:cubicBezTo>
                    <a:pt x="269" y="0"/>
                    <a:pt x="0" y="127"/>
                    <a:pt x="0" y="285"/>
                  </a:cubicBezTo>
                  <a:cubicBezTo>
                    <a:pt x="0" y="444"/>
                    <a:pt x="269" y="570"/>
                    <a:pt x="594" y="570"/>
                  </a:cubicBezTo>
                  <a:cubicBezTo>
                    <a:pt x="919" y="570"/>
                    <a:pt x="1188" y="444"/>
                    <a:pt x="1188" y="285"/>
                  </a:cubicBezTo>
                  <a:cubicBezTo>
                    <a:pt x="1188" y="127"/>
                    <a:pt x="919"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6"/>
            <p:cNvSpPr/>
            <p:nvPr/>
          </p:nvSpPr>
          <p:spPr>
            <a:xfrm flipH="1">
              <a:off x="1302383" y="3719871"/>
              <a:ext cx="99436" cy="48118"/>
            </a:xfrm>
            <a:custGeom>
              <a:avLst/>
              <a:gdLst/>
              <a:ahLst/>
              <a:cxnLst/>
              <a:rect l="l" t="t" r="r" b="b"/>
              <a:pathLst>
                <a:path w="1180" h="571" extrusionOk="0">
                  <a:moveTo>
                    <a:pt x="586" y="0"/>
                  </a:moveTo>
                  <a:cubicBezTo>
                    <a:pt x="262" y="0"/>
                    <a:pt x="0" y="127"/>
                    <a:pt x="0" y="285"/>
                  </a:cubicBezTo>
                  <a:cubicBezTo>
                    <a:pt x="0" y="444"/>
                    <a:pt x="262" y="570"/>
                    <a:pt x="586" y="570"/>
                  </a:cubicBezTo>
                  <a:cubicBezTo>
                    <a:pt x="911" y="570"/>
                    <a:pt x="1180" y="444"/>
                    <a:pt x="1180" y="285"/>
                  </a:cubicBezTo>
                  <a:cubicBezTo>
                    <a:pt x="1180" y="127"/>
                    <a:pt x="911" y="0"/>
                    <a:pt x="586" y="0"/>
                  </a:cubicBezTo>
                  <a:close/>
                </a:path>
              </a:pathLst>
            </a:custGeom>
            <a:solidFill>
              <a:srgbClr val="E8EB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6"/>
            <p:cNvSpPr/>
            <p:nvPr/>
          </p:nvSpPr>
          <p:spPr>
            <a:xfrm flipH="1">
              <a:off x="1596560" y="4342273"/>
              <a:ext cx="100110" cy="48118"/>
            </a:xfrm>
            <a:custGeom>
              <a:avLst/>
              <a:gdLst/>
              <a:ahLst/>
              <a:cxnLst/>
              <a:rect l="l" t="t" r="r" b="b"/>
              <a:pathLst>
                <a:path w="1188" h="571" extrusionOk="0">
                  <a:moveTo>
                    <a:pt x="594" y="1"/>
                  </a:moveTo>
                  <a:cubicBezTo>
                    <a:pt x="269" y="1"/>
                    <a:pt x="0" y="127"/>
                    <a:pt x="0" y="286"/>
                  </a:cubicBezTo>
                  <a:cubicBezTo>
                    <a:pt x="0" y="444"/>
                    <a:pt x="269" y="571"/>
                    <a:pt x="594" y="571"/>
                  </a:cubicBezTo>
                  <a:cubicBezTo>
                    <a:pt x="918" y="571"/>
                    <a:pt x="1188" y="444"/>
                    <a:pt x="1188" y="286"/>
                  </a:cubicBezTo>
                  <a:cubicBezTo>
                    <a:pt x="1188" y="127"/>
                    <a:pt x="918" y="1"/>
                    <a:pt x="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6"/>
            <p:cNvGrpSpPr/>
            <p:nvPr/>
          </p:nvGrpSpPr>
          <p:grpSpPr>
            <a:xfrm>
              <a:off x="1589890" y="885787"/>
              <a:ext cx="502403" cy="449580"/>
              <a:chOff x="995678" y="3460637"/>
              <a:chExt cx="502403" cy="449580"/>
            </a:xfrm>
          </p:grpSpPr>
          <p:sp>
            <p:nvSpPr>
              <p:cNvPr id="434" name="Google Shape;434;p26"/>
              <p:cNvSpPr/>
              <p:nvPr/>
            </p:nvSpPr>
            <p:spPr>
              <a:xfrm flipH="1">
                <a:off x="995678" y="3460637"/>
                <a:ext cx="502403" cy="449580"/>
              </a:xfrm>
              <a:custGeom>
                <a:avLst/>
                <a:gdLst/>
                <a:ahLst/>
                <a:cxnLst/>
                <a:rect l="l" t="t" r="r" b="b"/>
                <a:pathLst>
                  <a:path w="5962" h="5335" extrusionOk="0">
                    <a:moveTo>
                      <a:pt x="2982" y="0"/>
                    </a:moveTo>
                    <a:cubicBezTo>
                      <a:pt x="1843" y="0"/>
                      <a:pt x="783" y="734"/>
                      <a:pt x="428" y="1882"/>
                    </a:cubicBezTo>
                    <a:cubicBezTo>
                      <a:pt x="0" y="3292"/>
                      <a:pt x="784" y="4780"/>
                      <a:pt x="2193" y="5215"/>
                    </a:cubicBezTo>
                    <a:cubicBezTo>
                      <a:pt x="2455" y="5296"/>
                      <a:pt x="2720" y="5335"/>
                      <a:pt x="2980" y="5335"/>
                    </a:cubicBezTo>
                    <a:cubicBezTo>
                      <a:pt x="4120" y="5335"/>
                      <a:pt x="5172" y="4597"/>
                      <a:pt x="5526" y="3450"/>
                    </a:cubicBezTo>
                    <a:cubicBezTo>
                      <a:pt x="5961" y="2049"/>
                      <a:pt x="5170" y="552"/>
                      <a:pt x="3761" y="117"/>
                    </a:cubicBezTo>
                    <a:cubicBezTo>
                      <a:pt x="3502" y="38"/>
                      <a:pt x="3240" y="0"/>
                      <a:pt x="2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6"/>
              <p:cNvSpPr/>
              <p:nvPr/>
            </p:nvSpPr>
            <p:spPr>
              <a:xfrm flipH="1">
                <a:off x="1142472" y="3672570"/>
                <a:ext cx="231567" cy="150253"/>
              </a:xfrm>
              <a:custGeom>
                <a:avLst/>
                <a:gdLst/>
                <a:ahLst/>
                <a:cxnLst/>
                <a:rect l="l" t="t" r="r" b="b"/>
                <a:pathLst>
                  <a:path w="2748" h="1783" extrusionOk="0">
                    <a:moveTo>
                      <a:pt x="111" y="1"/>
                    </a:moveTo>
                    <a:cubicBezTo>
                      <a:pt x="1" y="349"/>
                      <a:pt x="40" y="721"/>
                      <a:pt x="206" y="1054"/>
                    </a:cubicBezTo>
                    <a:cubicBezTo>
                      <a:pt x="381" y="1378"/>
                      <a:pt x="674" y="1616"/>
                      <a:pt x="1022" y="1727"/>
                    </a:cubicBezTo>
                    <a:cubicBezTo>
                      <a:pt x="1157" y="1766"/>
                      <a:pt x="1291" y="1782"/>
                      <a:pt x="1426" y="1782"/>
                    </a:cubicBezTo>
                    <a:cubicBezTo>
                      <a:pt x="2019" y="1782"/>
                      <a:pt x="2566" y="1402"/>
                      <a:pt x="2748" y="808"/>
                    </a:cubicBezTo>
                    <a:lnTo>
                      <a:pt x="2518" y="737"/>
                    </a:lnTo>
                    <a:cubicBezTo>
                      <a:pt x="2364" y="1226"/>
                      <a:pt x="1917" y="1542"/>
                      <a:pt x="1433" y="1542"/>
                    </a:cubicBezTo>
                    <a:cubicBezTo>
                      <a:pt x="1321" y="1542"/>
                      <a:pt x="1206" y="1525"/>
                      <a:pt x="1093" y="1489"/>
                    </a:cubicBezTo>
                    <a:cubicBezTo>
                      <a:pt x="800" y="1402"/>
                      <a:pt x="563" y="1204"/>
                      <a:pt x="420" y="935"/>
                    </a:cubicBezTo>
                    <a:cubicBezTo>
                      <a:pt x="278" y="666"/>
                      <a:pt x="254" y="357"/>
                      <a:pt x="341" y="72"/>
                    </a:cubicBezTo>
                    <a:lnTo>
                      <a:pt x="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6"/>
              <p:cNvSpPr/>
              <p:nvPr/>
            </p:nvSpPr>
            <p:spPr>
              <a:xfrm flipH="1">
                <a:off x="1088373" y="3629425"/>
                <a:ext cx="106851" cy="62613"/>
              </a:xfrm>
              <a:custGeom>
                <a:avLst/>
                <a:gdLst/>
                <a:ahLst/>
                <a:cxnLst/>
                <a:rect l="l" t="t" r="r" b="b"/>
                <a:pathLst>
                  <a:path w="1268" h="743" extrusionOk="0">
                    <a:moveTo>
                      <a:pt x="566" y="1"/>
                    </a:moveTo>
                    <a:cubicBezTo>
                      <a:pt x="385" y="1"/>
                      <a:pt x="190" y="83"/>
                      <a:pt x="0" y="244"/>
                    </a:cubicBezTo>
                    <a:lnTo>
                      <a:pt x="151" y="426"/>
                    </a:lnTo>
                    <a:cubicBezTo>
                      <a:pt x="246" y="347"/>
                      <a:pt x="400" y="245"/>
                      <a:pt x="558" y="245"/>
                    </a:cubicBezTo>
                    <a:cubicBezTo>
                      <a:pt x="624" y="245"/>
                      <a:pt x="690" y="263"/>
                      <a:pt x="752" y="307"/>
                    </a:cubicBezTo>
                    <a:cubicBezTo>
                      <a:pt x="887" y="394"/>
                      <a:pt x="966" y="560"/>
                      <a:pt x="1037" y="742"/>
                    </a:cubicBezTo>
                    <a:lnTo>
                      <a:pt x="1267" y="647"/>
                    </a:lnTo>
                    <a:cubicBezTo>
                      <a:pt x="1180" y="442"/>
                      <a:pt x="1085" y="236"/>
                      <a:pt x="887" y="101"/>
                    </a:cubicBezTo>
                    <a:cubicBezTo>
                      <a:pt x="789" y="34"/>
                      <a:pt x="680" y="1"/>
                      <a:pt x="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flipH="1">
                <a:off x="1279238" y="3571027"/>
                <a:ext cx="56796" cy="66236"/>
              </a:xfrm>
              <a:custGeom>
                <a:avLst/>
                <a:gdLst/>
                <a:ahLst/>
                <a:cxnLst/>
                <a:rect l="l" t="t" r="r" b="b"/>
                <a:pathLst>
                  <a:path w="674" h="786" extrusionOk="0">
                    <a:moveTo>
                      <a:pt x="390" y="1"/>
                    </a:moveTo>
                    <a:cubicBezTo>
                      <a:pt x="257" y="1"/>
                      <a:pt x="119" y="126"/>
                      <a:pt x="64" y="311"/>
                    </a:cubicBezTo>
                    <a:cubicBezTo>
                      <a:pt x="1" y="517"/>
                      <a:pt x="64" y="731"/>
                      <a:pt x="215" y="778"/>
                    </a:cubicBezTo>
                    <a:cubicBezTo>
                      <a:pt x="233" y="783"/>
                      <a:pt x="252" y="785"/>
                      <a:pt x="271" y="785"/>
                    </a:cubicBezTo>
                    <a:cubicBezTo>
                      <a:pt x="406" y="785"/>
                      <a:pt x="548" y="665"/>
                      <a:pt x="610" y="477"/>
                    </a:cubicBezTo>
                    <a:cubicBezTo>
                      <a:pt x="674" y="264"/>
                      <a:pt x="603" y="58"/>
                      <a:pt x="452" y="10"/>
                    </a:cubicBezTo>
                    <a:cubicBezTo>
                      <a:pt x="432" y="4"/>
                      <a:pt x="411"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26"/>
            <p:cNvSpPr/>
            <p:nvPr/>
          </p:nvSpPr>
          <p:spPr>
            <a:xfrm flipH="1">
              <a:off x="2218958" y="3369318"/>
              <a:ext cx="606557" cy="1114471"/>
            </a:xfrm>
            <a:custGeom>
              <a:avLst/>
              <a:gdLst/>
              <a:ahLst/>
              <a:cxnLst/>
              <a:rect l="l" t="t" r="r" b="b"/>
              <a:pathLst>
                <a:path w="7198" h="13225" extrusionOk="0">
                  <a:moveTo>
                    <a:pt x="3327" y="1"/>
                  </a:moveTo>
                  <a:cubicBezTo>
                    <a:pt x="2888" y="1"/>
                    <a:pt x="2502" y="404"/>
                    <a:pt x="2249" y="788"/>
                  </a:cubicBezTo>
                  <a:cubicBezTo>
                    <a:pt x="1315" y="2205"/>
                    <a:pt x="666" y="3377"/>
                    <a:pt x="389" y="4216"/>
                  </a:cubicBezTo>
                  <a:cubicBezTo>
                    <a:pt x="1" y="5395"/>
                    <a:pt x="294" y="6686"/>
                    <a:pt x="104" y="7913"/>
                  </a:cubicBezTo>
                  <a:lnTo>
                    <a:pt x="7197" y="13225"/>
                  </a:lnTo>
                  <a:cubicBezTo>
                    <a:pt x="7047" y="11745"/>
                    <a:pt x="6437" y="10312"/>
                    <a:pt x="5479" y="9172"/>
                  </a:cubicBezTo>
                  <a:cubicBezTo>
                    <a:pt x="4791" y="8348"/>
                    <a:pt x="3888" y="7612"/>
                    <a:pt x="3619" y="6567"/>
                  </a:cubicBezTo>
                  <a:cubicBezTo>
                    <a:pt x="3263" y="5166"/>
                    <a:pt x="4070" y="3630"/>
                    <a:pt x="4268" y="2244"/>
                  </a:cubicBezTo>
                  <a:cubicBezTo>
                    <a:pt x="4339" y="1730"/>
                    <a:pt x="4458" y="1176"/>
                    <a:pt x="4205" y="693"/>
                  </a:cubicBezTo>
                  <a:cubicBezTo>
                    <a:pt x="4038" y="384"/>
                    <a:pt x="3801" y="75"/>
                    <a:pt x="3453" y="12"/>
                  </a:cubicBezTo>
                  <a:cubicBezTo>
                    <a:pt x="3410" y="4"/>
                    <a:pt x="3369" y="1"/>
                    <a:pt x="33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6"/>
            <p:cNvSpPr/>
            <p:nvPr/>
          </p:nvSpPr>
          <p:spPr>
            <a:xfrm flipH="1">
              <a:off x="2212301" y="3362660"/>
              <a:ext cx="611192" cy="1121802"/>
            </a:xfrm>
            <a:custGeom>
              <a:avLst/>
              <a:gdLst/>
              <a:ahLst/>
              <a:cxnLst/>
              <a:rect l="l" t="t" r="r" b="b"/>
              <a:pathLst>
                <a:path w="7253" h="13312" extrusionOk="0">
                  <a:moveTo>
                    <a:pt x="3312" y="1"/>
                  </a:moveTo>
                  <a:cubicBezTo>
                    <a:pt x="2919" y="1"/>
                    <a:pt x="2518" y="285"/>
                    <a:pt x="2162" y="819"/>
                  </a:cubicBezTo>
                  <a:cubicBezTo>
                    <a:pt x="1164" y="2331"/>
                    <a:pt x="555" y="3463"/>
                    <a:pt x="286" y="4271"/>
                  </a:cubicBezTo>
                  <a:cubicBezTo>
                    <a:pt x="56" y="4976"/>
                    <a:pt x="64" y="5720"/>
                    <a:pt x="72" y="6448"/>
                  </a:cubicBezTo>
                  <a:cubicBezTo>
                    <a:pt x="72" y="6955"/>
                    <a:pt x="80" y="7477"/>
                    <a:pt x="1" y="7976"/>
                  </a:cubicBezTo>
                  <a:lnTo>
                    <a:pt x="159" y="8000"/>
                  </a:lnTo>
                  <a:cubicBezTo>
                    <a:pt x="238" y="7485"/>
                    <a:pt x="238" y="6955"/>
                    <a:pt x="230" y="6448"/>
                  </a:cubicBezTo>
                  <a:cubicBezTo>
                    <a:pt x="222" y="5736"/>
                    <a:pt x="222" y="4999"/>
                    <a:pt x="436" y="4318"/>
                  </a:cubicBezTo>
                  <a:cubicBezTo>
                    <a:pt x="697" y="3527"/>
                    <a:pt x="1307" y="2410"/>
                    <a:pt x="2296" y="914"/>
                  </a:cubicBezTo>
                  <a:cubicBezTo>
                    <a:pt x="2487" y="622"/>
                    <a:pt x="2859" y="160"/>
                    <a:pt x="3308" y="160"/>
                  </a:cubicBezTo>
                  <a:cubicBezTo>
                    <a:pt x="3345" y="160"/>
                    <a:pt x="3383" y="163"/>
                    <a:pt x="3421" y="170"/>
                  </a:cubicBezTo>
                  <a:cubicBezTo>
                    <a:pt x="3674" y="218"/>
                    <a:pt x="3912" y="431"/>
                    <a:pt x="4109" y="811"/>
                  </a:cubicBezTo>
                  <a:cubicBezTo>
                    <a:pt x="4331" y="1223"/>
                    <a:pt x="4260" y="1698"/>
                    <a:pt x="4189" y="2157"/>
                  </a:cubicBezTo>
                  <a:cubicBezTo>
                    <a:pt x="4181" y="2205"/>
                    <a:pt x="4173" y="2260"/>
                    <a:pt x="4165" y="2308"/>
                  </a:cubicBezTo>
                  <a:cubicBezTo>
                    <a:pt x="4102" y="2767"/>
                    <a:pt x="3967" y="3234"/>
                    <a:pt x="3832" y="3725"/>
                  </a:cubicBezTo>
                  <a:cubicBezTo>
                    <a:pt x="3555" y="4698"/>
                    <a:pt x="3278" y="5712"/>
                    <a:pt x="3516" y="6670"/>
                  </a:cubicBezTo>
                  <a:cubicBezTo>
                    <a:pt x="3722" y="7477"/>
                    <a:pt x="4307" y="8111"/>
                    <a:pt x="4869" y="8712"/>
                  </a:cubicBezTo>
                  <a:cubicBezTo>
                    <a:pt x="5044" y="8902"/>
                    <a:pt x="5226" y="9100"/>
                    <a:pt x="5392" y="9298"/>
                  </a:cubicBezTo>
                  <a:cubicBezTo>
                    <a:pt x="6342" y="10430"/>
                    <a:pt x="6944" y="11855"/>
                    <a:pt x="7086" y="13312"/>
                  </a:cubicBezTo>
                  <a:lnTo>
                    <a:pt x="7252" y="13296"/>
                  </a:lnTo>
                  <a:cubicBezTo>
                    <a:pt x="7102" y="11808"/>
                    <a:pt x="6484" y="10351"/>
                    <a:pt x="5519" y="9195"/>
                  </a:cubicBezTo>
                  <a:cubicBezTo>
                    <a:pt x="5352" y="8997"/>
                    <a:pt x="5162" y="8799"/>
                    <a:pt x="4988" y="8601"/>
                  </a:cubicBezTo>
                  <a:cubicBezTo>
                    <a:pt x="4442" y="8016"/>
                    <a:pt x="3872" y="7398"/>
                    <a:pt x="3674" y="6630"/>
                  </a:cubicBezTo>
                  <a:cubicBezTo>
                    <a:pt x="3444" y="5712"/>
                    <a:pt x="3722" y="4722"/>
                    <a:pt x="3983" y="3764"/>
                  </a:cubicBezTo>
                  <a:cubicBezTo>
                    <a:pt x="4117" y="3289"/>
                    <a:pt x="4252" y="2798"/>
                    <a:pt x="4323" y="2331"/>
                  </a:cubicBezTo>
                  <a:cubicBezTo>
                    <a:pt x="4331" y="2284"/>
                    <a:pt x="4339" y="2228"/>
                    <a:pt x="4347" y="2181"/>
                  </a:cubicBezTo>
                  <a:cubicBezTo>
                    <a:pt x="4418" y="1698"/>
                    <a:pt x="4497" y="1191"/>
                    <a:pt x="4252" y="732"/>
                  </a:cubicBezTo>
                  <a:cubicBezTo>
                    <a:pt x="4030" y="313"/>
                    <a:pt x="3753" y="67"/>
                    <a:pt x="3444" y="12"/>
                  </a:cubicBezTo>
                  <a:cubicBezTo>
                    <a:pt x="3401" y="5"/>
                    <a:pt x="3357" y="1"/>
                    <a:pt x="3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p:nvPr/>
          </p:nvSpPr>
          <p:spPr>
            <a:xfrm flipH="1">
              <a:off x="-458218" y="2760399"/>
              <a:ext cx="1785965" cy="1191072"/>
            </a:xfrm>
            <a:custGeom>
              <a:avLst/>
              <a:gdLst/>
              <a:ahLst/>
              <a:cxnLst/>
              <a:rect l="l" t="t" r="r" b="b"/>
              <a:pathLst>
                <a:path w="21194" h="14134" extrusionOk="0">
                  <a:moveTo>
                    <a:pt x="5972" y="0"/>
                  </a:moveTo>
                  <a:cubicBezTo>
                    <a:pt x="5887" y="0"/>
                    <a:pt x="5801" y="3"/>
                    <a:pt x="5716" y="10"/>
                  </a:cubicBezTo>
                  <a:cubicBezTo>
                    <a:pt x="4996" y="57"/>
                    <a:pt x="4307" y="319"/>
                    <a:pt x="3658" y="604"/>
                  </a:cubicBezTo>
                  <a:cubicBezTo>
                    <a:pt x="3048" y="873"/>
                    <a:pt x="2391" y="1055"/>
                    <a:pt x="1869" y="1482"/>
                  </a:cubicBezTo>
                  <a:cubicBezTo>
                    <a:pt x="1386" y="1870"/>
                    <a:pt x="1077" y="2424"/>
                    <a:pt x="800" y="2979"/>
                  </a:cubicBezTo>
                  <a:cubicBezTo>
                    <a:pt x="443" y="3715"/>
                    <a:pt x="0" y="4760"/>
                    <a:pt x="206" y="5591"/>
                  </a:cubicBezTo>
                  <a:cubicBezTo>
                    <a:pt x="309" y="6003"/>
                    <a:pt x="523" y="6375"/>
                    <a:pt x="744" y="6739"/>
                  </a:cubicBezTo>
                  <a:cubicBezTo>
                    <a:pt x="1251" y="7562"/>
                    <a:pt x="1789" y="8370"/>
                    <a:pt x="2359" y="9154"/>
                  </a:cubicBezTo>
                  <a:cubicBezTo>
                    <a:pt x="2510" y="9367"/>
                    <a:pt x="2692" y="9597"/>
                    <a:pt x="2953" y="9652"/>
                  </a:cubicBezTo>
                  <a:cubicBezTo>
                    <a:pt x="3019" y="9667"/>
                    <a:pt x="3094" y="9675"/>
                    <a:pt x="3171" y="9675"/>
                  </a:cubicBezTo>
                  <a:cubicBezTo>
                    <a:pt x="3427" y="9675"/>
                    <a:pt x="3718" y="9593"/>
                    <a:pt x="3864" y="9423"/>
                  </a:cubicBezTo>
                  <a:cubicBezTo>
                    <a:pt x="4061" y="9209"/>
                    <a:pt x="4220" y="8750"/>
                    <a:pt x="4244" y="8607"/>
                  </a:cubicBezTo>
                  <a:cubicBezTo>
                    <a:pt x="4331" y="8885"/>
                    <a:pt x="4465" y="9193"/>
                    <a:pt x="4742" y="9257"/>
                  </a:cubicBezTo>
                  <a:cubicBezTo>
                    <a:pt x="4780" y="9266"/>
                    <a:pt x="4818" y="9271"/>
                    <a:pt x="4855" y="9271"/>
                  </a:cubicBezTo>
                  <a:cubicBezTo>
                    <a:pt x="5001" y="9271"/>
                    <a:pt x="5145" y="9205"/>
                    <a:pt x="5265" y="9130"/>
                  </a:cubicBezTo>
                  <a:cubicBezTo>
                    <a:pt x="5787" y="8790"/>
                    <a:pt x="6080" y="8148"/>
                    <a:pt x="6009" y="7539"/>
                  </a:cubicBezTo>
                  <a:lnTo>
                    <a:pt x="6009" y="7539"/>
                  </a:lnTo>
                  <a:cubicBezTo>
                    <a:pt x="6088" y="7855"/>
                    <a:pt x="6373" y="8109"/>
                    <a:pt x="6698" y="8164"/>
                  </a:cubicBezTo>
                  <a:cubicBezTo>
                    <a:pt x="6749" y="8174"/>
                    <a:pt x="6801" y="8179"/>
                    <a:pt x="6853" y="8179"/>
                  </a:cubicBezTo>
                  <a:cubicBezTo>
                    <a:pt x="7129" y="8179"/>
                    <a:pt x="7401" y="8042"/>
                    <a:pt x="7561" y="7816"/>
                  </a:cubicBezTo>
                  <a:cubicBezTo>
                    <a:pt x="8226" y="8702"/>
                    <a:pt x="9184" y="10040"/>
                    <a:pt x="9967" y="10824"/>
                  </a:cubicBezTo>
                  <a:cubicBezTo>
                    <a:pt x="10894" y="11743"/>
                    <a:pt x="12073" y="11814"/>
                    <a:pt x="13285" y="12043"/>
                  </a:cubicBezTo>
                  <a:cubicBezTo>
                    <a:pt x="14148" y="12210"/>
                    <a:pt x="14939" y="12708"/>
                    <a:pt x="15652" y="13191"/>
                  </a:cubicBezTo>
                  <a:cubicBezTo>
                    <a:pt x="15747" y="13255"/>
                    <a:pt x="16958" y="14030"/>
                    <a:pt x="16918" y="14133"/>
                  </a:cubicBezTo>
                  <a:lnTo>
                    <a:pt x="21193" y="4222"/>
                  </a:lnTo>
                  <a:cubicBezTo>
                    <a:pt x="21193" y="4222"/>
                    <a:pt x="8020" y="382"/>
                    <a:pt x="7244" y="184"/>
                  </a:cubicBezTo>
                  <a:cubicBezTo>
                    <a:pt x="6828" y="78"/>
                    <a:pt x="6401" y="0"/>
                    <a:pt x="59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flipH="1">
              <a:off x="950735" y="3070083"/>
              <a:ext cx="128845" cy="416378"/>
            </a:xfrm>
            <a:custGeom>
              <a:avLst/>
              <a:gdLst/>
              <a:ahLst/>
              <a:cxnLst/>
              <a:rect l="l" t="t" r="r" b="b"/>
              <a:pathLst>
                <a:path w="1529" h="4941" extrusionOk="0">
                  <a:moveTo>
                    <a:pt x="1394" y="0"/>
                  </a:moveTo>
                  <a:cubicBezTo>
                    <a:pt x="1204" y="270"/>
                    <a:pt x="816" y="697"/>
                    <a:pt x="499" y="1045"/>
                  </a:cubicBezTo>
                  <a:cubicBezTo>
                    <a:pt x="71" y="1520"/>
                    <a:pt x="16" y="1592"/>
                    <a:pt x="8" y="1647"/>
                  </a:cubicBezTo>
                  <a:cubicBezTo>
                    <a:pt x="0" y="1702"/>
                    <a:pt x="24" y="1766"/>
                    <a:pt x="372" y="2431"/>
                  </a:cubicBezTo>
                  <a:cubicBezTo>
                    <a:pt x="578" y="2835"/>
                    <a:pt x="839" y="3333"/>
                    <a:pt x="982" y="3658"/>
                  </a:cubicBezTo>
                  <a:cubicBezTo>
                    <a:pt x="1132" y="4006"/>
                    <a:pt x="1227" y="4513"/>
                    <a:pt x="1219" y="4932"/>
                  </a:cubicBezTo>
                  <a:lnTo>
                    <a:pt x="1378" y="4940"/>
                  </a:lnTo>
                  <a:cubicBezTo>
                    <a:pt x="1386" y="4489"/>
                    <a:pt x="1291" y="3967"/>
                    <a:pt x="1132" y="3595"/>
                  </a:cubicBezTo>
                  <a:cubicBezTo>
                    <a:pt x="990" y="3270"/>
                    <a:pt x="729" y="2763"/>
                    <a:pt x="515" y="2360"/>
                  </a:cubicBezTo>
                  <a:cubicBezTo>
                    <a:pt x="364" y="2067"/>
                    <a:pt x="206" y="1758"/>
                    <a:pt x="166" y="1671"/>
                  </a:cubicBezTo>
                  <a:cubicBezTo>
                    <a:pt x="222" y="1600"/>
                    <a:pt x="436" y="1362"/>
                    <a:pt x="618" y="1156"/>
                  </a:cubicBezTo>
                  <a:cubicBezTo>
                    <a:pt x="934" y="800"/>
                    <a:pt x="1330" y="365"/>
                    <a:pt x="1528" y="95"/>
                  </a:cubicBezTo>
                  <a:lnTo>
                    <a:pt x="13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flipH="1">
              <a:off x="-458219" y="2569701"/>
              <a:ext cx="2222977" cy="675845"/>
            </a:xfrm>
            <a:custGeom>
              <a:avLst/>
              <a:gdLst/>
              <a:ahLst/>
              <a:cxnLst/>
              <a:rect l="l" t="t" r="r" b="b"/>
              <a:pathLst>
                <a:path w="26380" h="8020" extrusionOk="0">
                  <a:moveTo>
                    <a:pt x="9796" y="1"/>
                  </a:moveTo>
                  <a:cubicBezTo>
                    <a:pt x="9079" y="1"/>
                    <a:pt x="8138" y="60"/>
                    <a:pt x="7324" y="199"/>
                  </a:cubicBezTo>
                  <a:cubicBezTo>
                    <a:pt x="5709" y="468"/>
                    <a:pt x="5194" y="1030"/>
                    <a:pt x="4078" y="2233"/>
                  </a:cubicBezTo>
                  <a:cubicBezTo>
                    <a:pt x="3033" y="3365"/>
                    <a:pt x="2106" y="4909"/>
                    <a:pt x="998" y="5978"/>
                  </a:cubicBezTo>
                  <a:cubicBezTo>
                    <a:pt x="571" y="6382"/>
                    <a:pt x="1" y="6833"/>
                    <a:pt x="96" y="7419"/>
                  </a:cubicBezTo>
                  <a:cubicBezTo>
                    <a:pt x="183" y="7949"/>
                    <a:pt x="824" y="7941"/>
                    <a:pt x="1362" y="7997"/>
                  </a:cubicBezTo>
                  <a:cubicBezTo>
                    <a:pt x="1510" y="8012"/>
                    <a:pt x="1649" y="8020"/>
                    <a:pt x="1781" y="8020"/>
                  </a:cubicBezTo>
                  <a:cubicBezTo>
                    <a:pt x="3135" y="8020"/>
                    <a:pt x="3757" y="7230"/>
                    <a:pt x="4767" y="6105"/>
                  </a:cubicBezTo>
                  <a:cubicBezTo>
                    <a:pt x="5226" y="5598"/>
                    <a:pt x="5629" y="5044"/>
                    <a:pt x="6144" y="4608"/>
                  </a:cubicBezTo>
                  <a:cubicBezTo>
                    <a:pt x="6901" y="3967"/>
                    <a:pt x="8277" y="3650"/>
                    <a:pt x="9293" y="3650"/>
                  </a:cubicBezTo>
                  <a:cubicBezTo>
                    <a:pt x="9317" y="3650"/>
                    <a:pt x="9342" y="3650"/>
                    <a:pt x="9366" y="3650"/>
                  </a:cubicBezTo>
                  <a:lnTo>
                    <a:pt x="26379" y="6485"/>
                  </a:lnTo>
                  <a:cubicBezTo>
                    <a:pt x="23134" y="5036"/>
                    <a:pt x="19310" y="3761"/>
                    <a:pt x="16151" y="2122"/>
                  </a:cubicBezTo>
                  <a:cubicBezTo>
                    <a:pt x="14473" y="1252"/>
                    <a:pt x="12288" y="302"/>
                    <a:pt x="10704" y="48"/>
                  </a:cubicBezTo>
                  <a:cubicBezTo>
                    <a:pt x="10502" y="18"/>
                    <a:pt x="10182" y="1"/>
                    <a:pt x="97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6"/>
            <p:cNvSpPr/>
            <p:nvPr/>
          </p:nvSpPr>
          <p:spPr>
            <a:xfrm flipH="1">
              <a:off x="-79941" y="2924805"/>
              <a:ext cx="1211598" cy="646772"/>
            </a:xfrm>
            <a:custGeom>
              <a:avLst/>
              <a:gdLst/>
              <a:ahLst/>
              <a:cxnLst/>
              <a:rect l="l" t="t" r="r" b="b"/>
              <a:pathLst>
                <a:path w="14378" h="7675" extrusionOk="0">
                  <a:moveTo>
                    <a:pt x="2507" y="1"/>
                  </a:moveTo>
                  <a:cubicBezTo>
                    <a:pt x="1483" y="1"/>
                    <a:pt x="523" y="289"/>
                    <a:pt x="112" y="1511"/>
                  </a:cubicBezTo>
                  <a:cubicBezTo>
                    <a:pt x="48" y="1724"/>
                    <a:pt x="1" y="1962"/>
                    <a:pt x="56" y="2184"/>
                  </a:cubicBezTo>
                  <a:cubicBezTo>
                    <a:pt x="151" y="2556"/>
                    <a:pt x="484" y="2706"/>
                    <a:pt x="777" y="2793"/>
                  </a:cubicBezTo>
                  <a:cubicBezTo>
                    <a:pt x="1655" y="3054"/>
                    <a:pt x="2566" y="3149"/>
                    <a:pt x="3444" y="3419"/>
                  </a:cubicBezTo>
                  <a:cubicBezTo>
                    <a:pt x="6073" y="4210"/>
                    <a:pt x="8345" y="6427"/>
                    <a:pt x="10950" y="7321"/>
                  </a:cubicBezTo>
                  <a:cubicBezTo>
                    <a:pt x="11757" y="7596"/>
                    <a:pt x="12502" y="7675"/>
                    <a:pt x="13090" y="7675"/>
                  </a:cubicBezTo>
                  <a:cubicBezTo>
                    <a:pt x="13874" y="7675"/>
                    <a:pt x="14378" y="7535"/>
                    <a:pt x="14378" y="7535"/>
                  </a:cubicBezTo>
                  <a:lnTo>
                    <a:pt x="8013" y="228"/>
                  </a:lnTo>
                  <a:cubicBezTo>
                    <a:pt x="7633" y="405"/>
                    <a:pt x="7246" y="465"/>
                    <a:pt x="6855" y="465"/>
                  </a:cubicBezTo>
                  <a:cubicBezTo>
                    <a:pt x="6161" y="465"/>
                    <a:pt x="5456" y="276"/>
                    <a:pt x="4767" y="220"/>
                  </a:cubicBezTo>
                  <a:cubicBezTo>
                    <a:pt x="4123" y="172"/>
                    <a:pt x="3296" y="1"/>
                    <a:pt x="2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6"/>
            <p:cNvSpPr/>
            <p:nvPr/>
          </p:nvSpPr>
          <p:spPr>
            <a:xfrm flipH="1">
              <a:off x="-81963" y="2918232"/>
              <a:ext cx="1219604" cy="660255"/>
            </a:xfrm>
            <a:custGeom>
              <a:avLst/>
              <a:gdLst/>
              <a:ahLst/>
              <a:cxnLst/>
              <a:rect l="l" t="t" r="r" b="b"/>
              <a:pathLst>
                <a:path w="14473" h="7835" extrusionOk="0">
                  <a:moveTo>
                    <a:pt x="2591" y="0"/>
                  </a:moveTo>
                  <a:cubicBezTo>
                    <a:pt x="1546" y="0"/>
                    <a:pt x="532" y="296"/>
                    <a:pt x="111" y="1565"/>
                  </a:cubicBezTo>
                  <a:cubicBezTo>
                    <a:pt x="16" y="1834"/>
                    <a:pt x="0" y="2079"/>
                    <a:pt x="48" y="2277"/>
                  </a:cubicBezTo>
                  <a:cubicBezTo>
                    <a:pt x="159" y="2705"/>
                    <a:pt x="547" y="2863"/>
                    <a:pt x="824" y="2950"/>
                  </a:cubicBezTo>
                  <a:cubicBezTo>
                    <a:pt x="1259" y="3077"/>
                    <a:pt x="1710" y="3164"/>
                    <a:pt x="2146" y="3259"/>
                  </a:cubicBezTo>
                  <a:cubicBezTo>
                    <a:pt x="2589" y="3346"/>
                    <a:pt x="3048" y="3441"/>
                    <a:pt x="3492" y="3576"/>
                  </a:cubicBezTo>
                  <a:cubicBezTo>
                    <a:pt x="4838" y="3979"/>
                    <a:pt x="6120" y="4779"/>
                    <a:pt x="7363" y="5563"/>
                  </a:cubicBezTo>
                  <a:cubicBezTo>
                    <a:pt x="8527" y="6291"/>
                    <a:pt x="9730" y="7043"/>
                    <a:pt x="10997" y="7479"/>
                  </a:cubicBezTo>
                  <a:cubicBezTo>
                    <a:pt x="11804" y="7756"/>
                    <a:pt x="12557" y="7835"/>
                    <a:pt x="13158" y="7835"/>
                  </a:cubicBezTo>
                  <a:cubicBezTo>
                    <a:pt x="13950" y="7835"/>
                    <a:pt x="14464" y="7692"/>
                    <a:pt x="14472" y="7692"/>
                  </a:cubicBezTo>
                  <a:lnTo>
                    <a:pt x="14425" y="7534"/>
                  </a:lnTo>
                  <a:cubicBezTo>
                    <a:pt x="14416" y="7539"/>
                    <a:pt x="13921" y="7673"/>
                    <a:pt x="13159" y="7673"/>
                  </a:cubicBezTo>
                  <a:cubicBezTo>
                    <a:pt x="12577" y="7673"/>
                    <a:pt x="11840" y="7595"/>
                    <a:pt x="11044" y="7320"/>
                  </a:cubicBezTo>
                  <a:cubicBezTo>
                    <a:pt x="9801" y="6893"/>
                    <a:pt x="8606" y="6149"/>
                    <a:pt x="7450" y="5420"/>
                  </a:cubicBezTo>
                  <a:cubicBezTo>
                    <a:pt x="6199" y="4637"/>
                    <a:pt x="4909" y="3829"/>
                    <a:pt x="3539" y="3417"/>
                  </a:cubicBezTo>
                  <a:cubicBezTo>
                    <a:pt x="3088" y="3283"/>
                    <a:pt x="2629" y="3188"/>
                    <a:pt x="2178" y="3101"/>
                  </a:cubicBezTo>
                  <a:cubicBezTo>
                    <a:pt x="1742" y="3014"/>
                    <a:pt x="1299" y="2919"/>
                    <a:pt x="871" y="2792"/>
                  </a:cubicBezTo>
                  <a:cubicBezTo>
                    <a:pt x="475" y="2681"/>
                    <a:pt x="278" y="2507"/>
                    <a:pt x="206" y="2238"/>
                  </a:cubicBezTo>
                  <a:cubicBezTo>
                    <a:pt x="159" y="2064"/>
                    <a:pt x="183" y="1858"/>
                    <a:pt x="262" y="1620"/>
                  </a:cubicBezTo>
                  <a:cubicBezTo>
                    <a:pt x="655" y="441"/>
                    <a:pt x="1586" y="160"/>
                    <a:pt x="2586" y="160"/>
                  </a:cubicBezTo>
                  <a:cubicBezTo>
                    <a:pt x="3077" y="160"/>
                    <a:pt x="3585" y="228"/>
                    <a:pt x="4054" y="290"/>
                  </a:cubicBezTo>
                  <a:cubicBezTo>
                    <a:pt x="4331" y="330"/>
                    <a:pt x="4592" y="361"/>
                    <a:pt x="4830" y="377"/>
                  </a:cubicBezTo>
                  <a:cubicBezTo>
                    <a:pt x="5115" y="401"/>
                    <a:pt x="5408" y="449"/>
                    <a:pt x="5693" y="496"/>
                  </a:cubicBezTo>
                  <a:cubicBezTo>
                    <a:pt x="6102" y="557"/>
                    <a:pt x="6520" y="622"/>
                    <a:pt x="6936" y="622"/>
                  </a:cubicBezTo>
                  <a:cubicBezTo>
                    <a:pt x="7333" y="622"/>
                    <a:pt x="7729" y="563"/>
                    <a:pt x="8115" y="385"/>
                  </a:cubicBezTo>
                  <a:lnTo>
                    <a:pt x="8052" y="235"/>
                  </a:lnTo>
                  <a:cubicBezTo>
                    <a:pt x="7688" y="403"/>
                    <a:pt x="7311" y="461"/>
                    <a:pt x="6932" y="461"/>
                  </a:cubicBezTo>
                  <a:cubicBezTo>
                    <a:pt x="6526" y="461"/>
                    <a:pt x="6117" y="395"/>
                    <a:pt x="5716" y="330"/>
                  </a:cubicBezTo>
                  <a:cubicBezTo>
                    <a:pt x="5431" y="290"/>
                    <a:pt x="5131" y="243"/>
                    <a:pt x="4846" y="219"/>
                  </a:cubicBezTo>
                  <a:cubicBezTo>
                    <a:pt x="4608" y="203"/>
                    <a:pt x="4347" y="164"/>
                    <a:pt x="4070" y="132"/>
                  </a:cubicBezTo>
                  <a:cubicBezTo>
                    <a:pt x="3612" y="70"/>
                    <a:pt x="3098" y="0"/>
                    <a:pt x="2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6"/>
            <p:cNvSpPr/>
            <p:nvPr/>
          </p:nvSpPr>
          <p:spPr>
            <a:xfrm flipH="1">
              <a:off x="840007" y="2869610"/>
              <a:ext cx="447039" cy="125141"/>
            </a:xfrm>
            <a:custGeom>
              <a:avLst/>
              <a:gdLst/>
              <a:ahLst/>
              <a:cxnLst/>
              <a:rect l="l" t="t" r="r" b="b"/>
              <a:pathLst>
                <a:path w="5305" h="1485" extrusionOk="0">
                  <a:moveTo>
                    <a:pt x="3649" y="0"/>
                  </a:moveTo>
                  <a:cubicBezTo>
                    <a:pt x="3570" y="0"/>
                    <a:pt x="3486" y="4"/>
                    <a:pt x="3396" y="12"/>
                  </a:cubicBezTo>
                  <a:cubicBezTo>
                    <a:pt x="2090" y="139"/>
                    <a:pt x="665" y="400"/>
                    <a:pt x="0" y="1390"/>
                  </a:cubicBezTo>
                  <a:lnTo>
                    <a:pt x="135" y="1485"/>
                  </a:lnTo>
                  <a:cubicBezTo>
                    <a:pt x="768" y="551"/>
                    <a:pt x="2146" y="297"/>
                    <a:pt x="3412" y="171"/>
                  </a:cubicBezTo>
                  <a:cubicBezTo>
                    <a:pt x="3494" y="163"/>
                    <a:pt x="3570" y="160"/>
                    <a:pt x="3642" y="160"/>
                  </a:cubicBezTo>
                  <a:cubicBezTo>
                    <a:pt x="4127" y="160"/>
                    <a:pt x="4411" y="317"/>
                    <a:pt x="4845" y="558"/>
                  </a:cubicBezTo>
                  <a:cubicBezTo>
                    <a:pt x="4964" y="622"/>
                    <a:pt x="5091" y="693"/>
                    <a:pt x="5233" y="772"/>
                  </a:cubicBezTo>
                  <a:lnTo>
                    <a:pt x="5304" y="630"/>
                  </a:lnTo>
                  <a:cubicBezTo>
                    <a:pt x="5170" y="551"/>
                    <a:pt x="5043" y="487"/>
                    <a:pt x="4924" y="424"/>
                  </a:cubicBezTo>
                  <a:cubicBezTo>
                    <a:pt x="4484" y="176"/>
                    <a:pt x="4175" y="0"/>
                    <a:pt x="3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6"/>
            <p:cNvSpPr/>
            <p:nvPr/>
          </p:nvSpPr>
          <p:spPr>
            <a:xfrm flipH="1">
              <a:off x="1063485" y="3156794"/>
              <a:ext cx="114857" cy="63455"/>
            </a:xfrm>
            <a:custGeom>
              <a:avLst/>
              <a:gdLst/>
              <a:ahLst/>
              <a:cxnLst/>
              <a:rect l="l" t="t" r="r" b="b"/>
              <a:pathLst>
                <a:path w="1363" h="753" extrusionOk="0">
                  <a:moveTo>
                    <a:pt x="40" y="1"/>
                  </a:moveTo>
                  <a:lnTo>
                    <a:pt x="0" y="159"/>
                  </a:lnTo>
                  <a:cubicBezTo>
                    <a:pt x="460" y="262"/>
                    <a:pt x="895" y="468"/>
                    <a:pt x="1259" y="753"/>
                  </a:cubicBezTo>
                  <a:lnTo>
                    <a:pt x="1362" y="626"/>
                  </a:lnTo>
                  <a:cubicBezTo>
                    <a:pt x="974" y="325"/>
                    <a:pt x="515" y="111"/>
                    <a:pt x="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flipH="1">
              <a:off x="804700" y="3200192"/>
              <a:ext cx="59409" cy="214214"/>
            </a:xfrm>
            <a:custGeom>
              <a:avLst/>
              <a:gdLst/>
              <a:ahLst/>
              <a:cxnLst/>
              <a:rect l="l" t="t" r="r" b="b"/>
              <a:pathLst>
                <a:path w="705" h="2542" extrusionOk="0">
                  <a:moveTo>
                    <a:pt x="159" y="0"/>
                  </a:moveTo>
                  <a:lnTo>
                    <a:pt x="0" y="32"/>
                  </a:lnTo>
                  <a:cubicBezTo>
                    <a:pt x="64" y="333"/>
                    <a:pt x="151" y="626"/>
                    <a:pt x="230" y="911"/>
                  </a:cubicBezTo>
                  <a:cubicBezTo>
                    <a:pt x="388" y="1449"/>
                    <a:pt x="539" y="1956"/>
                    <a:pt x="507" y="2526"/>
                  </a:cubicBezTo>
                  <a:lnTo>
                    <a:pt x="665" y="2541"/>
                  </a:lnTo>
                  <a:cubicBezTo>
                    <a:pt x="705" y="1940"/>
                    <a:pt x="547" y="1393"/>
                    <a:pt x="388" y="863"/>
                  </a:cubicBezTo>
                  <a:cubicBezTo>
                    <a:pt x="301" y="586"/>
                    <a:pt x="214" y="293"/>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6"/>
            <p:cNvSpPr/>
            <p:nvPr/>
          </p:nvSpPr>
          <p:spPr>
            <a:xfrm flipH="1">
              <a:off x="659255" y="3282859"/>
              <a:ext cx="38763" cy="138877"/>
            </a:xfrm>
            <a:custGeom>
              <a:avLst/>
              <a:gdLst/>
              <a:ahLst/>
              <a:cxnLst/>
              <a:rect l="l" t="t" r="r" b="b"/>
              <a:pathLst>
                <a:path w="460" h="1648" extrusionOk="0">
                  <a:moveTo>
                    <a:pt x="365" y="1"/>
                  </a:moveTo>
                  <a:lnTo>
                    <a:pt x="206" y="25"/>
                  </a:lnTo>
                  <a:cubicBezTo>
                    <a:pt x="294" y="547"/>
                    <a:pt x="222" y="1101"/>
                    <a:pt x="1" y="1584"/>
                  </a:cubicBezTo>
                  <a:lnTo>
                    <a:pt x="151" y="1647"/>
                  </a:lnTo>
                  <a:cubicBezTo>
                    <a:pt x="381" y="1141"/>
                    <a:pt x="460" y="555"/>
                    <a:pt x="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6"/>
            <p:cNvSpPr/>
            <p:nvPr/>
          </p:nvSpPr>
          <p:spPr>
            <a:xfrm flipH="1">
              <a:off x="2182976" y="1946541"/>
              <a:ext cx="398332" cy="344917"/>
            </a:xfrm>
            <a:custGeom>
              <a:avLst/>
              <a:gdLst/>
              <a:ahLst/>
              <a:cxnLst/>
              <a:rect l="l" t="t" r="r" b="b"/>
              <a:pathLst>
                <a:path w="4727" h="4093" extrusionOk="0">
                  <a:moveTo>
                    <a:pt x="1229" y="1"/>
                  </a:moveTo>
                  <a:cubicBezTo>
                    <a:pt x="776" y="1"/>
                    <a:pt x="351" y="274"/>
                    <a:pt x="167" y="690"/>
                  </a:cubicBezTo>
                  <a:cubicBezTo>
                    <a:pt x="0" y="1078"/>
                    <a:pt x="48" y="1490"/>
                    <a:pt x="246" y="1799"/>
                  </a:cubicBezTo>
                  <a:lnTo>
                    <a:pt x="1592" y="3952"/>
                  </a:lnTo>
                  <a:cubicBezTo>
                    <a:pt x="1648" y="4044"/>
                    <a:pt x="1743" y="4093"/>
                    <a:pt x="1842" y="4093"/>
                  </a:cubicBezTo>
                  <a:cubicBezTo>
                    <a:pt x="1897" y="4093"/>
                    <a:pt x="1953" y="4078"/>
                    <a:pt x="2003" y="4047"/>
                  </a:cubicBezTo>
                  <a:lnTo>
                    <a:pt x="4157" y="2701"/>
                  </a:lnTo>
                  <a:cubicBezTo>
                    <a:pt x="4465" y="2503"/>
                    <a:pt x="4687" y="2163"/>
                    <a:pt x="4711" y="1735"/>
                  </a:cubicBezTo>
                  <a:cubicBezTo>
                    <a:pt x="4727" y="1268"/>
                    <a:pt x="4450" y="825"/>
                    <a:pt x="4022" y="635"/>
                  </a:cubicBezTo>
                  <a:cubicBezTo>
                    <a:pt x="3903" y="583"/>
                    <a:pt x="3780" y="561"/>
                    <a:pt x="3658" y="561"/>
                  </a:cubicBezTo>
                  <a:cubicBezTo>
                    <a:pt x="3056" y="561"/>
                    <a:pt x="2470" y="1086"/>
                    <a:pt x="2470" y="1086"/>
                  </a:cubicBezTo>
                  <a:cubicBezTo>
                    <a:pt x="2470" y="1086"/>
                    <a:pt x="2035" y="25"/>
                    <a:pt x="1267" y="1"/>
                  </a:cubicBezTo>
                  <a:cubicBezTo>
                    <a:pt x="1254" y="1"/>
                    <a:pt x="1242" y="1"/>
                    <a:pt x="1229"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6"/>
            <p:cNvSpPr/>
            <p:nvPr/>
          </p:nvSpPr>
          <p:spPr>
            <a:xfrm flipH="1">
              <a:off x="2656643" y="2060387"/>
              <a:ext cx="256932" cy="231068"/>
            </a:xfrm>
            <a:custGeom>
              <a:avLst/>
              <a:gdLst/>
              <a:ahLst/>
              <a:cxnLst/>
              <a:rect l="l" t="t" r="r" b="b"/>
              <a:pathLst>
                <a:path w="3049" h="2742" extrusionOk="0">
                  <a:moveTo>
                    <a:pt x="2237" y="0"/>
                  </a:moveTo>
                  <a:cubicBezTo>
                    <a:pt x="2180" y="0"/>
                    <a:pt x="2123" y="7"/>
                    <a:pt x="2067" y="20"/>
                  </a:cubicBezTo>
                  <a:cubicBezTo>
                    <a:pt x="1576" y="139"/>
                    <a:pt x="1434" y="875"/>
                    <a:pt x="1434" y="875"/>
                  </a:cubicBezTo>
                  <a:cubicBezTo>
                    <a:pt x="1434" y="875"/>
                    <a:pt x="1092" y="671"/>
                    <a:pt x="747" y="671"/>
                  </a:cubicBezTo>
                  <a:cubicBezTo>
                    <a:pt x="616" y="671"/>
                    <a:pt x="486" y="700"/>
                    <a:pt x="373" y="780"/>
                  </a:cubicBezTo>
                  <a:cubicBezTo>
                    <a:pt x="120" y="954"/>
                    <a:pt x="1" y="1279"/>
                    <a:pt x="72" y="1580"/>
                  </a:cubicBezTo>
                  <a:cubicBezTo>
                    <a:pt x="135" y="1849"/>
                    <a:pt x="317" y="2047"/>
                    <a:pt x="547" y="2134"/>
                  </a:cubicBezTo>
                  <a:lnTo>
                    <a:pt x="2107" y="2728"/>
                  </a:lnTo>
                  <a:cubicBezTo>
                    <a:pt x="2131" y="2737"/>
                    <a:pt x="2156" y="2742"/>
                    <a:pt x="2180" y="2742"/>
                  </a:cubicBezTo>
                  <a:cubicBezTo>
                    <a:pt x="2258" y="2742"/>
                    <a:pt x="2330" y="2695"/>
                    <a:pt x="2360" y="2617"/>
                  </a:cubicBezTo>
                  <a:lnTo>
                    <a:pt x="2962" y="1057"/>
                  </a:lnTo>
                  <a:cubicBezTo>
                    <a:pt x="3049" y="828"/>
                    <a:pt x="3025" y="558"/>
                    <a:pt x="2867" y="329"/>
                  </a:cubicBezTo>
                  <a:cubicBezTo>
                    <a:pt x="2725" y="123"/>
                    <a:pt x="2484" y="0"/>
                    <a:pt x="2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flipH="1">
              <a:off x="2787341" y="1411104"/>
              <a:ext cx="493808" cy="443513"/>
            </a:xfrm>
            <a:custGeom>
              <a:avLst/>
              <a:gdLst/>
              <a:ahLst/>
              <a:cxnLst/>
              <a:rect l="l" t="t" r="r" b="b"/>
              <a:pathLst>
                <a:path w="5860" h="5263" extrusionOk="0">
                  <a:moveTo>
                    <a:pt x="4306" y="1"/>
                  </a:moveTo>
                  <a:cubicBezTo>
                    <a:pt x="4198" y="1"/>
                    <a:pt x="4089" y="13"/>
                    <a:pt x="3983" y="38"/>
                  </a:cubicBezTo>
                  <a:cubicBezTo>
                    <a:pt x="3033" y="252"/>
                    <a:pt x="2756" y="1677"/>
                    <a:pt x="2756" y="1677"/>
                  </a:cubicBezTo>
                  <a:cubicBezTo>
                    <a:pt x="2756" y="1677"/>
                    <a:pt x="2101" y="1285"/>
                    <a:pt x="1439" y="1285"/>
                  </a:cubicBezTo>
                  <a:cubicBezTo>
                    <a:pt x="1189" y="1285"/>
                    <a:pt x="938" y="1340"/>
                    <a:pt x="721" y="1495"/>
                  </a:cubicBezTo>
                  <a:cubicBezTo>
                    <a:pt x="238" y="1835"/>
                    <a:pt x="1" y="2453"/>
                    <a:pt x="135" y="3030"/>
                  </a:cubicBezTo>
                  <a:cubicBezTo>
                    <a:pt x="254" y="3545"/>
                    <a:pt x="618" y="3925"/>
                    <a:pt x="1054" y="4091"/>
                  </a:cubicBezTo>
                  <a:lnTo>
                    <a:pt x="4054" y="5239"/>
                  </a:lnTo>
                  <a:cubicBezTo>
                    <a:pt x="4098" y="5255"/>
                    <a:pt x="4143" y="5263"/>
                    <a:pt x="4188" y="5263"/>
                  </a:cubicBezTo>
                  <a:cubicBezTo>
                    <a:pt x="4341" y="5263"/>
                    <a:pt x="4483" y="5171"/>
                    <a:pt x="4545" y="5018"/>
                  </a:cubicBezTo>
                  <a:lnTo>
                    <a:pt x="5693" y="2017"/>
                  </a:lnTo>
                  <a:cubicBezTo>
                    <a:pt x="5859" y="1582"/>
                    <a:pt x="5820" y="1059"/>
                    <a:pt x="5511" y="624"/>
                  </a:cubicBezTo>
                  <a:cubicBezTo>
                    <a:pt x="5240" y="231"/>
                    <a:pt x="4776" y="1"/>
                    <a:pt x="4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flipH="1">
              <a:off x="2870092" y="2482484"/>
              <a:ext cx="158844" cy="154130"/>
            </a:xfrm>
            <a:custGeom>
              <a:avLst/>
              <a:gdLst/>
              <a:ahLst/>
              <a:cxnLst/>
              <a:rect l="l" t="t" r="r" b="b"/>
              <a:pathLst>
                <a:path w="1885" h="1829" extrusionOk="0">
                  <a:moveTo>
                    <a:pt x="1347" y="0"/>
                  </a:moveTo>
                  <a:cubicBezTo>
                    <a:pt x="1251" y="0"/>
                    <a:pt x="1154" y="26"/>
                    <a:pt x="1069" y="78"/>
                  </a:cubicBezTo>
                  <a:cubicBezTo>
                    <a:pt x="776" y="260"/>
                    <a:pt x="839" y="767"/>
                    <a:pt x="839" y="767"/>
                  </a:cubicBezTo>
                  <a:cubicBezTo>
                    <a:pt x="839" y="767"/>
                    <a:pt x="744" y="745"/>
                    <a:pt x="619" y="745"/>
                  </a:cubicBezTo>
                  <a:cubicBezTo>
                    <a:pt x="459" y="745"/>
                    <a:pt x="251" y="780"/>
                    <a:pt x="135" y="941"/>
                  </a:cubicBezTo>
                  <a:cubicBezTo>
                    <a:pt x="8" y="1107"/>
                    <a:pt x="0" y="1345"/>
                    <a:pt x="111" y="1527"/>
                  </a:cubicBezTo>
                  <a:cubicBezTo>
                    <a:pt x="206" y="1685"/>
                    <a:pt x="372" y="1772"/>
                    <a:pt x="539" y="1780"/>
                  </a:cubicBezTo>
                  <a:lnTo>
                    <a:pt x="1686" y="1827"/>
                  </a:lnTo>
                  <a:cubicBezTo>
                    <a:pt x="1691" y="1828"/>
                    <a:pt x="1695" y="1828"/>
                    <a:pt x="1699" y="1828"/>
                  </a:cubicBezTo>
                  <a:cubicBezTo>
                    <a:pt x="1765" y="1828"/>
                    <a:pt x="1821" y="1768"/>
                    <a:pt x="1821" y="1701"/>
                  </a:cubicBezTo>
                  <a:lnTo>
                    <a:pt x="1876" y="561"/>
                  </a:lnTo>
                  <a:cubicBezTo>
                    <a:pt x="1884" y="387"/>
                    <a:pt x="1813" y="220"/>
                    <a:pt x="1655" y="102"/>
                  </a:cubicBezTo>
                  <a:cubicBezTo>
                    <a:pt x="1566" y="34"/>
                    <a:pt x="1457" y="0"/>
                    <a:pt x="1347"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3" name="Google Shape;453;p26"/>
            <p:cNvGrpSpPr/>
            <p:nvPr/>
          </p:nvGrpSpPr>
          <p:grpSpPr>
            <a:xfrm>
              <a:off x="2879445" y="2671918"/>
              <a:ext cx="625181" cy="547334"/>
              <a:chOff x="2664845" y="2564618"/>
              <a:chExt cx="625181" cy="547334"/>
            </a:xfrm>
          </p:grpSpPr>
          <p:sp>
            <p:nvSpPr>
              <p:cNvPr id="454" name="Google Shape;454;p26"/>
              <p:cNvSpPr/>
              <p:nvPr/>
            </p:nvSpPr>
            <p:spPr>
              <a:xfrm flipH="1">
                <a:off x="2664845" y="2564618"/>
                <a:ext cx="625181" cy="547334"/>
              </a:xfrm>
              <a:custGeom>
                <a:avLst/>
                <a:gdLst/>
                <a:ahLst/>
                <a:cxnLst/>
                <a:rect l="l" t="t" r="r" b="b"/>
                <a:pathLst>
                  <a:path w="7419" h="6495" extrusionOk="0">
                    <a:moveTo>
                      <a:pt x="3701" y="0"/>
                    </a:moveTo>
                    <a:cubicBezTo>
                      <a:pt x="3188" y="0"/>
                      <a:pt x="2668" y="122"/>
                      <a:pt x="2186" y="379"/>
                    </a:cubicBezTo>
                    <a:cubicBezTo>
                      <a:pt x="602" y="1226"/>
                      <a:pt x="1" y="3189"/>
                      <a:pt x="840" y="4773"/>
                    </a:cubicBezTo>
                    <a:cubicBezTo>
                      <a:pt x="1426" y="5869"/>
                      <a:pt x="2548" y="6495"/>
                      <a:pt x="3708" y="6495"/>
                    </a:cubicBezTo>
                    <a:cubicBezTo>
                      <a:pt x="4223" y="6495"/>
                      <a:pt x="4746" y="6371"/>
                      <a:pt x="5234" y="6111"/>
                    </a:cubicBezTo>
                    <a:cubicBezTo>
                      <a:pt x="6817" y="5272"/>
                      <a:pt x="7419" y="3300"/>
                      <a:pt x="6571" y="1717"/>
                    </a:cubicBezTo>
                    <a:cubicBezTo>
                      <a:pt x="5989" y="624"/>
                      <a:pt x="4863" y="0"/>
                      <a:pt x="3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6"/>
              <p:cNvSpPr/>
              <p:nvPr/>
            </p:nvSpPr>
            <p:spPr>
              <a:xfrm flipH="1">
                <a:off x="2768916" y="2676778"/>
                <a:ext cx="350974" cy="310114"/>
              </a:xfrm>
              <a:custGeom>
                <a:avLst/>
                <a:gdLst/>
                <a:ahLst/>
                <a:cxnLst/>
                <a:rect l="l" t="t" r="r" b="b"/>
                <a:pathLst>
                  <a:path w="4165" h="3680" extrusionOk="0">
                    <a:moveTo>
                      <a:pt x="661" y="0"/>
                    </a:moveTo>
                    <a:cubicBezTo>
                      <a:pt x="590" y="0"/>
                      <a:pt x="521" y="29"/>
                      <a:pt x="475" y="85"/>
                    </a:cubicBezTo>
                    <a:cubicBezTo>
                      <a:pt x="380" y="204"/>
                      <a:pt x="475" y="370"/>
                      <a:pt x="491" y="521"/>
                    </a:cubicBezTo>
                    <a:cubicBezTo>
                      <a:pt x="515" y="932"/>
                      <a:pt x="333" y="1193"/>
                      <a:pt x="0" y="1439"/>
                    </a:cubicBezTo>
                    <a:lnTo>
                      <a:pt x="1140" y="3679"/>
                    </a:lnTo>
                    <a:lnTo>
                      <a:pt x="1409" y="3537"/>
                    </a:lnTo>
                    <a:cubicBezTo>
                      <a:pt x="1417" y="3534"/>
                      <a:pt x="1427" y="3532"/>
                      <a:pt x="1439" y="3532"/>
                    </a:cubicBezTo>
                    <a:cubicBezTo>
                      <a:pt x="1501" y="3532"/>
                      <a:pt x="1624" y="3567"/>
                      <a:pt x="1775" y="3567"/>
                    </a:cubicBezTo>
                    <a:cubicBezTo>
                      <a:pt x="1888" y="3567"/>
                      <a:pt x="2016" y="3548"/>
                      <a:pt x="2146" y="3481"/>
                    </a:cubicBezTo>
                    <a:lnTo>
                      <a:pt x="3919" y="2579"/>
                    </a:lnTo>
                    <a:cubicBezTo>
                      <a:pt x="4093" y="2492"/>
                      <a:pt x="4165" y="2278"/>
                      <a:pt x="4077" y="2104"/>
                    </a:cubicBezTo>
                    <a:cubicBezTo>
                      <a:pt x="4016" y="1980"/>
                      <a:pt x="3890" y="1908"/>
                      <a:pt x="3760" y="1908"/>
                    </a:cubicBezTo>
                    <a:cubicBezTo>
                      <a:pt x="3707" y="1908"/>
                      <a:pt x="3653" y="1920"/>
                      <a:pt x="3602" y="1946"/>
                    </a:cubicBezTo>
                    <a:cubicBezTo>
                      <a:pt x="3777" y="1858"/>
                      <a:pt x="3848" y="1645"/>
                      <a:pt x="3753" y="1471"/>
                    </a:cubicBezTo>
                    <a:cubicBezTo>
                      <a:pt x="3692" y="1343"/>
                      <a:pt x="3568" y="1274"/>
                      <a:pt x="3440" y="1274"/>
                    </a:cubicBezTo>
                    <a:cubicBezTo>
                      <a:pt x="3386" y="1274"/>
                      <a:pt x="3330" y="1286"/>
                      <a:pt x="3278" y="1312"/>
                    </a:cubicBezTo>
                    <a:cubicBezTo>
                      <a:pt x="3452" y="1225"/>
                      <a:pt x="3523" y="1011"/>
                      <a:pt x="3436" y="829"/>
                    </a:cubicBezTo>
                    <a:cubicBezTo>
                      <a:pt x="3376" y="708"/>
                      <a:pt x="3250" y="637"/>
                      <a:pt x="3120" y="637"/>
                    </a:cubicBezTo>
                    <a:cubicBezTo>
                      <a:pt x="3063" y="637"/>
                      <a:pt x="3006" y="650"/>
                      <a:pt x="2953" y="679"/>
                    </a:cubicBezTo>
                    <a:cubicBezTo>
                      <a:pt x="3127" y="584"/>
                      <a:pt x="3199" y="370"/>
                      <a:pt x="3112" y="196"/>
                    </a:cubicBezTo>
                    <a:cubicBezTo>
                      <a:pt x="3050" y="72"/>
                      <a:pt x="2924" y="0"/>
                      <a:pt x="2794" y="0"/>
                    </a:cubicBezTo>
                    <a:cubicBezTo>
                      <a:pt x="2741" y="0"/>
                      <a:pt x="2687" y="12"/>
                      <a:pt x="2637" y="38"/>
                    </a:cubicBezTo>
                    <a:lnTo>
                      <a:pt x="1188" y="774"/>
                    </a:lnTo>
                    <a:cubicBezTo>
                      <a:pt x="1164" y="608"/>
                      <a:pt x="1109" y="441"/>
                      <a:pt x="1029" y="291"/>
                    </a:cubicBezTo>
                    <a:cubicBezTo>
                      <a:pt x="966" y="172"/>
                      <a:pt x="879" y="53"/>
                      <a:pt x="744" y="14"/>
                    </a:cubicBezTo>
                    <a:cubicBezTo>
                      <a:pt x="717" y="5"/>
                      <a:pt x="689" y="0"/>
                      <a:pt x="6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flipH="1">
                <a:off x="3004443" y="2771748"/>
                <a:ext cx="181512" cy="260394"/>
              </a:xfrm>
              <a:custGeom>
                <a:avLst/>
                <a:gdLst/>
                <a:ahLst/>
                <a:cxnLst/>
                <a:rect l="l" t="t" r="r" b="b"/>
                <a:pathLst>
                  <a:path w="2154" h="3090" extrusionOk="0">
                    <a:moveTo>
                      <a:pt x="615" y="1"/>
                    </a:moveTo>
                    <a:cubicBezTo>
                      <a:pt x="568" y="1"/>
                      <a:pt x="520" y="11"/>
                      <a:pt x="476" y="35"/>
                    </a:cubicBezTo>
                    <a:lnTo>
                      <a:pt x="214" y="169"/>
                    </a:lnTo>
                    <a:cubicBezTo>
                      <a:pt x="64" y="249"/>
                      <a:pt x="1" y="431"/>
                      <a:pt x="80" y="581"/>
                    </a:cubicBezTo>
                    <a:lnTo>
                      <a:pt x="1267" y="2924"/>
                    </a:lnTo>
                    <a:cubicBezTo>
                      <a:pt x="1318" y="3031"/>
                      <a:pt x="1428" y="3090"/>
                      <a:pt x="1541" y="3090"/>
                    </a:cubicBezTo>
                    <a:cubicBezTo>
                      <a:pt x="1588" y="3090"/>
                      <a:pt x="1635" y="3080"/>
                      <a:pt x="1679" y="3059"/>
                    </a:cubicBezTo>
                    <a:lnTo>
                      <a:pt x="1940" y="2917"/>
                    </a:lnTo>
                    <a:cubicBezTo>
                      <a:pt x="2091" y="2845"/>
                      <a:pt x="2154" y="2663"/>
                      <a:pt x="2075" y="2513"/>
                    </a:cubicBezTo>
                    <a:lnTo>
                      <a:pt x="887" y="169"/>
                    </a:lnTo>
                    <a:cubicBezTo>
                      <a:pt x="837" y="63"/>
                      <a:pt x="728"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6"/>
            <p:cNvGrpSpPr/>
            <p:nvPr/>
          </p:nvGrpSpPr>
          <p:grpSpPr>
            <a:xfrm>
              <a:off x="3060199" y="3758550"/>
              <a:ext cx="414428" cy="373316"/>
              <a:chOff x="2845599" y="3651250"/>
              <a:chExt cx="414428" cy="373316"/>
            </a:xfrm>
          </p:grpSpPr>
          <p:sp>
            <p:nvSpPr>
              <p:cNvPr id="458" name="Google Shape;458;p26"/>
              <p:cNvSpPr/>
              <p:nvPr/>
            </p:nvSpPr>
            <p:spPr>
              <a:xfrm flipH="1">
                <a:off x="2845599" y="3651250"/>
                <a:ext cx="414428" cy="373316"/>
              </a:xfrm>
              <a:custGeom>
                <a:avLst/>
                <a:gdLst/>
                <a:ahLst/>
                <a:cxnLst/>
                <a:rect l="l" t="t" r="r" b="b"/>
                <a:pathLst>
                  <a:path w="4918" h="4430" extrusionOk="0">
                    <a:moveTo>
                      <a:pt x="2459" y="0"/>
                    </a:moveTo>
                    <a:cubicBezTo>
                      <a:pt x="1860" y="0"/>
                      <a:pt x="1263" y="241"/>
                      <a:pt x="824" y="713"/>
                    </a:cubicBezTo>
                    <a:cubicBezTo>
                      <a:pt x="1" y="1615"/>
                      <a:pt x="56" y="3017"/>
                      <a:pt x="959" y="3848"/>
                    </a:cubicBezTo>
                    <a:cubicBezTo>
                      <a:pt x="1381" y="4237"/>
                      <a:pt x="1917" y="4430"/>
                      <a:pt x="2453" y="4430"/>
                    </a:cubicBezTo>
                    <a:cubicBezTo>
                      <a:pt x="3050" y="4430"/>
                      <a:pt x="3647" y="4189"/>
                      <a:pt x="4086" y="3713"/>
                    </a:cubicBezTo>
                    <a:cubicBezTo>
                      <a:pt x="4917" y="2819"/>
                      <a:pt x="4854" y="1418"/>
                      <a:pt x="3959" y="586"/>
                    </a:cubicBezTo>
                    <a:cubicBezTo>
                      <a:pt x="3533" y="194"/>
                      <a:pt x="2995" y="0"/>
                      <a:pt x="24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flipH="1">
                <a:off x="2911665" y="3711839"/>
                <a:ext cx="244966" cy="232332"/>
              </a:xfrm>
              <a:custGeom>
                <a:avLst/>
                <a:gdLst/>
                <a:ahLst/>
                <a:cxnLst/>
                <a:rect l="l" t="t" r="r" b="b"/>
                <a:pathLst>
                  <a:path w="2907" h="2757" extrusionOk="0">
                    <a:moveTo>
                      <a:pt x="1589" y="1"/>
                    </a:moveTo>
                    <a:cubicBezTo>
                      <a:pt x="1526" y="1"/>
                      <a:pt x="1462" y="25"/>
                      <a:pt x="1418" y="73"/>
                    </a:cubicBezTo>
                    <a:lnTo>
                      <a:pt x="650" y="881"/>
                    </a:lnTo>
                    <a:cubicBezTo>
                      <a:pt x="595" y="770"/>
                      <a:pt x="523" y="675"/>
                      <a:pt x="436" y="596"/>
                    </a:cubicBezTo>
                    <a:cubicBezTo>
                      <a:pt x="365" y="540"/>
                      <a:pt x="286" y="485"/>
                      <a:pt x="191" y="485"/>
                    </a:cubicBezTo>
                    <a:cubicBezTo>
                      <a:pt x="120" y="485"/>
                      <a:pt x="56" y="524"/>
                      <a:pt x="33" y="588"/>
                    </a:cubicBezTo>
                    <a:cubicBezTo>
                      <a:pt x="1" y="691"/>
                      <a:pt x="104" y="778"/>
                      <a:pt x="143" y="873"/>
                    </a:cubicBezTo>
                    <a:cubicBezTo>
                      <a:pt x="246" y="1126"/>
                      <a:pt x="191" y="1340"/>
                      <a:pt x="33" y="1569"/>
                    </a:cubicBezTo>
                    <a:lnTo>
                      <a:pt x="1268" y="2757"/>
                    </a:lnTo>
                    <a:lnTo>
                      <a:pt x="1418" y="2606"/>
                    </a:lnTo>
                    <a:cubicBezTo>
                      <a:pt x="1450" y="2567"/>
                      <a:pt x="1695" y="2591"/>
                      <a:pt x="1877" y="2401"/>
                    </a:cubicBezTo>
                    <a:lnTo>
                      <a:pt x="2819" y="1419"/>
                    </a:lnTo>
                    <a:cubicBezTo>
                      <a:pt x="2906" y="1324"/>
                      <a:pt x="2906" y="1174"/>
                      <a:pt x="2811" y="1079"/>
                    </a:cubicBezTo>
                    <a:cubicBezTo>
                      <a:pt x="2766" y="1033"/>
                      <a:pt x="2706" y="1011"/>
                      <a:pt x="2645" y="1011"/>
                    </a:cubicBezTo>
                    <a:cubicBezTo>
                      <a:pt x="2579" y="1011"/>
                      <a:pt x="2512" y="1037"/>
                      <a:pt x="2463" y="1086"/>
                    </a:cubicBezTo>
                    <a:cubicBezTo>
                      <a:pt x="2558" y="991"/>
                      <a:pt x="2558" y="833"/>
                      <a:pt x="2463" y="738"/>
                    </a:cubicBezTo>
                    <a:cubicBezTo>
                      <a:pt x="2413" y="696"/>
                      <a:pt x="2351" y="674"/>
                      <a:pt x="2290" y="674"/>
                    </a:cubicBezTo>
                    <a:cubicBezTo>
                      <a:pt x="2226" y="674"/>
                      <a:pt x="2163" y="698"/>
                      <a:pt x="2115" y="746"/>
                    </a:cubicBezTo>
                    <a:cubicBezTo>
                      <a:pt x="2210" y="651"/>
                      <a:pt x="2202" y="501"/>
                      <a:pt x="2107" y="406"/>
                    </a:cubicBezTo>
                    <a:cubicBezTo>
                      <a:pt x="2061" y="360"/>
                      <a:pt x="2003" y="338"/>
                      <a:pt x="1944" y="338"/>
                    </a:cubicBezTo>
                    <a:cubicBezTo>
                      <a:pt x="1880" y="338"/>
                      <a:pt x="1816" y="364"/>
                      <a:pt x="1766" y="414"/>
                    </a:cubicBezTo>
                    <a:cubicBezTo>
                      <a:pt x="1861" y="319"/>
                      <a:pt x="1853" y="160"/>
                      <a:pt x="1758" y="65"/>
                    </a:cubicBezTo>
                    <a:cubicBezTo>
                      <a:pt x="1712" y="23"/>
                      <a:pt x="1650" y="1"/>
                      <a:pt x="15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flipH="1">
                <a:off x="3037139" y="3832847"/>
                <a:ext cx="154799" cy="145450"/>
              </a:xfrm>
              <a:custGeom>
                <a:avLst/>
                <a:gdLst/>
                <a:ahLst/>
                <a:cxnLst/>
                <a:rect l="l" t="t" r="r" b="b"/>
                <a:pathLst>
                  <a:path w="1837" h="1726" extrusionOk="0">
                    <a:moveTo>
                      <a:pt x="348" y="1"/>
                    </a:moveTo>
                    <a:cubicBezTo>
                      <a:pt x="269" y="1"/>
                      <a:pt x="188" y="32"/>
                      <a:pt x="127" y="94"/>
                    </a:cubicBezTo>
                    <a:lnTo>
                      <a:pt x="119" y="102"/>
                    </a:lnTo>
                    <a:cubicBezTo>
                      <a:pt x="0" y="220"/>
                      <a:pt x="8" y="418"/>
                      <a:pt x="127" y="537"/>
                    </a:cubicBezTo>
                    <a:lnTo>
                      <a:pt x="1283" y="1638"/>
                    </a:lnTo>
                    <a:cubicBezTo>
                      <a:pt x="1341" y="1696"/>
                      <a:pt x="1419" y="1726"/>
                      <a:pt x="1496" y="1726"/>
                    </a:cubicBezTo>
                    <a:cubicBezTo>
                      <a:pt x="1575" y="1726"/>
                      <a:pt x="1654" y="1694"/>
                      <a:pt x="1710" y="1630"/>
                    </a:cubicBezTo>
                    <a:lnTo>
                      <a:pt x="1718" y="1622"/>
                    </a:lnTo>
                    <a:cubicBezTo>
                      <a:pt x="1837" y="1503"/>
                      <a:pt x="1829" y="1313"/>
                      <a:pt x="1710" y="1194"/>
                    </a:cubicBezTo>
                    <a:lnTo>
                      <a:pt x="554" y="86"/>
                    </a:lnTo>
                    <a:cubicBezTo>
                      <a:pt x="497" y="28"/>
                      <a:pt x="423" y="1"/>
                      <a:pt x="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 name="Google Shape;461;p26"/>
            <p:cNvGrpSpPr/>
            <p:nvPr/>
          </p:nvGrpSpPr>
          <p:grpSpPr>
            <a:xfrm>
              <a:off x="1861404" y="3490387"/>
              <a:ext cx="469033" cy="422361"/>
              <a:chOff x="1598779" y="3296062"/>
              <a:chExt cx="469033" cy="422361"/>
            </a:xfrm>
          </p:grpSpPr>
          <p:sp>
            <p:nvSpPr>
              <p:cNvPr id="462" name="Google Shape;462;p26"/>
              <p:cNvSpPr/>
              <p:nvPr/>
            </p:nvSpPr>
            <p:spPr>
              <a:xfrm flipH="1">
                <a:off x="1598779" y="3296062"/>
                <a:ext cx="469033" cy="422361"/>
              </a:xfrm>
              <a:custGeom>
                <a:avLst/>
                <a:gdLst/>
                <a:ahLst/>
                <a:cxnLst/>
                <a:rect l="l" t="t" r="r" b="b"/>
                <a:pathLst>
                  <a:path w="5566" h="5012" extrusionOk="0">
                    <a:moveTo>
                      <a:pt x="2784" y="1"/>
                    </a:moveTo>
                    <a:cubicBezTo>
                      <a:pt x="2108" y="1"/>
                      <a:pt x="1435" y="273"/>
                      <a:pt x="942" y="811"/>
                    </a:cubicBezTo>
                    <a:cubicBezTo>
                      <a:pt x="0" y="1825"/>
                      <a:pt x="71" y="3416"/>
                      <a:pt x="1085" y="4350"/>
                    </a:cubicBezTo>
                    <a:cubicBezTo>
                      <a:pt x="1568" y="4792"/>
                      <a:pt x="2178" y="5011"/>
                      <a:pt x="2785" y="5011"/>
                    </a:cubicBezTo>
                    <a:cubicBezTo>
                      <a:pt x="3460" y="5011"/>
                      <a:pt x="4132" y="4741"/>
                      <a:pt x="4624" y="4208"/>
                    </a:cubicBezTo>
                    <a:cubicBezTo>
                      <a:pt x="5566" y="3186"/>
                      <a:pt x="5502" y="1603"/>
                      <a:pt x="4481" y="661"/>
                    </a:cubicBezTo>
                    <a:cubicBezTo>
                      <a:pt x="3998" y="219"/>
                      <a:pt x="3390"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flipH="1">
                <a:off x="1672851" y="3364908"/>
                <a:ext cx="277577" cy="262417"/>
              </a:xfrm>
              <a:custGeom>
                <a:avLst/>
                <a:gdLst/>
                <a:ahLst/>
                <a:cxnLst/>
                <a:rect l="l" t="t" r="r" b="b"/>
                <a:pathLst>
                  <a:path w="3294" h="3114" extrusionOk="0">
                    <a:moveTo>
                      <a:pt x="1799" y="0"/>
                    </a:moveTo>
                    <a:cubicBezTo>
                      <a:pt x="1726" y="0"/>
                      <a:pt x="1653" y="28"/>
                      <a:pt x="1600" y="81"/>
                    </a:cubicBezTo>
                    <a:lnTo>
                      <a:pt x="729" y="992"/>
                    </a:lnTo>
                    <a:cubicBezTo>
                      <a:pt x="673" y="873"/>
                      <a:pt x="586" y="762"/>
                      <a:pt x="491" y="675"/>
                    </a:cubicBezTo>
                    <a:cubicBezTo>
                      <a:pt x="417" y="608"/>
                      <a:pt x="335" y="548"/>
                      <a:pt x="240" y="548"/>
                    </a:cubicBezTo>
                    <a:cubicBezTo>
                      <a:pt x="234" y="548"/>
                      <a:pt x="228" y="548"/>
                      <a:pt x="222" y="548"/>
                    </a:cubicBezTo>
                    <a:cubicBezTo>
                      <a:pt x="143" y="548"/>
                      <a:pt x="64" y="588"/>
                      <a:pt x="40" y="667"/>
                    </a:cubicBezTo>
                    <a:cubicBezTo>
                      <a:pt x="1" y="778"/>
                      <a:pt x="111" y="873"/>
                      <a:pt x="159" y="984"/>
                    </a:cubicBezTo>
                    <a:cubicBezTo>
                      <a:pt x="278" y="1277"/>
                      <a:pt x="214" y="1514"/>
                      <a:pt x="40" y="1776"/>
                    </a:cubicBezTo>
                    <a:lnTo>
                      <a:pt x="1441" y="3113"/>
                    </a:lnTo>
                    <a:lnTo>
                      <a:pt x="1600" y="2947"/>
                    </a:lnTo>
                    <a:cubicBezTo>
                      <a:pt x="1647" y="2900"/>
                      <a:pt x="1924" y="2923"/>
                      <a:pt x="2122" y="2710"/>
                    </a:cubicBezTo>
                    <a:lnTo>
                      <a:pt x="3183" y="1601"/>
                    </a:lnTo>
                    <a:cubicBezTo>
                      <a:pt x="3294" y="1498"/>
                      <a:pt x="3286" y="1324"/>
                      <a:pt x="3175" y="1213"/>
                    </a:cubicBezTo>
                    <a:cubicBezTo>
                      <a:pt x="3126" y="1164"/>
                      <a:pt x="3060" y="1140"/>
                      <a:pt x="2992" y="1140"/>
                    </a:cubicBezTo>
                    <a:cubicBezTo>
                      <a:pt x="2919" y="1140"/>
                      <a:pt x="2845" y="1168"/>
                      <a:pt x="2787" y="1221"/>
                    </a:cubicBezTo>
                    <a:cubicBezTo>
                      <a:pt x="2898" y="1118"/>
                      <a:pt x="2890" y="944"/>
                      <a:pt x="2779" y="833"/>
                    </a:cubicBezTo>
                    <a:cubicBezTo>
                      <a:pt x="2726" y="784"/>
                      <a:pt x="2658" y="760"/>
                      <a:pt x="2590" y="760"/>
                    </a:cubicBezTo>
                    <a:cubicBezTo>
                      <a:pt x="2517" y="760"/>
                      <a:pt x="2445" y="788"/>
                      <a:pt x="2391" y="841"/>
                    </a:cubicBezTo>
                    <a:cubicBezTo>
                      <a:pt x="2494" y="738"/>
                      <a:pt x="2494" y="564"/>
                      <a:pt x="2383" y="453"/>
                    </a:cubicBezTo>
                    <a:cubicBezTo>
                      <a:pt x="2330" y="404"/>
                      <a:pt x="2262" y="380"/>
                      <a:pt x="2195" y="380"/>
                    </a:cubicBezTo>
                    <a:cubicBezTo>
                      <a:pt x="2122" y="380"/>
                      <a:pt x="2049" y="408"/>
                      <a:pt x="1996" y="461"/>
                    </a:cubicBezTo>
                    <a:cubicBezTo>
                      <a:pt x="2098" y="358"/>
                      <a:pt x="2098" y="184"/>
                      <a:pt x="1988" y="73"/>
                    </a:cubicBezTo>
                    <a:cubicBezTo>
                      <a:pt x="1934" y="24"/>
                      <a:pt x="1866" y="0"/>
                      <a:pt x="17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flipH="1">
                <a:off x="1814251" y="3500242"/>
                <a:ext cx="176877" cy="167192"/>
              </a:xfrm>
              <a:custGeom>
                <a:avLst/>
                <a:gdLst/>
                <a:ahLst/>
                <a:cxnLst/>
                <a:rect l="l" t="t" r="r" b="b"/>
                <a:pathLst>
                  <a:path w="2099" h="1984" extrusionOk="0">
                    <a:moveTo>
                      <a:pt x="397" y="0"/>
                    </a:moveTo>
                    <a:cubicBezTo>
                      <a:pt x="318" y="0"/>
                      <a:pt x="239" y="30"/>
                      <a:pt x="183" y="90"/>
                    </a:cubicBezTo>
                    <a:lnTo>
                      <a:pt x="119" y="162"/>
                    </a:lnTo>
                    <a:cubicBezTo>
                      <a:pt x="1" y="280"/>
                      <a:pt x="1" y="478"/>
                      <a:pt x="127" y="589"/>
                    </a:cubicBezTo>
                    <a:lnTo>
                      <a:pt x="1489" y="1895"/>
                    </a:lnTo>
                    <a:cubicBezTo>
                      <a:pt x="1547" y="1954"/>
                      <a:pt x="1625" y="1983"/>
                      <a:pt x="1702" y="1983"/>
                    </a:cubicBezTo>
                    <a:cubicBezTo>
                      <a:pt x="1781" y="1983"/>
                      <a:pt x="1860" y="1952"/>
                      <a:pt x="1916" y="1887"/>
                    </a:cubicBezTo>
                    <a:lnTo>
                      <a:pt x="1980" y="1824"/>
                    </a:lnTo>
                    <a:cubicBezTo>
                      <a:pt x="2099" y="1697"/>
                      <a:pt x="2099" y="1507"/>
                      <a:pt x="1972" y="1389"/>
                    </a:cubicBezTo>
                    <a:lnTo>
                      <a:pt x="610" y="82"/>
                    </a:lnTo>
                    <a:cubicBezTo>
                      <a:pt x="552" y="28"/>
                      <a:pt x="474" y="0"/>
                      <a:pt x="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26"/>
            <p:cNvGrpSpPr/>
            <p:nvPr/>
          </p:nvGrpSpPr>
          <p:grpSpPr>
            <a:xfrm>
              <a:off x="1383700" y="1960951"/>
              <a:ext cx="581867" cy="543626"/>
              <a:chOff x="1169100" y="1853651"/>
              <a:chExt cx="581867" cy="543626"/>
            </a:xfrm>
          </p:grpSpPr>
          <p:sp>
            <p:nvSpPr>
              <p:cNvPr id="466" name="Google Shape;466;p26"/>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 name="Google Shape;469;p26"/>
            <p:cNvGrpSpPr/>
            <p:nvPr/>
          </p:nvGrpSpPr>
          <p:grpSpPr>
            <a:xfrm>
              <a:off x="2564884" y="441341"/>
              <a:ext cx="769278" cy="674581"/>
              <a:chOff x="1565409" y="2345016"/>
              <a:chExt cx="769278" cy="674581"/>
            </a:xfrm>
          </p:grpSpPr>
          <p:sp>
            <p:nvSpPr>
              <p:cNvPr id="470" name="Google Shape;470;p26"/>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6"/>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6"/>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26"/>
            <p:cNvSpPr/>
            <p:nvPr/>
          </p:nvSpPr>
          <p:spPr>
            <a:xfrm flipH="1">
              <a:off x="2083993" y="2894437"/>
              <a:ext cx="256932" cy="231068"/>
            </a:xfrm>
            <a:custGeom>
              <a:avLst/>
              <a:gdLst/>
              <a:ahLst/>
              <a:cxnLst/>
              <a:rect l="l" t="t" r="r" b="b"/>
              <a:pathLst>
                <a:path w="3049" h="2742" extrusionOk="0">
                  <a:moveTo>
                    <a:pt x="2237" y="0"/>
                  </a:moveTo>
                  <a:cubicBezTo>
                    <a:pt x="2180" y="0"/>
                    <a:pt x="2123" y="7"/>
                    <a:pt x="2067" y="20"/>
                  </a:cubicBezTo>
                  <a:cubicBezTo>
                    <a:pt x="1576" y="139"/>
                    <a:pt x="1434" y="875"/>
                    <a:pt x="1434" y="875"/>
                  </a:cubicBezTo>
                  <a:cubicBezTo>
                    <a:pt x="1434" y="875"/>
                    <a:pt x="1092" y="671"/>
                    <a:pt x="747" y="671"/>
                  </a:cubicBezTo>
                  <a:cubicBezTo>
                    <a:pt x="616" y="671"/>
                    <a:pt x="486" y="700"/>
                    <a:pt x="373" y="780"/>
                  </a:cubicBezTo>
                  <a:cubicBezTo>
                    <a:pt x="120" y="954"/>
                    <a:pt x="1" y="1279"/>
                    <a:pt x="72" y="1580"/>
                  </a:cubicBezTo>
                  <a:cubicBezTo>
                    <a:pt x="135" y="1849"/>
                    <a:pt x="317" y="2047"/>
                    <a:pt x="547" y="2134"/>
                  </a:cubicBezTo>
                  <a:lnTo>
                    <a:pt x="2107" y="2728"/>
                  </a:lnTo>
                  <a:cubicBezTo>
                    <a:pt x="2131" y="2737"/>
                    <a:pt x="2156" y="2742"/>
                    <a:pt x="2180" y="2742"/>
                  </a:cubicBezTo>
                  <a:cubicBezTo>
                    <a:pt x="2258" y="2742"/>
                    <a:pt x="2330" y="2695"/>
                    <a:pt x="2360" y="2617"/>
                  </a:cubicBezTo>
                  <a:lnTo>
                    <a:pt x="2962" y="1057"/>
                  </a:lnTo>
                  <a:cubicBezTo>
                    <a:pt x="3049" y="828"/>
                    <a:pt x="3025" y="558"/>
                    <a:pt x="2867" y="329"/>
                  </a:cubicBezTo>
                  <a:cubicBezTo>
                    <a:pt x="2725" y="123"/>
                    <a:pt x="2484" y="0"/>
                    <a:pt x="2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7A009285-DE0C-7BE7-0ADB-0D651E101862}"/>
              </a:ext>
            </a:extLst>
          </p:cNvPr>
          <p:cNvSpPr txBox="1"/>
          <p:nvPr/>
        </p:nvSpPr>
        <p:spPr>
          <a:xfrm>
            <a:off x="3933461" y="3668317"/>
            <a:ext cx="4928838" cy="523220"/>
          </a:xfrm>
          <a:prstGeom prst="rect">
            <a:avLst/>
          </a:prstGeom>
          <a:noFill/>
        </p:spPr>
        <p:txBody>
          <a:bodyPr wrap="square">
            <a:spAutoFit/>
          </a:bodyPr>
          <a:lstStyle/>
          <a:p>
            <a:r>
              <a:rPr lang="en-ZA" b="1" i="0" dirty="0">
                <a:solidFill>
                  <a:schemeClr val="bg2">
                    <a:lumMod val="50000"/>
                  </a:schemeClr>
                </a:solidFill>
                <a:effectLst/>
                <a:latin typeface="Poppins" panose="00000500000000000000" pitchFamily="2" charset="0"/>
              </a:rPr>
              <a:t>Ayanda Mhlauli (2021442765) </a:t>
            </a:r>
          </a:p>
          <a:p>
            <a:r>
              <a:rPr lang="en-ZA" b="1" i="0" dirty="0" err="1">
                <a:solidFill>
                  <a:schemeClr val="bg2">
                    <a:lumMod val="50000"/>
                  </a:schemeClr>
                </a:solidFill>
                <a:effectLst/>
                <a:latin typeface="Poppins" panose="00000500000000000000" pitchFamily="2" charset="0"/>
              </a:rPr>
              <a:t>Matlhare</a:t>
            </a:r>
            <a:r>
              <a:rPr lang="en-ZA" b="1" i="0" dirty="0">
                <a:solidFill>
                  <a:schemeClr val="bg2">
                    <a:lumMod val="50000"/>
                  </a:schemeClr>
                </a:solidFill>
                <a:effectLst/>
                <a:latin typeface="Poppins" panose="00000500000000000000" pitchFamily="2" charset="0"/>
              </a:rPr>
              <a:t> Tshenolo (2020850125) </a:t>
            </a:r>
            <a:endParaRPr lang="en-ZA" dirty="0">
              <a:solidFill>
                <a:schemeClr val="bg2">
                  <a:lumMod val="50000"/>
                </a:schemeClr>
              </a:solidFill>
            </a:endParaRPr>
          </a:p>
        </p:txBody>
      </p:sp>
      <p:cxnSp>
        <p:nvCxnSpPr>
          <p:cNvPr id="5" name="Straight Connector 4">
            <a:extLst>
              <a:ext uri="{FF2B5EF4-FFF2-40B4-BE49-F238E27FC236}">
                <a16:creationId xmlns:a16="http://schemas.microsoft.com/office/drawing/2014/main" id="{3B1E0112-C570-02E0-EC50-6C0FE5BE1BC9}"/>
              </a:ext>
            </a:extLst>
          </p:cNvPr>
          <p:cNvCxnSpPr/>
          <p:nvPr/>
        </p:nvCxnSpPr>
        <p:spPr>
          <a:xfrm>
            <a:off x="3933461" y="3578487"/>
            <a:ext cx="5210539" cy="20714"/>
          </a:xfrm>
          <a:prstGeom prst="line">
            <a:avLst/>
          </a:prstGeom>
        </p:spPr>
        <p:style>
          <a:lnRef idx="1">
            <a:schemeClr val="accent4"/>
          </a:lnRef>
          <a:fillRef idx="0">
            <a:schemeClr val="accent4"/>
          </a:fillRef>
          <a:effectRef idx="0">
            <a:schemeClr val="accent4"/>
          </a:effectRef>
          <a:fontRef idx="minor">
            <a:schemeClr val="tx1"/>
          </a:fontRef>
        </p:style>
      </p:cxnSp>
      <p:cxnSp>
        <p:nvCxnSpPr>
          <p:cNvPr id="6" name="Straight Connector 5">
            <a:extLst>
              <a:ext uri="{FF2B5EF4-FFF2-40B4-BE49-F238E27FC236}">
                <a16:creationId xmlns:a16="http://schemas.microsoft.com/office/drawing/2014/main" id="{F02E4906-CDD6-3C75-DC3A-380A890E26C9}"/>
              </a:ext>
            </a:extLst>
          </p:cNvPr>
          <p:cNvCxnSpPr/>
          <p:nvPr/>
        </p:nvCxnSpPr>
        <p:spPr>
          <a:xfrm>
            <a:off x="3933461" y="2504577"/>
            <a:ext cx="5210539" cy="20714"/>
          </a:xfrm>
          <a:prstGeom prst="line">
            <a:avLst/>
          </a:prstGeom>
        </p:spPr>
        <p:style>
          <a:lnRef idx="1">
            <a:schemeClr val="accent4"/>
          </a:lnRef>
          <a:fillRef idx="0">
            <a:schemeClr val="accent4"/>
          </a:fillRef>
          <a:effectRef idx="0">
            <a:schemeClr val="accent4"/>
          </a:effectRef>
          <a:fontRef idx="minor">
            <a:schemeClr val="tx1"/>
          </a:fontRef>
        </p:style>
      </p:cxnSp>
      <p:grpSp>
        <p:nvGrpSpPr>
          <p:cNvPr id="7" name="Google Shape;8150;p64">
            <a:extLst>
              <a:ext uri="{FF2B5EF4-FFF2-40B4-BE49-F238E27FC236}">
                <a16:creationId xmlns:a16="http://schemas.microsoft.com/office/drawing/2014/main" id="{17CC0EB9-A6FA-FD98-D1EF-F43BE482D274}"/>
              </a:ext>
            </a:extLst>
          </p:cNvPr>
          <p:cNvGrpSpPr/>
          <p:nvPr/>
        </p:nvGrpSpPr>
        <p:grpSpPr>
          <a:xfrm rot="1484030">
            <a:off x="592483" y="723942"/>
            <a:ext cx="387681" cy="387681"/>
            <a:chOff x="4933458" y="1687279"/>
            <a:chExt cx="397907" cy="397907"/>
          </a:xfrm>
        </p:grpSpPr>
        <p:sp>
          <p:nvSpPr>
            <p:cNvPr id="8" name="Google Shape;8151;p64">
              <a:extLst>
                <a:ext uri="{FF2B5EF4-FFF2-40B4-BE49-F238E27FC236}">
                  <a16:creationId xmlns:a16="http://schemas.microsoft.com/office/drawing/2014/main" id="{861229A5-4CBA-6472-6ABA-B768B2EBFA97}"/>
                </a:ext>
              </a:extLst>
            </p:cNvPr>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152;p64">
              <a:extLst>
                <a:ext uri="{FF2B5EF4-FFF2-40B4-BE49-F238E27FC236}">
                  <a16:creationId xmlns:a16="http://schemas.microsoft.com/office/drawing/2014/main" id="{0724FC92-43B6-5EAF-ABA9-FCD929FED198}"/>
                </a:ext>
              </a:extLst>
            </p:cNvPr>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Project Objective and Background</a:t>
            </a:r>
            <a:endParaRPr dirty="0"/>
          </a:p>
        </p:txBody>
      </p:sp>
      <p:sp>
        <p:nvSpPr>
          <p:cNvPr id="6" name="TextBox 5">
            <a:extLst>
              <a:ext uri="{FF2B5EF4-FFF2-40B4-BE49-F238E27FC236}">
                <a16:creationId xmlns:a16="http://schemas.microsoft.com/office/drawing/2014/main" id="{49BE30EC-615F-DF92-6E1B-B4665EA6176C}"/>
              </a:ext>
            </a:extLst>
          </p:cNvPr>
          <p:cNvSpPr txBox="1"/>
          <p:nvPr/>
        </p:nvSpPr>
        <p:spPr>
          <a:xfrm>
            <a:off x="720000" y="1238606"/>
            <a:ext cx="462915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Primary Goal</a:t>
            </a:r>
            <a:endParaRPr lang="en-ZA" dirty="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6C0C0D75-DB76-D1CB-0AAD-5ACF7438FA6E}"/>
              </a:ext>
            </a:extLst>
          </p:cNvPr>
          <p:cNvSpPr txBox="1"/>
          <p:nvPr/>
        </p:nvSpPr>
        <p:spPr>
          <a:xfrm>
            <a:off x="720000" y="1546383"/>
            <a:ext cx="6501765" cy="523220"/>
          </a:xfrm>
          <a:prstGeom prst="rect">
            <a:avLst/>
          </a:prstGeom>
          <a:noFill/>
        </p:spPr>
        <p:txBody>
          <a:bodyPr wrap="square">
            <a:spAutoFit/>
          </a:bodyPr>
          <a:lstStyle/>
          <a:p>
            <a:r>
              <a:rPr kumimoji="0" lang="en-US" altLang="en-US" sz="1400" b="0" i="0" u="none" strike="noStrike" cap="none" normalizeH="0" baseline="0" dirty="0">
                <a:ln>
                  <a:noFill/>
                </a:ln>
                <a:solidFill>
                  <a:schemeClr val="tx1"/>
                </a:solidFill>
                <a:effectLst/>
                <a:latin typeface="Baloo 2" panose="020B0604020202020204" charset="0"/>
                <a:cs typeface="Baloo 2" panose="020B0604020202020204" charset="0"/>
              </a:rPr>
              <a:t>To extract and interpret the underlying structure of online discourse from a restricted social media dataset</a:t>
            </a:r>
            <a:endParaRPr lang="en-ZA" dirty="0">
              <a:latin typeface="Baloo 2" panose="020B0604020202020204" charset="0"/>
              <a:cs typeface="Baloo 2" panose="020B0604020202020204" charset="0"/>
            </a:endParaRPr>
          </a:p>
        </p:txBody>
      </p:sp>
      <p:sp>
        <p:nvSpPr>
          <p:cNvPr id="9" name="TextBox 8">
            <a:extLst>
              <a:ext uri="{FF2B5EF4-FFF2-40B4-BE49-F238E27FC236}">
                <a16:creationId xmlns:a16="http://schemas.microsoft.com/office/drawing/2014/main" id="{C3D392A8-9439-9B37-619B-528C3C9167E2}"/>
              </a:ext>
            </a:extLst>
          </p:cNvPr>
          <p:cNvSpPr txBox="1"/>
          <p:nvPr/>
        </p:nvSpPr>
        <p:spPr>
          <a:xfrm>
            <a:off x="720000" y="2092195"/>
            <a:ext cx="462915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Core Objectives</a:t>
            </a:r>
            <a:endParaRPr lang="en-ZA" dirty="0">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EF39B944-D67A-8EF3-BF98-8B5BDC32BE8C}"/>
              </a:ext>
            </a:extLst>
          </p:cNvPr>
          <p:cNvSpPr txBox="1"/>
          <p:nvPr/>
        </p:nvSpPr>
        <p:spPr>
          <a:xfrm>
            <a:off x="750480" y="2395880"/>
            <a:ext cx="6501765" cy="1169551"/>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Identify dominant themes using Topic Modelling.</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Map the aggregate emotional tone using Sentiment Analysis.</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Identify emotional tone, dominant themes, and discursive dynamics</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Visualize the connections between topics and sentiments (Discourse Mapping)</a:t>
            </a:r>
          </a:p>
          <a:p>
            <a:pPr marL="285750" indent="-285750">
              <a:buFont typeface="Arial" panose="020B0604020202020204" pitchFamily="34" charset="0"/>
              <a:buChar char="•"/>
            </a:pPr>
            <a:endParaRPr lang="en-ZA" dirty="0">
              <a:latin typeface="Baloo 2" panose="020B0604020202020204" charset="0"/>
              <a:cs typeface="Baloo 2" panose="020B0604020202020204" charset="0"/>
            </a:endParaRPr>
          </a:p>
        </p:txBody>
      </p:sp>
      <p:sp>
        <p:nvSpPr>
          <p:cNvPr id="11" name="TextBox 10">
            <a:extLst>
              <a:ext uri="{FF2B5EF4-FFF2-40B4-BE49-F238E27FC236}">
                <a16:creationId xmlns:a16="http://schemas.microsoft.com/office/drawing/2014/main" id="{2643CA81-FFA7-F9FC-052D-55D015E28C61}"/>
              </a:ext>
            </a:extLst>
          </p:cNvPr>
          <p:cNvSpPr txBox="1"/>
          <p:nvPr/>
        </p:nvSpPr>
        <p:spPr>
          <a:xfrm>
            <a:off x="720000" y="3472364"/>
            <a:ext cx="462915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Ethical Constraints</a:t>
            </a:r>
            <a:endParaRPr lang="en-ZA" dirty="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7CB955A6-5815-FF07-F61E-304C47CB355A}"/>
              </a:ext>
            </a:extLst>
          </p:cNvPr>
          <p:cNvSpPr txBox="1"/>
          <p:nvPr/>
        </p:nvSpPr>
        <p:spPr>
          <a:xfrm>
            <a:off x="720000" y="3778127"/>
            <a:ext cx="6854280" cy="738664"/>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This project used a sensitive dataset subject to a Non-Disclosure Agreement (NDA).</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All analysis was performed at the aggregate level.</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No individuals were identified, and all participant privacy was strictly respected.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Analytical Pipeline (Methodology)</a:t>
            </a:r>
            <a:endParaRPr dirty="0"/>
          </a:p>
        </p:txBody>
      </p:sp>
      <p:sp>
        <p:nvSpPr>
          <p:cNvPr id="496" name="Google Shape;496;p28"/>
          <p:cNvSpPr txBox="1">
            <a:spLocks noGrp="1"/>
          </p:cNvSpPr>
          <p:nvPr>
            <p:ph type="subTitle" idx="1"/>
          </p:nvPr>
        </p:nvSpPr>
        <p:spPr>
          <a:xfrm>
            <a:off x="788530" y="1064951"/>
            <a:ext cx="5101680" cy="438844"/>
          </a:xfrm>
          <a:prstGeom prst="rect">
            <a:avLst/>
          </a:prstGeom>
        </p:spPr>
        <p:txBody>
          <a:bodyPr spcFirstLastPara="1" wrap="square" lIns="91425" tIns="91425" rIns="91425" bIns="91425" anchor="t" anchorCtr="0">
            <a:noAutofit/>
          </a:bodyPr>
          <a:lstStyle/>
          <a:p>
            <a:pPr marL="0" lvl="0" indent="0"/>
            <a:r>
              <a:rPr lang="en-ZA" dirty="0"/>
              <a:t>Data Preprocessing</a:t>
            </a:r>
            <a:endParaRPr dirty="0"/>
          </a:p>
        </p:txBody>
      </p:sp>
      <p:grpSp>
        <p:nvGrpSpPr>
          <p:cNvPr id="502" name="Google Shape;502;p28"/>
          <p:cNvGrpSpPr/>
          <p:nvPr/>
        </p:nvGrpSpPr>
        <p:grpSpPr>
          <a:xfrm flipH="1">
            <a:off x="8047676" y="3682524"/>
            <a:ext cx="1934328" cy="1789007"/>
            <a:chOff x="4113000" y="1745425"/>
            <a:chExt cx="1077500" cy="996550"/>
          </a:xfrm>
        </p:grpSpPr>
        <p:sp>
          <p:nvSpPr>
            <p:cNvPr id="503" name="Google Shape;503;p28"/>
            <p:cNvSpPr/>
            <p:nvPr/>
          </p:nvSpPr>
          <p:spPr>
            <a:xfrm>
              <a:off x="4119725" y="1787300"/>
              <a:ext cx="1064450" cy="954675"/>
            </a:xfrm>
            <a:custGeom>
              <a:avLst/>
              <a:gdLst/>
              <a:ahLst/>
              <a:cxnLst/>
              <a:rect l="l" t="t" r="r" b="b"/>
              <a:pathLst>
                <a:path w="42578" h="38187" extrusionOk="0">
                  <a:moveTo>
                    <a:pt x="20250" y="0"/>
                  </a:moveTo>
                  <a:cubicBezTo>
                    <a:pt x="19440" y="0"/>
                    <a:pt x="18614" y="398"/>
                    <a:pt x="18233" y="1019"/>
                  </a:cubicBezTo>
                  <a:lnTo>
                    <a:pt x="9" y="29694"/>
                  </a:lnTo>
                  <a:cubicBezTo>
                    <a:pt x="9" y="29694"/>
                    <a:pt x="1" y="31174"/>
                    <a:pt x="9" y="31404"/>
                  </a:cubicBezTo>
                  <a:cubicBezTo>
                    <a:pt x="25" y="31934"/>
                    <a:pt x="420" y="32393"/>
                    <a:pt x="1093" y="32576"/>
                  </a:cubicBezTo>
                  <a:lnTo>
                    <a:pt x="21725" y="38109"/>
                  </a:lnTo>
                  <a:cubicBezTo>
                    <a:pt x="21917" y="38162"/>
                    <a:pt x="22118" y="38186"/>
                    <a:pt x="22319" y="38186"/>
                  </a:cubicBezTo>
                  <a:cubicBezTo>
                    <a:pt x="23127" y="38186"/>
                    <a:pt x="23949" y="37788"/>
                    <a:pt x="24329" y="37167"/>
                  </a:cubicBezTo>
                  <a:lnTo>
                    <a:pt x="42356" y="7487"/>
                  </a:lnTo>
                  <a:cubicBezTo>
                    <a:pt x="42522" y="7226"/>
                    <a:pt x="42578" y="6949"/>
                    <a:pt x="42554" y="6696"/>
                  </a:cubicBezTo>
                  <a:cubicBezTo>
                    <a:pt x="42490" y="6205"/>
                    <a:pt x="42562" y="5199"/>
                    <a:pt x="42562" y="5199"/>
                  </a:cubicBezTo>
                  <a:lnTo>
                    <a:pt x="20846" y="77"/>
                  </a:lnTo>
                  <a:cubicBezTo>
                    <a:pt x="20653" y="25"/>
                    <a:pt x="20452" y="0"/>
                    <a:pt x="20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8"/>
            <p:cNvSpPr/>
            <p:nvPr/>
          </p:nvSpPr>
          <p:spPr>
            <a:xfrm>
              <a:off x="4113000" y="1745425"/>
              <a:ext cx="1077500" cy="954600"/>
            </a:xfrm>
            <a:custGeom>
              <a:avLst/>
              <a:gdLst/>
              <a:ahLst/>
              <a:cxnLst/>
              <a:rect l="l" t="t" r="r" b="b"/>
              <a:pathLst>
                <a:path w="43100" h="38184" extrusionOk="0">
                  <a:moveTo>
                    <a:pt x="20526" y="0"/>
                  </a:moveTo>
                  <a:cubicBezTo>
                    <a:pt x="19714" y="0"/>
                    <a:pt x="18884" y="393"/>
                    <a:pt x="18502" y="1016"/>
                  </a:cubicBezTo>
                  <a:lnTo>
                    <a:pt x="476" y="30696"/>
                  </a:lnTo>
                  <a:cubicBezTo>
                    <a:pt x="1" y="31472"/>
                    <a:pt x="397" y="32319"/>
                    <a:pt x="1362" y="32572"/>
                  </a:cubicBezTo>
                  <a:lnTo>
                    <a:pt x="21994" y="38106"/>
                  </a:lnTo>
                  <a:cubicBezTo>
                    <a:pt x="22188" y="38159"/>
                    <a:pt x="22390" y="38184"/>
                    <a:pt x="22594" y="38184"/>
                  </a:cubicBezTo>
                  <a:cubicBezTo>
                    <a:pt x="23400" y="38184"/>
                    <a:pt x="24219" y="37790"/>
                    <a:pt x="24598" y="37164"/>
                  </a:cubicBezTo>
                  <a:lnTo>
                    <a:pt x="42625" y="7492"/>
                  </a:lnTo>
                  <a:cubicBezTo>
                    <a:pt x="43100" y="6708"/>
                    <a:pt x="42704" y="5869"/>
                    <a:pt x="41738" y="5608"/>
                  </a:cubicBezTo>
                  <a:lnTo>
                    <a:pt x="21115" y="74"/>
                  </a:lnTo>
                  <a:cubicBezTo>
                    <a:pt x="20924" y="24"/>
                    <a:pt x="20726" y="0"/>
                    <a:pt x="2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8"/>
            <p:cNvSpPr/>
            <p:nvPr/>
          </p:nvSpPr>
          <p:spPr>
            <a:xfrm>
              <a:off x="4118350" y="1930925"/>
              <a:ext cx="1063250" cy="772300"/>
            </a:xfrm>
            <a:custGeom>
              <a:avLst/>
              <a:gdLst/>
              <a:ahLst/>
              <a:cxnLst/>
              <a:rect l="l" t="t" r="r" b="b"/>
              <a:pathLst>
                <a:path w="42530" h="30892" extrusionOk="0">
                  <a:moveTo>
                    <a:pt x="42300" y="1"/>
                  </a:moveTo>
                  <a:lnTo>
                    <a:pt x="24273" y="29673"/>
                  </a:lnTo>
                  <a:cubicBezTo>
                    <a:pt x="23919" y="30261"/>
                    <a:pt x="23140" y="30632"/>
                    <a:pt x="22377" y="30632"/>
                  </a:cubicBezTo>
                  <a:cubicBezTo>
                    <a:pt x="22185" y="30632"/>
                    <a:pt x="21994" y="30609"/>
                    <a:pt x="21811" y="30559"/>
                  </a:cubicBezTo>
                  <a:lnTo>
                    <a:pt x="1188" y="25026"/>
                  </a:lnTo>
                  <a:cubicBezTo>
                    <a:pt x="721" y="24907"/>
                    <a:pt x="380" y="24630"/>
                    <a:pt x="246" y="24266"/>
                  </a:cubicBezTo>
                  <a:lnTo>
                    <a:pt x="0" y="24361"/>
                  </a:lnTo>
                  <a:cubicBezTo>
                    <a:pt x="159" y="24796"/>
                    <a:pt x="570" y="25136"/>
                    <a:pt x="1117" y="25287"/>
                  </a:cubicBezTo>
                  <a:lnTo>
                    <a:pt x="21740" y="30813"/>
                  </a:lnTo>
                  <a:cubicBezTo>
                    <a:pt x="21946" y="30868"/>
                    <a:pt x="22152" y="30892"/>
                    <a:pt x="22365" y="30892"/>
                  </a:cubicBezTo>
                  <a:cubicBezTo>
                    <a:pt x="23220" y="30892"/>
                    <a:pt x="24091" y="30472"/>
                    <a:pt x="24495" y="29815"/>
                  </a:cubicBezTo>
                  <a:lnTo>
                    <a:pt x="42530" y="135"/>
                  </a:lnTo>
                  <a:lnTo>
                    <a:pt x="423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8"/>
            <p:cNvSpPr/>
            <p:nvPr/>
          </p:nvSpPr>
          <p:spPr>
            <a:xfrm>
              <a:off x="4167825" y="1785950"/>
              <a:ext cx="970025" cy="859175"/>
            </a:xfrm>
            <a:custGeom>
              <a:avLst/>
              <a:gdLst/>
              <a:ahLst/>
              <a:cxnLst/>
              <a:rect l="l" t="t" r="r" b="b"/>
              <a:pathLst>
                <a:path w="38801" h="34367" extrusionOk="0">
                  <a:moveTo>
                    <a:pt x="18477" y="1"/>
                  </a:moveTo>
                  <a:cubicBezTo>
                    <a:pt x="17746" y="1"/>
                    <a:pt x="17001" y="356"/>
                    <a:pt x="16658" y="915"/>
                  </a:cubicBezTo>
                  <a:lnTo>
                    <a:pt x="428" y="27626"/>
                  </a:lnTo>
                  <a:cubicBezTo>
                    <a:pt x="1" y="28331"/>
                    <a:pt x="365" y="29091"/>
                    <a:pt x="1236" y="29320"/>
                  </a:cubicBezTo>
                  <a:lnTo>
                    <a:pt x="19793" y="34300"/>
                  </a:lnTo>
                  <a:cubicBezTo>
                    <a:pt x="19965" y="34345"/>
                    <a:pt x="20144" y="34367"/>
                    <a:pt x="20324" y="34367"/>
                  </a:cubicBezTo>
                  <a:cubicBezTo>
                    <a:pt x="21055" y="34367"/>
                    <a:pt x="21801" y="34012"/>
                    <a:pt x="22144" y="33453"/>
                  </a:cubicBezTo>
                  <a:lnTo>
                    <a:pt x="38374" y="6742"/>
                  </a:lnTo>
                  <a:cubicBezTo>
                    <a:pt x="38801" y="6037"/>
                    <a:pt x="38437" y="5285"/>
                    <a:pt x="37566" y="5048"/>
                  </a:cubicBezTo>
                  <a:lnTo>
                    <a:pt x="33251" y="3892"/>
                  </a:lnTo>
                  <a:lnTo>
                    <a:pt x="32713" y="4770"/>
                  </a:lnTo>
                  <a:cubicBezTo>
                    <a:pt x="32536" y="5061"/>
                    <a:pt x="32157" y="5241"/>
                    <a:pt x="31781" y="5241"/>
                  </a:cubicBezTo>
                  <a:cubicBezTo>
                    <a:pt x="31687" y="5241"/>
                    <a:pt x="31592" y="5230"/>
                    <a:pt x="31502" y="5206"/>
                  </a:cubicBezTo>
                  <a:lnTo>
                    <a:pt x="21946" y="2649"/>
                  </a:lnTo>
                  <a:cubicBezTo>
                    <a:pt x="21503" y="2522"/>
                    <a:pt x="21313" y="2134"/>
                    <a:pt x="21534" y="1778"/>
                  </a:cubicBezTo>
                  <a:lnTo>
                    <a:pt x="22073" y="891"/>
                  </a:lnTo>
                  <a:lnTo>
                    <a:pt x="19009" y="68"/>
                  </a:lnTo>
                  <a:cubicBezTo>
                    <a:pt x="18837" y="22"/>
                    <a:pt x="18657" y="1"/>
                    <a:pt x="18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8"/>
            <p:cNvSpPr/>
            <p:nvPr/>
          </p:nvSpPr>
          <p:spPr>
            <a:xfrm>
              <a:off x="4459175" y="1890775"/>
              <a:ext cx="579325" cy="365925"/>
            </a:xfrm>
            <a:custGeom>
              <a:avLst/>
              <a:gdLst/>
              <a:ahLst/>
              <a:cxnLst/>
              <a:rect l="l" t="t" r="r" b="b"/>
              <a:pathLst>
                <a:path w="23173" h="14637" extrusionOk="0">
                  <a:moveTo>
                    <a:pt x="6823" y="0"/>
                  </a:moveTo>
                  <a:cubicBezTo>
                    <a:pt x="6293" y="0"/>
                    <a:pt x="5787" y="276"/>
                    <a:pt x="5502" y="744"/>
                  </a:cubicBezTo>
                  <a:lnTo>
                    <a:pt x="277" y="9349"/>
                  </a:lnTo>
                  <a:cubicBezTo>
                    <a:pt x="0" y="9793"/>
                    <a:pt x="238" y="10370"/>
                    <a:pt x="736" y="10505"/>
                  </a:cubicBezTo>
                  <a:lnTo>
                    <a:pt x="15945" y="14582"/>
                  </a:lnTo>
                  <a:cubicBezTo>
                    <a:pt x="16079" y="14619"/>
                    <a:pt x="16215" y="14637"/>
                    <a:pt x="16350" y="14637"/>
                  </a:cubicBezTo>
                  <a:cubicBezTo>
                    <a:pt x="16880" y="14637"/>
                    <a:pt x="17386" y="14361"/>
                    <a:pt x="17671" y="13893"/>
                  </a:cubicBezTo>
                  <a:lnTo>
                    <a:pt x="22904" y="5288"/>
                  </a:lnTo>
                  <a:cubicBezTo>
                    <a:pt x="23173" y="4845"/>
                    <a:pt x="22935" y="4267"/>
                    <a:pt x="22436" y="4132"/>
                  </a:cubicBezTo>
                  <a:lnTo>
                    <a:pt x="7228" y="55"/>
                  </a:lnTo>
                  <a:cubicBezTo>
                    <a:pt x="7094" y="18"/>
                    <a:pt x="6958" y="0"/>
                    <a:pt x="6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8"/>
            <p:cNvSpPr/>
            <p:nvPr/>
          </p:nvSpPr>
          <p:spPr>
            <a:xfrm>
              <a:off x="4384350" y="2207625"/>
              <a:ext cx="445350" cy="153400"/>
            </a:xfrm>
            <a:custGeom>
              <a:avLst/>
              <a:gdLst/>
              <a:ahLst/>
              <a:cxnLst/>
              <a:rect l="l" t="t" r="r" b="b"/>
              <a:pathLst>
                <a:path w="17814" h="6136" extrusionOk="0">
                  <a:moveTo>
                    <a:pt x="816" y="0"/>
                  </a:moveTo>
                  <a:lnTo>
                    <a:pt x="1" y="1346"/>
                  </a:lnTo>
                  <a:lnTo>
                    <a:pt x="16998" y="6136"/>
                  </a:lnTo>
                  <a:lnTo>
                    <a:pt x="17814" y="4790"/>
                  </a:lnTo>
                  <a:lnTo>
                    <a:pt x="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8"/>
            <p:cNvSpPr/>
            <p:nvPr/>
          </p:nvSpPr>
          <p:spPr>
            <a:xfrm>
              <a:off x="4344375" y="2272525"/>
              <a:ext cx="445350" cy="153425"/>
            </a:xfrm>
            <a:custGeom>
              <a:avLst/>
              <a:gdLst/>
              <a:ahLst/>
              <a:cxnLst/>
              <a:rect l="l" t="t" r="r" b="b"/>
              <a:pathLst>
                <a:path w="17814" h="6137" extrusionOk="0">
                  <a:moveTo>
                    <a:pt x="816" y="1"/>
                  </a:moveTo>
                  <a:lnTo>
                    <a:pt x="0" y="1347"/>
                  </a:lnTo>
                  <a:lnTo>
                    <a:pt x="16998" y="6136"/>
                  </a:lnTo>
                  <a:lnTo>
                    <a:pt x="17813" y="4799"/>
                  </a:lnTo>
                  <a:lnTo>
                    <a:pt x="8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4304400" y="2337450"/>
              <a:ext cx="445350" cy="153425"/>
            </a:xfrm>
            <a:custGeom>
              <a:avLst/>
              <a:gdLst/>
              <a:ahLst/>
              <a:cxnLst/>
              <a:rect l="l" t="t" r="r" b="b"/>
              <a:pathLst>
                <a:path w="17814" h="6137" extrusionOk="0">
                  <a:moveTo>
                    <a:pt x="816" y="1"/>
                  </a:moveTo>
                  <a:lnTo>
                    <a:pt x="0" y="1347"/>
                  </a:lnTo>
                  <a:lnTo>
                    <a:pt x="16998" y="6136"/>
                  </a:lnTo>
                  <a:lnTo>
                    <a:pt x="17813" y="4798"/>
                  </a:lnTo>
                  <a:lnTo>
                    <a:pt x="8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4264425" y="2402375"/>
              <a:ext cx="445125" cy="153400"/>
            </a:xfrm>
            <a:custGeom>
              <a:avLst/>
              <a:gdLst/>
              <a:ahLst/>
              <a:cxnLst/>
              <a:rect l="l" t="t" r="r" b="b"/>
              <a:pathLst>
                <a:path w="17805" h="6136" extrusionOk="0">
                  <a:moveTo>
                    <a:pt x="815" y="0"/>
                  </a:moveTo>
                  <a:lnTo>
                    <a:pt x="0" y="1346"/>
                  </a:lnTo>
                  <a:lnTo>
                    <a:pt x="16997" y="6136"/>
                  </a:lnTo>
                  <a:lnTo>
                    <a:pt x="17805" y="4798"/>
                  </a:lnTo>
                  <a:lnTo>
                    <a:pt x="8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Rectangle 2">
            <a:extLst>
              <a:ext uri="{FF2B5EF4-FFF2-40B4-BE49-F238E27FC236}">
                <a16:creationId xmlns:a16="http://schemas.microsoft.com/office/drawing/2014/main" id="{AA3F8063-8C2C-C5CB-3205-7E26016E634E}"/>
              </a:ext>
            </a:extLst>
          </p:cNvPr>
          <p:cNvSpPr>
            <a:spLocks noChangeArrowheads="1"/>
          </p:cNvSpPr>
          <p:nvPr/>
        </p:nvSpPr>
        <p:spPr bwMode="auto">
          <a:xfrm>
            <a:off x="788530" y="1470860"/>
            <a:ext cx="476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Cleaning text (removing noise, links, special characters).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Tokenization and lemmatization to standardize words</a:t>
            </a:r>
          </a:p>
        </p:txBody>
      </p:sp>
      <p:sp>
        <p:nvSpPr>
          <p:cNvPr id="26" name="Google Shape;496;p28">
            <a:extLst>
              <a:ext uri="{FF2B5EF4-FFF2-40B4-BE49-F238E27FC236}">
                <a16:creationId xmlns:a16="http://schemas.microsoft.com/office/drawing/2014/main" id="{75D0F6A2-75EA-1D33-699A-58F02AE3F90B}"/>
              </a:ext>
            </a:extLst>
          </p:cNvPr>
          <p:cNvSpPr txBox="1">
            <a:spLocks/>
          </p:cNvSpPr>
          <p:nvPr/>
        </p:nvSpPr>
        <p:spPr>
          <a:xfrm>
            <a:off x="813677" y="1906968"/>
            <a:ext cx="5101680" cy="4388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ZA" dirty="0"/>
              <a:t>Sentiment Analysis</a:t>
            </a:r>
          </a:p>
        </p:txBody>
      </p:sp>
      <p:sp>
        <p:nvSpPr>
          <p:cNvPr id="27" name="Rectangle 2">
            <a:extLst>
              <a:ext uri="{FF2B5EF4-FFF2-40B4-BE49-F238E27FC236}">
                <a16:creationId xmlns:a16="http://schemas.microsoft.com/office/drawing/2014/main" id="{BD1DB8F9-7256-41BC-A488-41F0AFB5DAF3}"/>
              </a:ext>
            </a:extLst>
          </p:cNvPr>
          <p:cNvSpPr>
            <a:spLocks noChangeArrowheads="1"/>
          </p:cNvSpPr>
          <p:nvPr/>
        </p:nvSpPr>
        <p:spPr bwMode="auto">
          <a:xfrm>
            <a:off x="813677" y="2310140"/>
            <a:ext cx="476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ZA" altLang="en-US" b="0" i="0" u="none" strike="noStrike" cap="none" normalizeH="0" baseline="0" dirty="0">
                <a:ln>
                  <a:noFill/>
                </a:ln>
                <a:solidFill>
                  <a:schemeClr val="tx1"/>
                </a:solidFill>
                <a:effectLst/>
                <a:latin typeface="Baloo 2" panose="020B0604020202020204" charset="0"/>
                <a:cs typeface="Baloo 2" panose="020B0604020202020204" charset="0"/>
              </a:rPr>
              <a:t>Classified each document into Positive, Negative, or Mixed/Neutral categories to get the emotional "pulse."</a:t>
            </a:r>
            <a:endPar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endParaRPr>
          </a:p>
        </p:txBody>
      </p:sp>
      <p:sp>
        <p:nvSpPr>
          <p:cNvPr id="28" name="Google Shape;496;p28">
            <a:extLst>
              <a:ext uri="{FF2B5EF4-FFF2-40B4-BE49-F238E27FC236}">
                <a16:creationId xmlns:a16="http://schemas.microsoft.com/office/drawing/2014/main" id="{F2D169B9-0E60-CDD7-1EB0-BBA700A0C1CD}"/>
              </a:ext>
            </a:extLst>
          </p:cNvPr>
          <p:cNvSpPr txBox="1">
            <a:spLocks/>
          </p:cNvSpPr>
          <p:nvPr/>
        </p:nvSpPr>
        <p:spPr>
          <a:xfrm>
            <a:off x="788530" y="2748984"/>
            <a:ext cx="5101680" cy="3882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ZA" dirty="0"/>
              <a:t>Topic </a:t>
            </a:r>
            <a:r>
              <a:rPr lang="en-ZA" dirty="0" err="1"/>
              <a:t>Modeling</a:t>
            </a:r>
            <a:r>
              <a:rPr lang="en-ZA" dirty="0"/>
              <a:t> (</a:t>
            </a:r>
            <a:r>
              <a:rPr lang="en-ZA" dirty="0" err="1"/>
              <a:t>BERTopic</a:t>
            </a:r>
            <a:r>
              <a:rPr lang="en-ZA" dirty="0"/>
              <a:t>)</a:t>
            </a:r>
          </a:p>
        </p:txBody>
      </p:sp>
      <p:sp>
        <p:nvSpPr>
          <p:cNvPr id="29" name="Rectangle 2">
            <a:extLst>
              <a:ext uri="{FF2B5EF4-FFF2-40B4-BE49-F238E27FC236}">
                <a16:creationId xmlns:a16="http://schemas.microsoft.com/office/drawing/2014/main" id="{C3EDA115-6DE7-508D-235F-078B53ECBC84}"/>
              </a:ext>
            </a:extLst>
          </p:cNvPr>
          <p:cNvSpPr>
            <a:spLocks noChangeArrowheads="1"/>
          </p:cNvSpPr>
          <p:nvPr/>
        </p:nvSpPr>
        <p:spPr bwMode="auto">
          <a:xfrm>
            <a:off x="788530" y="3137206"/>
            <a:ext cx="48350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ZA" altLang="en-US" b="0" i="0" u="none" strike="noStrike" cap="none" normalizeH="0" baseline="0" dirty="0">
                <a:ln>
                  <a:noFill/>
                </a:ln>
                <a:solidFill>
                  <a:schemeClr val="tx1"/>
                </a:solidFill>
                <a:effectLst/>
                <a:latin typeface="Baloo 2" panose="020B0604020202020204" charset="0"/>
                <a:cs typeface="Baloo 2" panose="020B0604020202020204" charset="0"/>
              </a:rPr>
              <a:t>Used a powerful, modern algorithm (</a:t>
            </a:r>
            <a:r>
              <a:rPr kumimoji="0" lang="en-ZA" altLang="en-US" b="0" i="0" u="none" strike="noStrike" cap="none" normalizeH="0" baseline="0" dirty="0" err="1">
                <a:ln>
                  <a:noFill/>
                </a:ln>
                <a:solidFill>
                  <a:schemeClr val="tx1"/>
                </a:solidFill>
                <a:effectLst/>
                <a:latin typeface="Baloo 2" panose="020B0604020202020204" charset="0"/>
                <a:cs typeface="Baloo 2" panose="020B0604020202020204" charset="0"/>
              </a:rPr>
              <a:t>BERTopic</a:t>
            </a:r>
            <a:r>
              <a:rPr kumimoji="0" lang="en-ZA" altLang="en-US" b="0" i="0" u="none" strike="noStrike" cap="none" normalizeH="0" baseline="0" dirty="0">
                <a:ln>
                  <a:noFill/>
                </a:ln>
                <a:solidFill>
                  <a:schemeClr val="tx1"/>
                </a:solidFill>
                <a:effectLst/>
                <a:latin typeface="Baloo 2" panose="020B0604020202020204" charset="0"/>
                <a:cs typeface="Baloo 2" panose="020B0604020202020204" charset="0"/>
              </a:rPr>
              <a:t>) to cluster documents and discover the dominant, coherent themes.</a:t>
            </a:r>
            <a:endPar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endParaRPr>
          </a:p>
        </p:txBody>
      </p:sp>
      <p:sp>
        <p:nvSpPr>
          <p:cNvPr id="30" name="Google Shape;496;p28">
            <a:extLst>
              <a:ext uri="{FF2B5EF4-FFF2-40B4-BE49-F238E27FC236}">
                <a16:creationId xmlns:a16="http://schemas.microsoft.com/office/drawing/2014/main" id="{DF269275-C2F5-709E-873A-FE0AFE27E506}"/>
              </a:ext>
            </a:extLst>
          </p:cNvPr>
          <p:cNvSpPr txBox="1">
            <a:spLocks/>
          </p:cNvSpPr>
          <p:nvPr/>
        </p:nvSpPr>
        <p:spPr>
          <a:xfrm>
            <a:off x="813676" y="3576050"/>
            <a:ext cx="5902083" cy="490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ZA" dirty="0"/>
              <a:t>Knowledge Mapping  and Discourse Structure</a:t>
            </a:r>
          </a:p>
        </p:txBody>
      </p:sp>
      <p:sp>
        <p:nvSpPr>
          <p:cNvPr id="33" name="Rectangle 4">
            <a:extLst>
              <a:ext uri="{FF2B5EF4-FFF2-40B4-BE49-F238E27FC236}">
                <a16:creationId xmlns:a16="http://schemas.microsoft.com/office/drawing/2014/main" id="{6285B4FE-E55B-12D9-8F69-A0FACB409321}"/>
              </a:ext>
            </a:extLst>
          </p:cNvPr>
          <p:cNvSpPr>
            <a:spLocks noChangeArrowheads="1"/>
          </p:cNvSpPr>
          <p:nvPr/>
        </p:nvSpPr>
        <p:spPr bwMode="auto">
          <a:xfrm>
            <a:off x="788530" y="3970086"/>
            <a:ext cx="683063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Combined sentiment and topic data to see how emotion was distributed </a:t>
            </a:r>
            <a:r>
              <a:rPr kumimoji="0" lang="en-US" altLang="en-US" b="0" i="1" u="none" strike="noStrike" cap="none" normalizeH="0" baseline="0" dirty="0">
                <a:ln>
                  <a:noFill/>
                </a:ln>
                <a:solidFill>
                  <a:schemeClr val="tx1"/>
                </a:solidFill>
                <a:effectLst/>
                <a:latin typeface="Baloo 2" panose="020B0604020202020204" charset="0"/>
                <a:cs typeface="Baloo 2" panose="020B0604020202020204" charset="0"/>
              </a:rPr>
              <a:t>across</a:t>
            </a: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 different themes.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Analyzed topic evolution and connections.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29"/>
          <p:cNvSpPr txBox="1">
            <a:spLocks noGrp="1"/>
          </p:cNvSpPr>
          <p:nvPr>
            <p:ph type="title"/>
          </p:nvPr>
        </p:nvSpPr>
        <p:spPr>
          <a:xfrm>
            <a:off x="402089" y="428584"/>
            <a:ext cx="4689355" cy="572700"/>
          </a:xfrm>
          <a:prstGeom prst="rect">
            <a:avLst/>
          </a:prstGeom>
        </p:spPr>
        <p:txBody>
          <a:bodyPr spcFirstLastPara="1" wrap="square" lIns="91425" tIns="91425" rIns="91425" bIns="91425" anchor="b" anchorCtr="0">
            <a:noAutofit/>
          </a:bodyPr>
          <a:lstStyle/>
          <a:p>
            <a:r>
              <a:rPr lang="en-ZA" dirty="0"/>
              <a:t>Exploratory Data Analysis</a:t>
            </a:r>
            <a:endParaRPr lang="en-ZA" b="0" dirty="0"/>
          </a:p>
        </p:txBody>
      </p:sp>
      <p:grpSp>
        <p:nvGrpSpPr>
          <p:cNvPr id="519" name="Google Shape;519;p29"/>
          <p:cNvGrpSpPr/>
          <p:nvPr/>
        </p:nvGrpSpPr>
        <p:grpSpPr>
          <a:xfrm>
            <a:off x="8026698" y="202191"/>
            <a:ext cx="808155" cy="4690973"/>
            <a:chOff x="8026698" y="202191"/>
            <a:chExt cx="808155" cy="4690973"/>
          </a:xfrm>
        </p:grpSpPr>
        <p:grpSp>
          <p:nvGrpSpPr>
            <p:cNvPr id="520" name="Google Shape;520;p29"/>
            <p:cNvGrpSpPr/>
            <p:nvPr/>
          </p:nvGrpSpPr>
          <p:grpSpPr>
            <a:xfrm>
              <a:off x="8026698" y="4138122"/>
              <a:ext cx="808155" cy="755042"/>
              <a:chOff x="1169100" y="1853651"/>
              <a:chExt cx="581867" cy="543626"/>
            </a:xfrm>
          </p:grpSpPr>
          <p:sp>
            <p:nvSpPr>
              <p:cNvPr id="521" name="Google Shape;521;p29"/>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 name="Google Shape;524;p29"/>
            <p:cNvGrpSpPr/>
            <p:nvPr/>
          </p:nvGrpSpPr>
          <p:grpSpPr>
            <a:xfrm>
              <a:off x="8046146" y="202191"/>
              <a:ext cx="769278" cy="674581"/>
              <a:chOff x="1565409" y="2345016"/>
              <a:chExt cx="769278" cy="674581"/>
            </a:xfrm>
          </p:grpSpPr>
          <p:sp>
            <p:nvSpPr>
              <p:cNvPr id="525" name="Google Shape;525;p29"/>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9"/>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9"/>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9"/>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5324;p58">
            <a:extLst>
              <a:ext uri="{FF2B5EF4-FFF2-40B4-BE49-F238E27FC236}">
                <a16:creationId xmlns:a16="http://schemas.microsoft.com/office/drawing/2014/main" id="{860800E8-2F0E-1A3D-B07F-9566E6D20A6F}"/>
              </a:ext>
            </a:extLst>
          </p:cNvPr>
          <p:cNvGrpSpPr/>
          <p:nvPr/>
        </p:nvGrpSpPr>
        <p:grpSpPr>
          <a:xfrm>
            <a:off x="5014001" y="328056"/>
            <a:ext cx="311899" cy="339253"/>
            <a:chOff x="2104275" y="3806450"/>
            <a:chExt cx="442975" cy="481825"/>
          </a:xfrm>
        </p:grpSpPr>
        <p:sp>
          <p:nvSpPr>
            <p:cNvPr id="3" name="Google Shape;5325;p58">
              <a:extLst>
                <a:ext uri="{FF2B5EF4-FFF2-40B4-BE49-F238E27FC236}">
                  <a16:creationId xmlns:a16="http://schemas.microsoft.com/office/drawing/2014/main" id="{02CE56F5-9A3F-B4BB-F419-C7865EBF4FB7}"/>
                </a:ext>
              </a:extLst>
            </p:cNvPr>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5326;p58">
              <a:extLst>
                <a:ext uri="{FF2B5EF4-FFF2-40B4-BE49-F238E27FC236}">
                  <a16:creationId xmlns:a16="http://schemas.microsoft.com/office/drawing/2014/main" id="{237E262F-7BE0-A59B-634F-37282238801A}"/>
                </a:ext>
              </a:extLst>
            </p:cNvPr>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 name="TextBox 5">
            <a:extLst>
              <a:ext uri="{FF2B5EF4-FFF2-40B4-BE49-F238E27FC236}">
                <a16:creationId xmlns:a16="http://schemas.microsoft.com/office/drawing/2014/main" id="{6E652382-A612-7E02-E813-03D82AC3314A}"/>
              </a:ext>
            </a:extLst>
          </p:cNvPr>
          <p:cNvSpPr txBox="1"/>
          <p:nvPr/>
        </p:nvSpPr>
        <p:spPr>
          <a:xfrm>
            <a:off x="402089" y="1067481"/>
            <a:ext cx="462915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Dataset Overview</a:t>
            </a:r>
            <a:endParaRPr lang="en-ZA" dirty="0">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0EFDA54B-A428-11FF-ECB8-141627D0AC6A}"/>
              </a:ext>
            </a:extLst>
          </p:cNvPr>
          <p:cNvSpPr txBox="1"/>
          <p:nvPr/>
        </p:nvSpPr>
        <p:spPr>
          <a:xfrm>
            <a:off x="402089" y="1375258"/>
            <a:ext cx="6501765" cy="307777"/>
          </a:xfrm>
          <a:prstGeom prst="rect">
            <a:avLst/>
          </a:prstGeom>
          <a:noFill/>
        </p:spPr>
        <p:txBody>
          <a:bodyPr wrap="square">
            <a:spAutoFit/>
          </a:bodyPr>
          <a:lstStyle/>
          <a:p>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10,000 posts over 134 days (Jan 1 - May 15, 2023).</a:t>
            </a:r>
            <a:endParaRPr lang="en-ZA" dirty="0">
              <a:latin typeface="Baloo 2" panose="020B0604020202020204" charset="0"/>
              <a:cs typeface="Baloo 2" panose="020B0604020202020204" charset="0"/>
            </a:endParaRPr>
          </a:p>
        </p:txBody>
      </p:sp>
      <p:sp>
        <p:nvSpPr>
          <p:cNvPr id="10" name="TextBox 9">
            <a:extLst>
              <a:ext uri="{FF2B5EF4-FFF2-40B4-BE49-F238E27FC236}">
                <a16:creationId xmlns:a16="http://schemas.microsoft.com/office/drawing/2014/main" id="{91607F18-ADB6-7D95-4E3E-8B0677921C32}"/>
              </a:ext>
            </a:extLst>
          </p:cNvPr>
          <p:cNvSpPr txBox="1"/>
          <p:nvPr/>
        </p:nvSpPr>
        <p:spPr>
          <a:xfrm>
            <a:off x="402089" y="1650498"/>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Content Profile (A "Closed Garden"</a:t>
            </a:r>
            <a:endParaRPr lang="en-ZA"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B62A63F9-5B69-C358-D339-FAEA9DC156CB}"/>
              </a:ext>
            </a:extLst>
          </p:cNvPr>
          <p:cNvSpPr txBox="1"/>
          <p:nvPr/>
        </p:nvSpPr>
        <p:spPr>
          <a:xfrm>
            <a:off x="402089" y="1958275"/>
            <a:ext cx="4612675" cy="523220"/>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Avg. length: 34 words (Highly consistent, </a:t>
            </a:r>
            <a:r>
              <a:rPr kumimoji="0" lang="en-ZA" altLang="en-US" sz="1400" b="0" i="0" u="none" strike="noStrike" cap="none" normalizeH="0" baseline="0" dirty="0" err="1">
                <a:ln>
                  <a:noFill/>
                </a:ln>
                <a:solidFill>
                  <a:schemeClr val="tx1"/>
                </a:solidFill>
                <a:effectLst/>
                <a:latin typeface="Baloo 2" panose="020B0604020202020204" charset="0"/>
                <a:cs typeface="Baloo 2" panose="020B0604020202020204" charset="0"/>
              </a:rPr>
              <a:t>StdDev</a:t>
            </a: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 5.53).</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0% Mentions (@), 0% Hashtags (#), 0% URLs (http://).</a:t>
            </a:r>
            <a:endParaRPr lang="en-ZA" dirty="0">
              <a:latin typeface="Baloo 2" panose="020B0604020202020204" charset="0"/>
              <a:cs typeface="Baloo 2" panose="020B0604020202020204" charset="0"/>
            </a:endParaRPr>
          </a:p>
        </p:txBody>
      </p:sp>
      <p:sp>
        <p:nvSpPr>
          <p:cNvPr id="12" name="TextBox 11">
            <a:extLst>
              <a:ext uri="{FF2B5EF4-FFF2-40B4-BE49-F238E27FC236}">
                <a16:creationId xmlns:a16="http://schemas.microsoft.com/office/drawing/2014/main" id="{C21CC6D9-C36E-EDFB-381D-ACF973AD2C07}"/>
              </a:ext>
            </a:extLst>
          </p:cNvPr>
          <p:cNvSpPr txBox="1"/>
          <p:nvPr/>
        </p:nvSpPr>
        <p:spPr>
          <a:xfrm>
            <a:off x="402089" y="2448958"/>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User Activity (The "Wide, Shallow" Discourse</a:t>
            </a:r>
            <a:endParaRPr lang="en-ZA" dirty="0">
              <a:latin typeface="Poppins" panose="00000500000000000000" pitchFamily="2" charset="0"/>
              <a:cs typeface="Poppins" panose="00000500000000000000" pitchFamily="2" charset="0"/>
            </a:endParaRPr>
          </a:p>
        </p:txBody>
      </p:sp>
      <p:sp>
        <p:nvSpPr>
          <p:cNvPr id="13" name="TextBox 12">
            <a:extLst>
              <a:ext uri="{FF2B5EF4-FFF2-40B4-BE49-F238E27FC236}">
                <a16:creationId xmlns:a16="http://schemas.microsoft.com/office/drawing/2014/main" id="{DB2A7B5F-4D14-7E84-AD04-AC57F49EB056}"/>
              </a:ext>
            </a:extLst>
          </p:cNvPr>
          <p:cNvSpPr txBox="1"/>
          <p:nvPr/>
        </p:nvSpPr>
        <p:spPr>
          <a:xfrm>
            <a:off x="402089" y="2756735"/>
            <a:ext cx="6501765" cy="738664"/>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10,000 posts from 9,447 unique users.</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Avg. posts per user: 1.06.</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No "power users": Max posts by a single user was only 6.</a:t>
            </a:r>
          </a:p>
        </p:txBody>
      </p:sp>
      <p:sp>
        <p:nvSpPr>
          <p:cNvPr id="14" name="TextBox 13">
            <a:extLst>
              <a:ext uri="{FF2B5EF4-FFF2-40B4-BE49-F238E27FC236}">
                <a16:creationId xmlns:a16="http://schemas.microsoft.com/office/drawing/2014/main" id="{FA349B8A-F0A6-A3E5-1446-B3358007AA3B}"/>
              </a:ext>
            </a:extLst>
          </p:cNvPr>
          <p:cNvSpPr txBox="1"/>
          <p:nvPr/>
        </p:nvSpPr>
        <p:spPr>
          <a:xfrm>
            <a:off x="402089" y="3462862"/>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Temporal &amp; Engagement Profile</a:t>
            </a:r>
            <a:endParaRPr lang="en-ZA" dirty="0">
              <a:latin typeface="Poppins" panose="00000500000000000000" pitchFamily="2" charset="0"/>
              <a:cs typeface="Poppins" panose="00000500000000000000" pitchFamily="2" charset="0"/>
            </a:endParaRPr>
          </a:p>
        </p:txBody>
      </p:sp>
      <p:sp>
        <p:nvSpPr>
          <p:cNvPr id="15" name="TextBox 14">
            <a:extLst>
              <a:ext uri="{FF2B5EF4-FFF2-40B4-BE49-F238E27FC236}">
                <a16:creationId xmlns:a16="http://schemas.microsoft.com/office/drawing/2014/main" id="{9B5DEF23-C318-D93B-A5DF-BDA6ACEF8E8B}"/>
              </a:ext>
            </a:extLst>
          </p:cNvPr>
          <p:cNvSpPr txBox="1"/>
          <p:nvPr/>
        </p:nvSpPr>
        <p:spPr>
          <a:xfrm>
            <a:off x="402089" y="3770639"/>
            <a:ext cx="4612675" cy="954107"/>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Extremely stable 24/7/365 posting pattern (no organic peaks/valleys).</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High and stable engagement (Avg. ~50 likes &amp; ~50 retweets).</a:t>
            </a:r>
          </a:p>
        </p:txBody>
      </p:sp>
      <p:pic>
        <p:nvPicPr>
          <p:cNvPr id="3077" name="Picture 5">
            <a:extLst>
              <a:ext uri="{FF2B5EF4-FFF2-40B4-BE49-F238E27FC236}">
                <a16:creationId xmlns:a16="http://schemas.microsoft.com/office/drawing/2014/main" id="{DFEE9423-5438-8981-6DE3-0DF484B06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001" y="1208248"/>
            <a:ext cx="4119006" cy="2744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cxnSp>
        <p:nvCxnSpPr>
          <p:cNvPr id="534" name="Google Shape;534;p30"/>
          <p:cNvCxnSpPr/>
          <p:nvPr/>
        </p:nvCxnSpPr>
        <p:spPr>
          <a:xfrm rot="10800000">
            <a:off x="-123300" y="3512475"/>
            <a:ext cx="4758900" cy="1666800"/>
          </a:xfrm>
          <a:prstGeom prst="straightConnector1">
            <a:avLst/>
          </a:prstGeom>
          <a:noFill/>
          <a:ln w="9525" cap="flat" cmpd="sng">
            <a:solidFill>
              <a:schemeClr val="dk1"/>
            </a:solidFill>
            <a:prstDash val="dash"/>
            <a:round/>
            <a:headEnd type="none" w="med" len="med"/>
            <a:tailEnd type="none" w="med" len="med"/>
          </a:ln>
        </p:spPr>
      </p:cxnSp>
      <p:sp>
        <p:nvSpPr>
          <p:cNvPr id="535" name="Google Shape;535;p30"/>
          <p:cNvSpPr txBox="1">
            <a:spLocks noGrp="1"/>
          </p:cNvSpPr>
          <p:nvPr>
            <p:ph type="title"/>
          </p:nvPr>
        </p:nvSpPr>
        <p:spPr>
          <a:xfrm>
            <a:off x="2078767" y="13907"/>
            <a:ext cx="4986466" cy="511870"/>
          </a:xfrm>
          <a:prstGeom prst="rect">
            <a:avLst/>
          </a:prstGeom>
        </p:spPr>
        <p:txBody>
          <a:bodyPr spcFirstLastPara="1" wrap="square" lIns="91425" tIns="91425" rIns="91425" bIns="91425" anchor="t" anchorCtr="0">
            <a:noAutofit/>
          </a:bodyPr>
          <a:lstStyle/>
          <a:p>
            <a:pPr lvl="0"/>
            <a:r>
              <a:rPr lang="en-ZA" sz="2500" dirty="0"/>
              <a:t>Findings: Sentiment Analysis</a:t>
            </a:r>
            <a:endParaRPr sz="2500" dirty="0"/>
          </a:p>
        </p:txBody>
      </p:sp>
      <p:grpSp>
        <p:nvGrpSpPr>
          <p:cNvPr id="538" name="Google Shape;538;p30"/>
          <p:cNvGrpSpPr/>
          <p:nvPr/>
        </p:nvGrpSpPr>
        <p:grpSpPr>
          <a:xfrm>
            <a:off x="323975" y="328211"/>
            <a:ext cx="778480" cy="727317"/>
            <a:chOff x="1169100" y="1853651"/>
            <a:chExt cx="581867" cy="543626"/>
          </a:xfrm>
        </p:grpSpPr>
        <p:sp>
          <p:nvSpPr>
            <p:cNvPr id="539" name="Google Shape;539;p30"/>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a:extLst>
              <a:ext uri="{FF2B5EF4-FFF2-40B4-BE49-F238E27FC236}">
                <a16:creationId xmlns:a16="http://schemas.microsoft.com/office/drawing/2014/main" id="{5C553332-5B09-9ACA-8A80-AAFF43CA88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88" b="47893"/>
          <a:stretch>
            <a:fillRect/>
          </a:stretch>
        </p:blipFill>
        <p:spPr bwMode="auto">
          <a:xfrm>
            <a:off x="56915" y="1197835"/>
            <a:ext cx="4270719" cy="298523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C6C03D-7BE2-275C-F0CF-0BD522F9D6F9}"/>
              </a:ext>
            </a:extLst>
          </p:cNvPr>
          <p:cNvSpPr txBox="1"/>
          <p:nvPr/>
        </p:nvSpPr>
        <p:spPr>
          <a:xfrm>
            <a:off x="4384354" y="2137373"/>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Key Statistics from our Analysis</a:t>
            </a:r>
            <a:endParaRPr lang="en-ZA" dirty="0">
              <a:latin typeface="Poppins" panose="00000500000000000000" pitchFamily="2" charset="0"/>
              <a:cs typeface="Poppins" panose="00000500000000000000" pitchFamily="2" charset="0"/>
            </a:endParaRPr>
          </a:p>
        </p:txBody>
      </p:sp>
      <p:sp>
        <p:nvSpPr>
          <p:cNvPr id="8" name="Rectangle 3">
            <a:extLst>
              <a:ext uri="{FF2B5EF4-FFF2-40B4-BE49-F238E27FC236}">
                <a16:creationId xmlns:a16="http://schemas.microsoft.com/office/drawing/2014/main" id="{C86E3F0F-800A-16DC-DEFC-AECCB394ADF4}"/>
              </a:ext>
            </a:extLst>
          </p:cNvPr>
          <p:cNvSpPr>
            <a:spLocks noChangeArrowheads="1"/>
          </p:cNvSpPr>
          <p:nvPr/>
        </p:nvSpPr>
        <p:spPr bwMode="auto">
          <a:xfrm>
            <a:off x="4385099" y="2492955"/>
            <a:ext cx="475890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loo 2" panose="020B0604020202020204" charset="0"/>
                <a:cs typeface="Baloo 2" panose="020B0604020202020204" charset="0"/>
              </a:rPr>
              <a:t>63.19% Positive:</a:t>
            </a: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  </a:t>
            </a:r>
            <a:r>
              <a:rPr lang="en-US" altLang="en-US" dirty="0">
                <a:solidFill>
                  <a:schemeClr val="tx1"/>
                </a:solidFill>
                <a:latin typeface="Baloo 2" panose="020B0604020202020204" charset="0"/>
                <a:cs typeface="Baloo 2" panose="020B0604020202020204" charset="0"/>
              </a:rPr>
              <a:t>M</a:t>
            </a: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ajority of the conversation.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loo 2" panose="020B0604020202020204" charset="0"/>
                <a:cs typeface="Baloo 2" panose="020B0604020202020204" charset="0"/>
              </a:rPr>
              <a:t>11.08% Negative:</a:t>
            </a: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  A very small fraction, representing a low-risk baseline.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Baloo 2" panose="020B0604020202020204" charset="0"/>
                <a:cs typeface="Baloo 2" panose="020B0604020202020204" charset="0"/>
              </a:rPr>
              <a:t>25.73% Mixed / Neutral:</a:t>
            </a:r>
            <a:r>
              <a:rPr kumimoji="0" lang="en-US" altLang="en-US" b="0" i="0" u="none" strike="noStrike" cap="none" normalizeH="0" baseline="0" dirty="0">
                <a:ln>
                  <a:noFill/>
                </a:ln>
                <a:solidFill>
                  <a:schemeClr val="tx1"/>
                </a:solidFill>
                <a:effectLst/>
                <a:latin typeface="Baloo 2" panose="020B0604020202020204" charset="0"/>
                <a:cs typeface="Baloo 2" panose="020B0604020202020204" charset="0"/>
              </a:rPr>
              <a:t>  A significant portion of the discourse is nuanced, thoughtful, or not emotionally charge</a:t>
            </a:r>
          </a:p>
        </p:txBody>
      </p:sp>
      <p:sp>
        <p:nvSpPr>
          <p:cNvPr id="9" name="Rectangle 4">
            <a:extLst>
              <a:ext uri="{FF2B5EF4-FFF2-40B4-BE49-F238E27FC236}">
                <a16:creationId xmlns:a16="http://schemas.microsoft.com/office/drawing/2014/main" id="{5F4683D7-3759-8C6B-489A-B6A187DC89BC}"/>
              </a:ext>
            </a:extLst>
          </p:cNvPr>
          <p:cNvSpPr>
            <a:spLocks noChangeArrowheads="1"/>
          </p:cNvSpPr>
          <p:nvPr/>
        </p:nvSpPr>
        <p:spPr bwMode="auto">
          <a:xfrm>
            <a:off x="4384354" y="1341011"/>
            <a:ext cx="427071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Baloo 2" panose="020B0604020202020204" charset="0"/>
                <a:cs typeface="Baloo 2" panose="020B0604020202020204" charset="0"/>
              </a:rPr>
              <a:t>The overall discourse is overwhelmingly positive.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Baloo 2" panose="020B0604020202020204" charset="0"/>
                <a:cs typeface="Baloo 2" panose="020B0604020202020204" charset="0"/>
              </a:rPr>
              <a:t>This suggests a generally stable and favorable environment, not a crisis.</a:t>
            </a:r>
          </a:p>
        </p:txBody>
      </p:sp>
      <p:sp>
        <p:nvSpPr>
          <p:cNvPr id="10" name="TextBox 9">
            <a:extLst>
              <a:ext uri="{FF2B5EF4-FFF2-40B4-BE49-F238E27FC236}">
                <a16:creationId xmlns:a16="http://schemas.microsoft.com/office/drawing/2014/main" id="{07BCB0DB-A6C7-0A6F-8653-AD17F50163AF}"/>
              </a:ext>
            </a:extLst>
          </p:cNvPr>
          <p:cNvSpPr txBox="1"/>
          <p:nvPr/>
        </p:nvSpPr>
        <p:spPr>
          <a:xfrm>
            <a:off x="4384354" y="1002825"/>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Summary</a:t>
            </a:r>
            <a:endParaRPr lang="en-ZA" dirty="0">
              <a:latin typeface="Poppins" panose="00000500000000000000" pitchFamily="2" charset="0"/>
              <a:cs typeface="Poppins"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5">
          <a:extLst>
            <a:ext uri="{FF2B5EF4-FFF2-40B4-BE49-F238E27FC236}">
              <a16:creationId xmlns:a16="http://schemas.microsoft.com/office/drawing/2014/main" id="{DEBA017D-0F6A-DC3A-2AD1-C3A0D0C4F784}"/>
            </a:ext>
          </a:extLst>
        </p:cNvPr>
        <p:cNvGrpSpPr/>
        <p:nvPr/>
      </p:nvGrpSpPr>
      <p:grpSpPr>
        <a:xfrm>
          <a:off x="0" y="0"/>
          <a:ext cx="0" cy="0"/>
          <a:chOff x="0" y="0"/>
          <a:chExt cx="0" cy="0"/>
        </a:xfrm>
      </p:grpSpPr>
      <p:sp>
        <p:nvSpPr>
          <p:cNvPr id="516" name="Google Shape;516;p29">
            <a:extLst>
              <a:ext uri="{FF2B5EF4-FFF2-40B4-BE49-F238E27FC236}">
                <a16:creationId xmlns:a16="http://schemas.microsoft.com/office/drawing/2014/main" id="{E3998F09-5104-266E-C20B-C9D792417B1C}"/>
              </a:ext>
            </a:extLst>
          </p:cNvPr>
          <p:cNvSpPr txBox="1">
            <a:spLocks noGrp="1"/>
          </p:cNvSpPr>
          <p:nvPr>
            <p:ph type="title"/>
          </p:nvPr>
        </p:nvSpPr>
        <p:spPr>
          <a:xfrm>
            <a:off x="178733" y="505468"/>
            <a:ext cx="4689355" cy="572700"/>
          </a:xfrm>
          <a:prstGeom prst="rect">
            <a:avLst/>
          </a:prstGeom>
        </p:spPr>
        <p:txBody>
          <a:bodyPr spcFirstLastPara="1" wrap="square" lIns="91425" tIns="91425" rIns="91425" bIns="91425" anchor="b" anchorCtr="0">
            <a:noAutofit/>
          </a:bodyPr>
          <a:lstStyle/>
          <a:p>
            <a:r>
              <a:rPr lang="en-ZA" dirty="0"/>
              <a:t>Findings: Topic </a:t>
            </a:r>
            <a:r>
              <a:rPr lang="en-ZA" dirty="0" err="1"/>
              <a:t>Modeling</a:t>
            </a:r>
            <a:endParaRPr lang="en-ZA" b="0" dirty="0"/>
          </a:p>
        </p:txBody>
      </p:sp>
      <p:grpSp>
        <p:nvGrpSpPr>
          <p:cNvPr id="519" name="Google Shape;519;p29">
            <a:extLst>
              <a:ext uri="{FF2B5EF4-FFF2-40B4-BE49-F238E27FC236}">
                <a16:creationId xmlns:a16="http://schemas.microsoft.com/office/drawing/2014/main" id="{6220E51D-E881-4CF4-78FE-DAB901BF827D}"/>
              </a:ext>
            </a:extLst>
          </p:cNvPr>
          <p:cNvGrpSpPr/>
          <p:nvPr/>
        </p:nvGrpSpPr>
        <p:grpSpPr>
          <a:xfrm>
            <a:off x="8739922" y="414828"/>
            <a:ext cx="808155" cy="4690973"/>
            <a:chOff x="8026698" y="202191"/>
            <a:chExt cx="808155" cy="4690973"/>
          </a:xfrm>
        </p:grpSpPr>
        <p:grpSp>
          <p:nvGrpSpPr>
            <p:cNvPr id="520" name="Google Shape;520;p29">
              <a:extLst>
                <a:ext uri="{FF2B5EF4-FFF2-40B4-BE49-F238E27FC236}">
                  <a16:creationId xmlns:a16="http://schemas.microsoft.com/office/drawing/2014/main" id="{2CE47465-67AF-A9A9-F818-00CFC82FCE3E}"/>
                </a:ext>
              </a:extLst>
            </p:cNvPr>
            <p:cNvGrpSpPr/>
            <p:nvPr/>
          </p:nvGrpSpPr>
          <p:grpSpPr>
            <a:xfrm>
              <a:off x="8026698" y="4138122"/>
              <a:ext cx="808155" cy="755042"/>
              <a:chOff x="1169100" y="1853651"/>
              <a:chExt cx="581867" cy="543626"/>
            </a:xfrm>
          </p:grpSpPr>
          <p:sp>
            <p:nvSpPr>
              <p:cNvPr id="521" name="Google Shape;521;p29">
                <a:extLst>
                  <a:ext uri="{FF2B5EF4-FFF2-40B4-BE49-F238E27FC236}">
                    <a16:creationId xmlns:a16="http://schemas.microsoft.com/office/drawing/2014/main" id="{B7DD48BD-93A8-EAAB-486F-6464019C6ADA}"/>
                  </a:ext>
                </a:extLst>
              </p:cNvPr>
              <p:cNvSpPr/>
              <p:nvPr/>
            </p:nvSpPr>
            <p:spPr>
              <a:xfrm flipH="1">
                <a:off x="1169100" y="1853651"/>
                <a:ext cx="581867" cy="543626"/>
              </a:xfrm>
              <a:custGeom>
                <a:avLst/>
                <a:gdLst/>
                <a:ahLst/>
                <a:cxnLst/>
                <a:rect l="l" t="t" r="r" b="b"/>
                <a:pathLst>
                  <a:path w="6905" h="6451" extrusionOk="0">
                    <a:moveTo>
                      <a:pt x="3442" y="1"/>
                    </a:moveTo>
                    <a:cubicBezTo>
                      <a:pt x="1874" y="1"/>
                      <a:pt x="499" y="1148"/>
                      <a:pt x="262" y="2752"/>
                    </a:cubicBezTo>
                    <a:cubicBezTo>
                      <a:pt x="1" y="4517"/>
                      <a:pt x="1220" y="6156"/>
                      <a:pt x="2977" y="6417"/>
                    </a:cubicBezTo>
                    <a:cubicBezTo>
                      <a:pt x="3134" y="6440"/>
                      <a:pt x="3290" y="6451"/>
                      <a:pt x="3445" y="6451"/>
                    </a:cubicBezTo>
                    <a:cubicBezTo>
                      <a:pt x="5023" y="6451"/>
                      <a:pt x="6405" y="5302"/>
                      <a:pt x="6643" y="3694"/>
                    </a:cubicBezTo>
                    <a:cubicBezTo>
                      <a:pt x="6904" y="1928"/>
                      <a:pt x="5685" y="290"/>
                      <a:pt x="3919" y="36"/>
                    </a:cubicBezTo>
                    <a:cubicBezTo>
                      <a:pt x="3759" y="12"/>
                      <a:pt x="3599"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a:extLst>
                  <a:ext uri="{FF2B5EF4-FFF2-40B4-BE49-F238E27FC236}">
                    <a16:creationId xmlns:a16="http://schemas.microsoft.com/office/drawing/2014/main" id="{F527F192-362E-F3A7-1567-807400CCD291}"/>
                  </a:ext>
                </a:extLst>
              </p:cNvPr>
              <p:cNvSpPr/>
              <p:nvPr/>
            </p:nvSpPr>
            <p:spPr>
              <a:xfrm flipH="1">
                <a:off x="1275867" y="1940868"/>
                <a:ext cx="309009" cy="340619"/>
              </a:xfrm>
              <a:custGeom>
                <a:avLst/>
                <a:gdLst/>
                <a:ahLst/>
                <a:cxnLst/>
                <a:rect l="l" t="t" r="r" b="b"/>
                <a:pathLst>
                  <a:path w="3667" h="4042" extrusionOk="0">
                    <a:moveTo>
                      <a:pt x="1643" y="1"/>
                    </a:moveTo>
                    <a:cubicBezTo>
                      <a:pt x="1626" y="1"/>
                      <a:pt x="1609" y="3"/>
                      <a:pt x="1592" y="7"/>
                    </a:cubicBezTo>
                    <a:cubicBezTo>
                      <a:pt x="1442" y="46"/>
                      <a:pt x="1426" y="236"/>
                      <a:pt x="1339" y="363"/>
                    </a:cubicBezTo>
                    <a:cubicBezTo>
                      <a:pt x="1117" y="703"/>
                      <a:pt x="824" y="806"/>
                      <a:pt x="413" y="806"/>
                    </a:cubicBezTo>
                    <a:lnTo>
                      <a:pt x="1" y="3268"/>
                    </a:lnTo>
                    <a:lnTo>
                      <a:pt x="302" y="3316"/>
                    </a:lnTo>
                    <a:cubicBezTo>
                      <a:pt x="373" y="3332"/>
                      <a:pt x="547" y="3648"/>
                      <a:pt x="927" y="3712"/>
                    </a:cubicBezTo>
                    <a:lnTo>
                      <a:pt x="2875" y="4036"/>
                    </a:lnTo>
                    <a:cubicBezTo>
                      <a:pt x="2894" y="4040"/>
                      <a:pt x="2914" y="4041"/>
                      <a:pt x="2933" y="4041"/>
                    </a:cubicBezTo>
                    <a:cubicBezTo>
                      <a:pt x="3101" y="4041"/>
                      <a:pt x="3250" y="3921"/>
                      <a:pt x="3278" y="3743"/>
                    </a:cubicBezTo>
                    <a:cubicBezTo>
                      <a:pt x="3310" y="3553"/>
                      <a:pt x="3184" y="3371"/>
                      <a:pt x="2986" y="3340"/>
                    </a:cubicBezTo>
                    <a:lnTo>
                      <a:pt x="2986" y="3340"/>
                    </a:lnTo>
                    <a:cubicBezTo>
                      <a:pt x="3006" y="3343"/>
                      <a:pt x="3026" y="3345"/>
                      <a:pt x="3046" y="3345"/>
                    </a:cubicBezTo>
                    <a:cubicBezTo>
                      <a:pt x="3219" y="3345"/>
                      <a:pt x="3369" y="3224"/>
                      <a:pt x="3397" y="3047"/>
                    </a:cubicBezTo>
                    <a:cubicBezTo>
                      <a:pt x="3429" y="2857"/>
                      <a:pt x="3302" y="2675"/>
                      <a:pt x="3104" y="2643"/>
                    </a:cubicBezTo>
                    <a:lnTo>
                      <a:pt x="3104" y="2643"/>
                    </a:lnTo>
                    <a:cubicBezTo>
                      <a:pt x="3125" y="2646"/>
                      <a:pt x="3145" y="2648"/>
                      <a:pt x="3165" y="2648"/>
                    </a:cubicBezTo>
                    <a:cubicBezTo>
                      <a:pt x="3338" y="2648"/>
                      <a:pt x="3488" y="2528"/>
                      <a:pt x="3516" y="2350"/>
                    </a:cubicBezTo>
                    <a:cubicBezTo>
                      <a:pt x="3548" y="2160"/>
                      <a:pt x="3413" y="1978"/>
                      <a:pt x="3223" y="1946"/>
                    </a:cubicBezTo>
                    <a:lnTo>
                      <a:pt x="3223" y="1946"/>
                    </a:lnTo>
                    <a:cubicBezTo>
                      <a:pt x="3242" y="1949"/>
                      <a:pt x="3260" y="1951"/>
                      <a:pt x="3279" y="1951"/>
                    </a:cubicBezTo>
                    <a:cubicBezTo>
                      <a:pt x="3447" y="1951"/>
                      <a:pt x="3598" y="1825"/>
                      <a:pt x="3627" y="1653"/>
                    </a:cubicBezTo>
                    <a:cubicBezTo>
                      <a:pt x="3666" y="1463"/>
                      <a:pt x="3532" y="1281"/>
                      <a:pt x="3342" y="1250"/>
                    </a:cubicBezTo>
                    <a:lnTo>
                      <a:pt x="1751" y="981"/>
                    </a:lnTo>
                    <a:cubicBezTo>
                      <a:pt x="1830" y="830"/>
                      <a:pt x="1885" y="664"/>
                      <a:pt x="1909" y="498"/>
                    </a:cubicBezTo>
                    <a:cubicBezTo>
                      <a:pt x="1925" y="363"/>
                      <a:pt x="1925" y="221"/>
                      <a:pt x="1846" y="110"/>
                    </a:cubicBezTo>
                    <a:cubicBezTo>
                      <a:pt x="1800" y="44"/>
                      <a:pt x="1722" y="1"/>
                      <a:pt x="16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a:extLst>
                  <a:ext uri="{FF2B5EF4-FFF2-40B4-BE49-F238E27FC236}">
                    <a16:creationId xmlns:a16="http://schemas.microsoft.com/office/drawing/2014/main" id="{02287587-F09B-3F00-68E7-234633466A01}"/>
                  </a:ext>
                </a:extLst>
              </p:cNvPr>
              <p:cNvSpPr/>
              <p:nvPr/>
            </p:nvSpPr>
            <p:spPr>
              <a:xfrm flipH="1">
                <a:off x="1533389" y="1970446"/>
                <a:ext cx="116795" cy="272361"/>
              </a:xfrm>
              <a:custGeom>
                <a:avLst/>
                <a:gdLst/>
                <a:ahLst/>
                <a:cxnLst/>
                <a:rect l="l" t="t" r="r" b="b"/>
                <a:pathLst>
                  <a:path w="1386" h="3232" extrusionOk="0">
                    <a:moveTo>
                      <a:pt x="771" y="1"/>
                    </a:moveTo>
                    <a:cubicBezTo>
                      <a:pt x="622" y="1"/>
                      <a:pt x="489" y="106"/>
                      <a:pt x="467" y="257"/>
                    </a:cubicBezTo>
                    <a:lnTo>
                      <a:pt x="32" y="2822"/>
                    </a:lnTo>
                    <a:cubicBezTo>
                      <a:pt x="0" y="2989"/>
                      <a:pt x="119" y="3147"/>
                      <a:pt x="285" y="3179"/>
                    </a:cubicBezTo>
                    <a:lnTo>
                      <a:pt x="570" y="3226"/>
                    </a:lnTo>
                    <a:cubicBezTo>
                      <a:pt x="588" y="3230"/>
                      <a:pt x="606" y="3231"/>
                      <a:pt x="624" y="3231"/>
                    </a:cubicBezTo>
                    <a:cubicBezTo>
                      <a:pt x="769" y="3231"/>
                      <a:pt x="897" y="3121"/>
                      <a:pt x="918" y="2973"/>
                    </a:cubicBezTo>
                    <a:lnTo>
                      <a:pt x="1354" y="408"/>
                    </a:lnTo>
                    <a:cubicBezTo>
                      <a:pt x="1386" y="242"/>
                      <a:pt x="1267" y="83"/>
                      <a:pt x="1101" y="60"/>
                    </a:cubicBezTo>
                    <a:lnTo>
                      <a:pt x="816" y="4"/>
                    </a:lnTo>
                    <a:cubicBezTo>
                      <a:pt x="800" y="2"/>
                      <a:pt x="785"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 name="Google Shape;524;p29">
              <a:extLst>
                <a:ext uri="{FF2B5EF4-FFF2-40B4-BE49-F238E27FC236}">
                  <a16:creationId xmlns:a16="http://schemas.microsoft.com/office/drawing/2014/main" id="{1FA2B70F-5B98-ADC4-3C4A-509498E3828E}"/>
                </a:ext>
              </a:extLst>
            </p:cNvPr>
            <p:cNvGrpSpPr/>
            <p:nvPr/>
          </p:nvGrpSpPr>
          <p:grpSpPr>
            <a:xfrm>
              <a:off x="8046146" y="202191"/>
              <a:ext cx="769278" cy="674581"/>
              <a:chOff x="1565409" y="2345016"/>
              <a:chExt cx="769278" cy="674581"/>
            </a:xfrm>
          </p:grpSpPr>
          <p:sp>
            <p:nvSpPr>
              <p:cNvPr id="525" name="Google Shape;525;p29">
                <a:extLst>
                  <a:ext uri="{FF2B5EF4-FFF2-40B4-BE49-F238E27FC236}">
                    <a16:creationId xmlns:a16="http://schemas.microsoft.com/office/drawing/2014/main" id="{70A14AD3-62E4-2A18-9D3E-F842F5E6DE71}"/>
                  </a:ext>
                </a:extLst>
              </p:cNvPr>
              <p:cNvSpPr/>
              <p:nvPr/>
            </p:nvSpPr>
            <p:spPr>
              <a:xfrm flipH="1">
                <a:off x="1565409" y="2345016"/>
                <a:ext cx="769278" cy="674581"/>
              </a:xfrm>
              <a:custGeom>
                <a:avLst/>
                <a:gdLst/>
                <a:ahLst/>
                <a:cxnLst/>
                <a:rect l="l" t="t" r="r" b="b"/>
                <a:pathLst>
                  <a:path w="9129" h="8005" extrusionOk="0">
                    <a:moveTo>
                      <a:pt x="4559" y="0"/>
                    </a:moveTo>
                    <a:cubicBezTo>
                      <a:pt x="3977" y="0"/>
                      <a:pt x="3386" y="127"/>
                      <a:pt x="2827" y="396"/>
                    </a:cubicBezTo>
                    <a:cubicBezTo>
                      <a:pt x="840" y="1354"/>
                      <a:pt x="0" y="3745"/>
                      <a:pt x="958" y="5740"/>
                    </a:cubicBezTo>
                    <a:cubicBezTo>
                      <a:pt x="1647" y="7169"/>
                      <a:pt x="3078" y="8005"/>
                      <a:pt x="4566" y="8005"/>
                    </a:cubicBezTo>
                    <a:cubicBezTo>
                      <a:pt x="5147" y="8005"/>
                      <a:pt x="5736" y="7877"/>
                      <a:pt x="6294" y="7608"/>
                    </a:cubicBezTo>
                    <a:cubicBezTo>
                      <a:pt x="8289" y="6650"/>
                      <a:pt x="9129" y="4260"/>
                      <a:pt x="8171" y="2273"/>
                    </a:cubicBezTo>
                    <a:cubicBezTo>
                      <a:pt x="7481" y="837"/>
                      <a:pt x="6051" y="0"/>
                      <a:pt x="4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9">
                <a:extLst>
                  <a:ext uri="{FF2B5EF4-FFF2-40B4-BE49-F238E27FC236}">
                    <a16:creationId xmlns:a16="http://schemas.microsoft.com/office/drawing/2014/main" id="{E7DD6CAA-40E5-6019-C760-D8C77C78E4B1}"/>
                  </a:ext>
                </a:extLst>
              </p:cNvPr>
              <p:cNvSpPr/>
              <p:nvPr/>
            </p:nvSpPr>
            <p:spPr>
              <a:xfrm flipH="1">
                <a:off x="1702850" y="2611218"/>
                <a:ext cx="425719" cy="298906"/>
              </a:xfrm>
              <a:custGeom>
                <a:avLst/>
                <a:gdLst/>
                <a:ahLst/>
                <a:cxnLst/>
                <a:rect l="l" t="t" r="r" b="b"/>
                <a:pathLst>
                  <a:path w="5052" h="3547" extrusionOk="0">
                    <a:moveTo>
                      <a:pt x="4458" y="0"/>
                    </a:moveTo>
                    <a:lnTo>
                      <a:pt x="1" y="2146"/>
                    </a:lnTo>
                    <a:cubicBezTo>
                      <a:pt x="428" y="3029"/>
                      <a:pt x="1314" y="3547"/>
                      <a:pt x="2235" y="3547"/>
                    </a:cubicBezTo>
                    <a:cubicBezTo>
                      <a:pt x="2594" y="3547"/>
                      <a:pt x="2958" y="3468"/>
                      <a:pt x="3302" y="3301"/>
                    </a:cubicBezTo>
                    <a:cubicBezTo>
                      <a:pt x="4537" y="2708"/>
                      <a:pt x="5052" y="1227"/>
                      <a:pt x="4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9">
                <a:extLst>
                  <a:ext uri="{FF2B5EF4-FFF2-40B4-BE49-F238E27FC236}">
                    <a16:creationId xmlns:a16="http://schemas.microsoft.com/office/drawing/2014/main" id="{13E53793-F4A0-676A-6DB5-056B208BD339}"/>
                  </a:ext>
                </a:extLst>
              </p:cNvPr>
              <p:cNvSpPr/>
              <p:nvPr/>
            </p:nvSpPr>
            <p:spPr>
              <a:xfrm flipH="1">
                <a:off x="1732175" y="2709305"/>
                <a:ext cx="324346" cy="201658"/>
              </a:xfrm>
              <a:custGeom>
                <a:avLst/>
                <a:gdLst/>
                <a:ahLst/>
                <a:cxnLst/>
                <a:rect l="l" t="t" r="r" b="b"/>
                <a:pathLst>
                  <a:path w="3849" h="2393" extrusionOk="0">
                    <a:moveTo>
                      <a:pt x="3036" y="0"/>
                    </a:moveTo>
                    <a:cubicBezTo>
                      <a:pt x="2566" y="0"/>
                      <a:pt x="2066" y="109"/>
                      <a:pt x="1584" y="340"/>
                    </a:cubicBezTo>
                    <a:cubicBezTo>
                      <a:pt x="808" y="712"/>
                      <a:pt x="254" y="1322"/>
                      <a:pt x="1" y="1971"/>
                    </a:cubicBezTo>
                    <a:cubicBezTo>
                      <a:pt x="407" y="2245"/>
                      <a:pt x="887" y="2393"/>
                      <a:pt x="1378" y="2393"/>
                    </a:cubicBezTo>
                    <a:cubicBezTo>
                      <a:pt x="1739" y="2393"/>
                      <a:pt x="2106" y="2313"/>
                      <a:pt x="2455" y="2145"/>
                    </a:cubicBezTo>
                    <a:cubicBezTo>
                      <a:pt x="3270" y="1757"/>
                      <a:pt x="3777" y="966"/>
                      <a:pt x="3848" y="119"/>
                    </a:cubicBezTo>
                    <a:cubicBezTo>
                      <a:pt x="3596" y="41"/>
                      <a:pt x="3322" y="0"/>
                      <a:pt x="30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9">
                <a:extLst>
                  <a:ext uri="{FF2B5EF4-FFF2-40B4-BE49-F238E27FC236}">
                    <a16:creationId xmlns:a16="http://schemas.microsoft.com/office/drawing/2014/main" id="{51F4DF1C-A8B7-4A71-F7BF-7042A2C7D64F}"/>
                  </a:ext>
                </a:extLst>
              </p:cNvPr>
              <p:cNvSpPr/>
              <p:nvPr/>
            </p:nvSpPr>
            <p:spPr>
              <a:xfrm flipH="1">
                <a:off x="2040425" y="2545152"/>
                <a:ext cx="222213" cy="214383"/>
              </a:xfrm>
              <a:custGeom>
                <a:avLst/>
                <a:gdLst/>
                <a:ahLst/>
                <a:cxnLst/>
                <a:rect l="l" t="t" r="r" b="b"/>
                <a:pathLst>
                  <a:path w="2637" h="2544" extrusionOk="0">
                    <a:moveTo>
                      <a:pt x="841" y="0"/>
                    </a:moveTo>
                    <a:cubicBezTo>
                      <a:pt x="750" y="0"/>
                      <a:pt x="665" y="75"/>
                      <a:pt x="665" y="183"/>
                    </a:cubicBezTo>
                    <a:lnTo>
                      <a:pt x="673" y="863"/>
                    </a:lnTo>
                    <a:lnTo>
                      <a:pt x="119" y="1251"/>
                    </a:lnTo>
                    <a:cubicBezTo>
                      <a:pt x="0" y="1338"/>
                      <a:pt x="24" y="1520"/>
                      <a:pt x="167" y="1568"/>
                    </a:cubicBezTo>
                    <a:lnTo>
                      <a:pt x="816" y="1766"/>
                    </a:lnTo>
                    <a:lnTo>
                      <a:pt x="1014" y="2415"/>
                    </a:lnTo>
                    <a:cubicBezTo>
                      <a:pt x="1041" y="2498"/>
                      <a:pt x="1115" y="2543"/>
                      <a:pt x="1188" y="2543"/>
                    </a:cubicBezTo>
                    <a:cubicBezTo>
                      <a:pt x="1241" y="2543"/>
                      <a:pt x="1294" y="2520"/>
                      <a:pt x="1330" y="2470"/>
                    </a:cubicBezTo>
                    <a:lnTo>
                      <a:pt x="1726" y="1916"/>
                    </a:lnTo>
                    <a:lnTo>
                      <a:pt x="2407" y="1924"/>
                    </a:lnTo>
                    <a:cubicBezTo>
                      <a:pt x="2550" y="1924"/>
                      <a:pt x="2637" y="1758"/>
                      <a:pt x="2550" y="1639"/>
                    </a:cubicBezTo>
                    <a:lnTo>
                      <a:pt x="2146" y="1093"/>
                    </a:lnTo>
                    <a:lnTo>
                      <a:pt x="2360" y="452"/>
                    </a:lnTo>
                    <a:cubicBezTo>
                      <a:pt x="2400" y="330"/>
                      <a:pt x="2314" y="220"/>
                      <a:pt x="2199" y="220"/>
                    </a:cubicBezTo>
                    <a:cubicBezTo>
                      <a:pt x="2179" y="220"/>
                      <a:pt x="2159" y="223"/>
                      <a:pt x="2138" y="230"/>
                    </a:cubicBezTo>
                    <a:lnTo>
                      <a:pt x="1497" y="444"/>
                    </a:lnTo>
                    <a:lnTo>
                      <a:pt x="950" y="40"/>
                    </a:lnTo>
                    <a:cubicBezTo>
                      <a:pt x="916" y="13"/>
                      <a:pt x="878" y="0"/>
                      <a:pt x="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a:extLst>
                  <a:ext uri="{FF2B5EF4-FFF2-40B4-BE49-F238E27FC236}">
                    <a16:creationId xmlns:a16="http://schemas.microsoft.com/office/drawing/2014/main" id="{1E8D3611-3825-1786-FDF4-F6A721298D45}"/>
                  </a:ext>
                </a:extLst>
              </p:cNvPr>
              <p:cNvSpPr/>
              <p:nvPr/>
            </p:nvSpPr>
            <p:spPr>
              <a:xfrm flipH="1">
                <a:off x="1752905" y="2401054"/>
                <a:ext cx="222213" cy="214804"/>
              </a:xfrm>
              <a:custGeom>
                <a:avLst/>
                <a:gdLst/>
                <a:ahLst/>
                <a:cxnLst/>
                <a:rect l="l" t="t" r="r" b="b"/>
                <a:pathLst>
                  <a:path w="2637" h="2549" extrusionOk="0">
                    <a:moveTo>
                      <a:pt x="864" y="0"/>
                    </a:moveTo>
                    <a:cubicBezTo>
                      <a:pt x="773" y="0"/>
                      <a:pt x="689" y="73"/>
                      <a:pt x="689" y="175"/>
                    </a:cubicBezTo>
                    <a:lnTo>
                      <a:pt x="681" y="855"/>
                    </a:lnTo>
                    <a:lnTo>
                      <a:pt x="119" y="1243"/>
                    </a:lnTo>
                    <a:cubicBezTo>
                      <a:pt x="1" y="1323"/>
                      <a:pt x="24" y="1513"/>
                      <a:pt x="167" y="1552"/>
                    </a:cubicBezTo>
                    <a:lnTo>
                      <a:pt x="816" y="1766"/>
                    </a:lnTo>
                    <a:lnTo>
                      <a:pt x="1006" y="2423"/>
                    </a:lnTo>
                    <a:cubicBezTo>
                      <a:pt x="1029" y="2503"/>
                      <a:pt x="1103" y="2549"/>
                      <a:pt x="1177" y="2549"/>
                    </a:cubicBezTo>
                    <a:cubicBezTo>
                      <a:pt x="1228" y="2549"/>
                      <a:pt x="1279" y="2527"/>
                      <a:pt x="1315" y="2478"/>
                    </a:cubicBezTo>
                    <a:lnTo>
                      <a:pt x="1719" y="1924"/>
                    </a:lnTo>
                    <a:lnTo>
                      <a:pt x="2399" y="1948"/>
                    </a:lnTo>
                    <a:cubicBezTo>
                      <a:pt x="2550" y="1948"/>
                      <a:pt x="2637" y="1782"/>
                      <a:pt x="2550" y="1663"/>
                    </a:cubicBezTo>
                    <a:lnTo>
                      <a:pt x="2154" y="1117"/>
                    </a:lnTo>
                    <a:lnTo>
                      <a:pt x="2376" y="475"/>
                    </a:lnTo>
                    <a:cubicBezTo>
                      <a:pt x="2423" y="353"/>
                      <a:pt x="2330" y="236"/>
                      <a:pt x="2213" y="236"/>
                    </a:cubicBezTo>
                    <a:cubicBezTo>
                      <a:pt x="2194" y="236"/>
                      <a:pt x="2174" y="239"/>
                      <a:pt x="2154" y="246"/>
                    </a:cubicBezTo>
                    <a:lnTo>
                      <a:pt x="1513" y="452"/>
                    </a:lnTo>
                    <a:lnTo>
                      <a:pt x="974" y="40"/>
                    </a:lnTo>
                    <a:cubicBezTo>
                      <a:pt x="940" y="12"/>
                      <a:pt x="901" y="0"/>
                      <a:pt x="8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5324;p58">
            <a:extLst>
              <a:ext uri="{FF2B5EF4-FFF2-40B4-BE49-F238E27FC236}">
                <a16:creationId xmlns:a16="http://schemas.microsoft.com/office/drawing/2014/main" id="{3F43EFCD-BBDF-1155-E54A-2F5F2AC24F2A}"/>
              </a:ext>
            </a:extLst>
          </p:cNvPr>
          <p:cNvGrpSpPr/>
          <p:nvPr/>
        </p:nvGrpSpPr>
        <p:grpSpPr>
          <a:xfrm>
            <a:off x="5014001" y="328056"/>
            <a:ext cx="311899" cy="339253"/>
            <a:chOff x="2104275" y="3806450"/>
            <a:chExt cx="442975" cy="481825"/>
          </a:xfrm>
        </p:grpSpPr>
        <p:sp>
          <p:nvSpPr>
            <p:cNvPr id="3" name="Google Shape;5325;p58">
              <a:extLst>
                <a:ext uri="{FF2B5EF4-FFF2-40B4-BE49-F238E27FC236}">
                  <a16:creationId xmlns:a16="http://schemas.microsoft.com/office/drawing/2014/main" id="{A9C9ED7B-3B59-98AF-EC34-9EE264EF63F1}"/>
                </a:ext>
              </a:extLst>
            </p:cNvPr>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5326;p58">
              <a:extLst>
                <a:ext uri="{FF2B5EF4-FFF2-40B4-BE49-F238E27FC236}">
                  <a16:creationId xmlns:a16="http://schemas.microsoft.com/office/drawing/2014/main" id="{FB3174BD-66DE-F691-4D46-F81B71EC5071}"/>
                </a:ext>
              </a:extLst>
            </p:cNvPr>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 name="TextBox 5">
            <a:extLst>
              <a:ext uri="{FF2B5EF4-FFF2-40B4-BE49-F238E27FC236}">
                <a16:creationId xmlns:a16="http://schemas.microsoft.com/office/drawing/2014/main" id="{E00686AA-2063-81E2-A019-2A2889997513}"/>
              </a:ext>
            </a:extLst>
          </p:cNvPr>
          <p:cNvSpPr txBox="1"/>
          <p:nvPr/>
        </p:nvSpPr>
        <p:spPr>
          <a:xfrm>
            <a:off x="178733" y="1144365"/>
            <a:ext cx="462915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Overview</a:t>
            </a:r>
            <a:endParaRPr lang="en-ZA" dirty="0">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4DED0FEF-103D-6A29-7A2B-17EA99E4E06C}"/>
              </a:ext>
            </a:extLst>
          </p:cNvPr>
          <p:cNvSpPr txBox="1"/>
          <p:nvPr/>
        </p:nvSpPr>
        <p:spPr>
          <a:xfrm>
            <a:off x="178734" y="1452142"/>
            <a:ext cx="4300776" cy="954107"/>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Our </a:t>
            </a:r>
            <a:r>
              <a:rPr kumimoji="0" lang="en-ZA" altLang="en-US" sz="1400" b="0" i="0" u="none" strike="noStrike" cap="none" normalizeH="0" baseline="0" dirty="0" err="1">
                <a:ln>
                  <a:noFill/>
                </a:ln>
                <a:solidFill>
                  <a:schemeClr val="tx1"/>
                </a:solidFill>
                <a:effectLst/>
                <a:latin typeface="Baloo 2" panose="020B0604020202020204" charset="0"/>
                <a:cs typeface="Baloo 2" panose="020B0604020202020204" charset="0"/>
              </a:rPr>
              <a:t>BERTopic</a:t>
            </a: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 model identified several distinct themes within the discourse. </a:t>
            </a:r>
          </a:p>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Dominant Theme: A large, central theme we labelled "General Discussion" emerged.</a:t>
            </a:r>
            <a:endParaRPr lang="en-ZA" dirty="0">
              <a:latin typeface="Baloo 2" panose="020B0604020202020204" charset="0"/>
              <a:cs typeface="Baloo 2" panose="020B0604020202020204" charset="0"/>
            </a:endParaRPr>
          </a:p>
        </p:txBody>
      </p:sp>
      <p:sp>
        <p:nvSpPr>
          <p:cNvPr id="12" name="TextBox 11">
            <a:extLst>
              <a:ext uri="{FF2B5EF4-FFF2-40B4-BE49-F238E27FC236}">
                <a16:creationId xmlns:a16="http://schemas.microsoft.com/office/drawing/2014/main" id="{E0F05DB3-4A0A-3099-7A37-0C19D623555C}"/>
              </a:ext>
            </a:extLst>
          </p:cNvPr>
          <p:cNvSpPr txBox="1"/>
          <p:nvPr/>
        </p:nvSpPr>
        <p:spPr>
          <a:xfrm>
            <a:off x="178733" y="2525842"/>
            <a:ext cx="4629150" cy="307777"/>
          </a:xfrm>
          <a:prstGeom prst="rect">
            <a:avLst/>
          </a:prstGeom>
          <a:noFill/>
        </p:spPr>
        <p:txBody>
          <a:bodyPr wrap="square">
            <a:spAutoFit/>
          </a:bodyPr>
          <a:lstStyle/>
          <a:p>
            <a:r>
              <a:rPr kumimoji="0" lang="en-ZA"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Interpretation</a:t>
            </a:r>
            <a:endParaRPr lang="en-ZA" dirty="0">
              <a:latin typeface="Poppins" panose="00000500000000000000" pitchFamily="2" charset="0"/>
              <a:cs typeface="Poppins" panose="00000500000000000000" pitchFamily="2" charset="0"/>
            </a:endParaRPr>
          </a:p>
        </p:txBody>
      </p:sp>
      <p:sp>
        <p:nvSpPr>
          <p:cNvPr id="13" name="TextBox 12">
            <a:extLst>
              <a:ext uri="{FF2B5EF4-FFF2-40B4-BE49-F238E27FC236}">
                <a16:creationId xmlns:a16="http://schemas.microsoft.com/office/drawing/2014/main" id="{D696821C-03BC-1A35-9A4C-E1C137DF7536}"/>
              </a:ext>
            </a:extLst>
          </p:cNvPr>
          <p:cNvSpPr txBox="1"/>
          <p:nvPr/>
        </p:nvSpPr>
        <p:spPr>
          <a:xfrm>
            <a:off x="178734" y="2833619"/>
            <a:ext cx="4300776" cy="1384995"/>
          </a:xfrm>
          <a:prstGeom prst="rect">
            <a:avLst/>
          </a:prstGeom>
          <a:noFill/>
        </p:spPr>
        <p:txBody>
          <a:bodyPr wrap="square">
            <a:spAutoFit/>
          </a:bodyPr>
          <a:lstStyle/>
          <a:p>
            <a:pPr marL="285750" indent="-285750">
              <a:buFont typeface="Arial" panose="020B0604020202020204" pitchFamily="34" charset="0"/>
              <a:buChar char="•"/>
            </a:pPr>
            <a:r>
              <a:rPr kumimoji="0" lang="en-ZA" altLang="en-US" sz="1400" b="0" i="0" u="none" strike="noStrike" cap="none" normalizeH="0" baseline="0" dirty="0">
                <a:ln>
                  <a:noFill/>
                </a:ln>
                <a:solidFill>
                  <a:schemeClr val="tx1"/>
                </a:solidFill>
                <a:effectLst/>
                <a:latin typeface="Baloo 2" panose="020B0604020202020204" charset="0"/>
                <a:cs typeface="Baloo 2" panose="020B0604020202020204" charset="0"/>
              </a:rPr>
              <a:t>This "General Discussion" topic acts as the main hub of the conversation. It contains the highest volume of posts and is strongly associated with the dominant positive sentiment. Other, smaller topics (e.g., "Policy Questions," "Support Issues") branched off from this central hub.</a:t>
            </a:r>
          </a:p>
        </p:txBody>
      </p:sp>
      <p:pic>
        <p:nvPicPr>
          <p:cNvPr id="21" name="Picture 20" descr="A collage of words&#10;&#10;AI-generated content may be incorrect.">
            <a:extLst>
              <a:ext uri="{FF2B5EF4-FFF2-40B4-BE49-F238E27FC236}">
                <a16:creationId xmlns:a16="http://schemas.microsoft.com/office/drawing/2014/main" id="{9670571A-8346-B045-BD30-98BCE367FB9E}"/>
              </a:ext>
            </a:extLst>
          </p:cNvPr>
          <p:cNvPicPr>
            <a:picLocks noChangeAspect="1"/>
          </p:cNvPicPr>
          <p:nvPr/>
        </p:nvPicPr>
        <p:blipFill>
          <a:blip r:embed="rId3"/>
          <a:srcRect l="1187" t="1561" r="3086"/>
          <a:stretch>
            <a:fillRect/>
          </a:stretch>
        </p:blipFill>
        <p:spPr>
          <a:xfrm>
            <a:off x="4479510" y="2624764"/>
            <a:ext cx="4408701" cy="2421833"/>
          </a:xfrm>
          <a:prstGeom prst="rect">
            <a:avLst/>
          </a:prstGeom>
        </p:spPr>
      </p:pic>
      <p:pic>
        <p:nvPicPr>
          <p:cNvPr id="5123" name="Picture 3">
            <a:extLst>
              <a:ext uri="{FF2B5EF4-FFF2-40B4-BE49-F238E27FC236}">
                <a16:creationId xmlns:a16="http://schemas.microsoft.com/office/drawing/2014/main" id="{785AE0A7-BE47-3F5E-EB76-03F622B6F2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772" t="2473" r="-56" b="13683"/>
          <a:stretch>
            <a:fillRect/>
          </a:stretch>
        </p:blipFill>
        <p:spPr bwMode="auto">
          <a:xfrm>
            <a:off x="4805898" y="153470"/>
            <a:ext cx="3819403" cy="242183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oogle Shape;5872;p60">
            <a:extLst>
              <a:ext uri="{FF2B5EF4-FFF2-40B4-BE49-F238E27FC236}">
                <a16:creationId xmlns:a16="http://schemas.microsoft.com/office/drawing/2014/main" id="{43061C0A-9F2D-5527-D5BB-42E02FAB5FC3}"/>
              </a:ext>
            </a:extLst>
          </p:cNvPr>
          <p:cNvGrpSpPr/>
          <p:nvPr/>
        </p:nvGrpSpPr>
        <p:grpSpPr>
          <a:xfrm>
            <a:off x="4619863" y="2376288"/>
            <a:ext cx="367261" cy="364686"/>
            <a:chOff x="-64781025" y="3361050"/>
            <a:chExt cx="317425" cy="315200"/>
          </a:xfrm>
        </p:grpSpPr>
        <p:sp>
          <p:nvSpPr>
            <p:cNvPr id="23" name="Google Shape;5873;p60">
              <a:extLst>
                <a:ext uri="{FF2B5EF4-FFF2-40B4-BE49-F238E27FC236}">
                  <a16:creationId xmlns:a16="http://schemas.microsoft.com/office/drawing/2014/main" id="{2E481924-0D90-EEDF-F436-53A33C3F0729}"/>
                </a:ext>
              </a:extLst>
            </p:cNvPr>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874;p60">
              <a:extLst>
                <a:ext uri="{FF2B5EF4-FFF2-40B4-BE49-F238E27FC236}">
                  <a16:creationId xmlns:a16="http://schemas.microsoft.com/office/drawing/2014/main" id="{328794DE-C3E5-25DE-9560-46DA88630D54}"/>
                </a:ext>
              </a:extLst>
            </p:cNvPr>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875;p60">
              <a:extLst>
                <a:ext uri="{FF2B5EF4-FFF2-40B4-BE49-F238E27FC236}">
                  <a16:creationId xmlns:a16="http://schemas.microsoft.com/office/drawing/2014/main" id="{B4222349-850F-8B6C-E374-4E05E72583AA}"/>
                </a:ext>
              </a:extLst>
            </p:cNvPr>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876;p60">
              <a:extLst>
                <a:ext uri="{FF2B5EF4-FFF2-40B4-BE49-F238E27FC236}">
                  <a16:creationId xmlns:a16="http://schemas.microsoft.com/office/drawing/2014/main" id="{32754E63-C1E4-18D5-6173-11F96A1DC4F0}"/>
                </a:ext>
              </a:extLst>
            </p:cNvPr>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36024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2"/>
          <p:cNvSpPr txBox="1">
            <a:spLocks noGrp="1"/>
          </p:cNvSpPr>
          <p:nvPr>
            <p:ph type="title"/>
          </p:nvPr>
        </p:nvSpPr>
        <p:spPr>
          <a:xfrm>
            <a:off x="1975853" y="0"/>
            <a:ext cx="5192293" cy="572700"/>
          </a:xfrm>
          <a:prstGeom prst="rect">
            <a:avLst/>
          </a:prstGeom>
        </p:spPr>
        <p:txBody>
          <a:bodyPr spcFirstLastPara="1" wrap="square" lIns="91425" tIns="91425" rIns="91425" bIns="91425" anchor="t" anchorCtr="0">
            <a:noAutofit/>
          </a:bodyPr>
          <a:lstStyle/>
          <a:p>
            <a:pPr lvl="0"/>
            <a:r>
              <a:rPr lang="en-ZA" dirty="0"/>
              <a:t>Findings: Knowledge Mapping</a:t>
            </a:r>
            <a:endParaRPr dirty="0"/>
          </a:p>
        </p:txBody>
      </p:sp>
      <p:sp>
        <p:nvSpPr>
          <p:cNvPr id="584" name="Google Shape;584;p32"/>
          <p:cNvSpPr txBox="1">
            <a:spLocks noGrp="1"/>
          </p:cNvSpPr>
          <p:nvPr>
            <p:ph type="subTitle" idx="4"/>
          </p:nvPr>
        </p:nvSpPr>
        <p:spPr>
          <a:xfrm>
            <a:off x="5174037" y="1114224"/>
            <a:ext cx="2175300" cy="34638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Summary</a:t>
            </a:r>
            <a:endParaRPr dirty="0"/>
          </a:p>
        </p:txBody>
      </p:sp>
      <p:sp>
        <p:nvSpPr>
          <p:cNvPr id="585" name="Google Shape;585;p32"/>
          <p:cNvSpPr txBox="1">
            <a:spLocks noGrp="1"/>
          </p:cNvSpPr>
          <p:nvPr>
            <p:ph type="subTitle" idx="5"/>
          </p:nvPr>
        </p:nvSpPr>
        <p:spPr>
          <a:xfrm>
            <a:off x="5174037" y="3041653"/>
            <a:ext cx="2175300" cy="2727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Interpretation</a:t>
            </a:r>
            <a:endParaRPr dirty="0"/>
          </a:p>
        </p:txBody>
      </p:sp>
      <p:sp>
        <p:nvSpPr>
          <p:cNvPr id="586" name="Google Shape;586;p32"/>
          <p:cNvSpPr txBox="1">
            <a:spLocks noGrp="1"/>
          </p:cNvSpPr>
          <p:nvPr>
            <p:ph type="subTitle" idx="1"/>
          </p:nvPr>
        </p:nvSpPr>
        <p:spPr>
          <a:xfrm>
            <a:off x="4572000" y="1361070"/>
            <a:ext cx="3698240" cy="1181602"/>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ZA" dirty="0"/>
              <a:t>This is the core of our analysis: connecting sentiment to topics.</a:t>
            </a:r>
          </a:p>
          <a:p>
            <a:pPr marL="171450" lvl="0" indent="-171450" algn="l" rtl="0">
              <a:spcBef>
                <a:spcPts val="0"/>
              </a:spcBef>
              <a:spcAft>
                <a:spcPts val="0"/>
              </a:spcAft>
              <a:buFont typeface="Arial" panose="020B0604020202020204" pitchFamily="34" charset="0"/>
              <a:buChar char="•"/>
            </a:pPr>
            <a:r>
              <a:rPr lang="en-ZA" dirty="0"/>
              <a:t>Primary Insight: We did not find "angry topics" and "happy topics."</a:t>
            </a:r>
          </a:p>
          <a:p>
            <a:pPr marL="171450" lvl="0" indent="-171450" algn="l" rtl="0">
              <a:spcBef>
                <a:spcPts val="0"/>
              </a:spcBef>
              <a:spcAft>
                <a:spcPts val="0"/>
              </a:spcAft>
              <a:buFont typeface="Arial" panose="020B0604020202020204" pitchFamily="34" charset="0"/>
              <a:buChar char="•"/>
            </a:pPr>
            <a:r>
              <a:rPr lang="en-ZA" dirty="0"/>
              <a:t>Instead, we found that the "MIXED" sentiment profile was consistently present across all topics.</a:t>
            </a:r>
          </a:p>
        </p:txBody>
      </p:sp>
      <p:sp>
        <p:nvSpPr>
          <p:cNvPr id="587" name="Google Shape;587;p32"/>
          <p:cNvSpPr txBox="1">
            <a:spLocks noGrp="1"/>
          </p:cNvSpPr>
          <p:nvPr>
            <p:ph type="subTitle" idx="2"/>
          </p:nvPr>
        </p:nvSpPr>
        <p:spPr>
          <a:xfrm>
            <a:off x="4572000" y="3314377"/>
            <a:ext cx="4183853" cy="1628866"/>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ZA" dirty="0"/>
              <a:t>The discourse is nuanced and complex.</a:t>
            </a:r>
          </a:p>
          <a:p>
            <a:pPr marL="171450" lvl="0" indent="-171450" algn="l" rtl="0">
              <a:spcBef>
                <a:spcPts val="0"/>
              </a:spcBef>
              <a:spcAft>
                <a:spcPts val="0"/>
              </a:spcAft>
              <a:buFont typeface="Arial" panose="020B0604020202020204" pitchFamily="34" charset="0"/>
              <a:buChar char="•"/>
            </a:pPr>
            <a:r>
              <a:rPr lang="en-ZA" dirty="0"/>
              <a:t>Even within the "General Discussion" hub, people are having thoughtful, mixed-emotion conversations.</a:t>
            </a:r>
          </a:p>
          <a:p>
            <a:pPr marL="171450" lvl="0" indent="-171450" algn="l" rtl="0">
              <a:spcBef>
                <a:spcPts val="0"/>
              </a:spcBef>
              <a:spcAft>
                <a:spcPts val="0"/>
              </a:spcAft>
              <a:buFont typeface="Arial" panose="020B0604020202020204" pitchFamily="34" charset="0"/>
              <a:buChar char="•"/>
            </a:pPr>
            <a:r>
              <a:rPr lang="en-ZA" dirty="0"/>
              <a:t>This is a sign of a mature, engaged community, not an echo chamber</a:t>
            </a:r>
          </a:p>
          <a:p>
            <a:pPr marL="171450" lvl="0" indent="-171450" algn="l" rtl="0">
              <a:spcBef>
                <a:spcPts val="0"/>
              </a:spcBef>
              <a:spcAft>
                <a:spcPts val="0"/>
              </a:spcAft>
              <a:buFont typeface="Arial" panose="020B0604020202020204" pitchFamily="34" charset="0"/>
              <a:buChar char="•"/>
            </a:pPr>
            <a:r>
              <a:rPr lang="en-ZA" dirty="0"/>
              <a:t>Topics vary in emotional intensity, bridging diverse conversation areas effectively.</a:t>
            </a:r>
          </a:p>
          <a:p>
            <a:pPr marL="0" lvl="0" indent="0" algn="l" rtl="0">
              <a:spcBef>
                <a:spcPts val="0"/>
              </a:spcBef>
              <a:spcAft>
                <a:spcPts val="0"/>
              </a:spcAft>
            </a:pPr>
            <a:endParaRPr lang="en-ZA" dirty="0"/>
          </a:p>
        </p:txBody>
      </p:sp>
      <p:pic>
        <p:nvPicPr>
          <p:cNvPr id="10" name="Picture 9" descr="A diagram of different colors&#10;&#10;AI-generated content may be incorrect.">
            <a:extLst>
              <a:ext uri="{FF2B5EF4-FFF2-40B4-BE49-F238E27FC236}">
                <a16:creationId xmlns:a16="http://schemas.microsoft.com/office/drawing/2014/main" id="{A4AFA66B-7234-AE30-E239-F13CEEE40A85}"/>
              </a:ext>
            </a:extLst>
          </p:cNvPr>
          <p:cNvPicPr>
            <a:picLocks noChangeAspect="1"/>
          </p:cNvPicPr>
          <p:nvPr/>
        </p:nvPicPr>
        <p:blipFill>
          <a:blip r:embed="rId3"/>
          <a:srcRect l="4512" t="3753" r="5526" b="9530"/>
          <a:stretch>
            <a:fillRect/>
          </a:stretch>
        </p:blipFill>
        <p:spPr>
          <a:xfrm>
            <a:off x="36739" y="711147"/>
            <a:ext cx="4088865" cy="2252211"/>
          </a:xfrm>
          <a:prstGeom prst="rect">
            <a:avLst/>
          </a:prstGeom>
        </p:spPr>
      </p:pic>
      <p:pic>
        <p:nvPicPr>
          <p:cNvPr id="6151" name="Picture 7">
            <a:extLst>
              <a:ext uri="{FF2B5EF4-FFF2-40B4-BE49-F238E27FC236}">
                <a16:creationId xmlns:a16="http://schemas.microsoft.com/office/drawing/2014/main" id="{7743EE58-508A-01B3-183E-76701B75FD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9" r="6540" b="5226"/>
          <a:stretch>
            <a:fillRect/>
          </a:stretch>
        </p:blipFill>
        <p:spPr bwMode="auto">
          <a:xfrm>
            <a:off x="460856" y="3041653"/>
            <a:ext cx="3240633" cy="20605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31"/>
          <p:cNvSpPr txBox="1">
            <a:spLocks noGrp="1"/>
          </p:cNvSpPr>
          <p:nvPr>
            <p:ph type="subTitle" idx="4"/>
          </p:nvPr>
        </p:nvSpPr>
        <p:spPr>
          <a:xfrm>
            <a:off x="626206" y="2033202"/>
            <a:ext cx="4243200" cy="470400"/>
          </a:xfrm>
          <a:prstGeom prst="rect">
            <a:avLst/>
          </a:prstGeom>
        </p:spPr>
        <p:txBody>
          <a:bodyPr spcFirstLastPara="1" wrap="square" lIns="91425" tIns="91425" rIns="91425" bIns="91425" anchor="b" anchorCtr="0">
            <a:noAutofit/>
          </a:bodyPr>
          <a:lstStyle/>
          <a:p>
            <a:pPr marL="0" lvl="0" indent="0"/>
            <a:r>
              <a:rPr lang="en-ZA" dirty="0"/>
              <a:t>Establish KPIs and Monitor</a:t>
            </a:r>
            <a:endParaRPr dirty="0"/>
          </a:p>
        </p:txBody>
      </p:sp>
      <p:sp>
        <p:nvSpPr>
          <p:cNvPr id="547" name="Google Shape;54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ZA" dirty="0"/>
              <a:t>Recommendations</a:t>
            </a:r>
            <a:endParaRPr dirty="0"/>
          </a:p>
        </p:txBody>
      </p:sp>
      <p:sp>
        <p:nvSpPr>
          <p:cNvPr id="548" name="Google Shape;548;p31"/>
          <p:cNvSpPr txBox="1">
            <a:spLocks noGrp="1"/>
          </p:cNvSpPr>
          <p:nvPr>
            <p:ph type="subTitle" idx="1"/>
          </p:nvPr>
        </p:nvSpPr>
        <p:spPr>
          <a:xfrm>
            <a:off x="626204" y="2429700"/>
            <a:ext cx="6287709" cy="51139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Use 11.08% (Negative) as the key baseline metric to monitor. The goal is not to eliminate it, but to ensure it remains stable. A rapid spike above this level would trigger an alert.</a:t>
            </a:r>
            <a:endParaRPr dirty="0"/>
          </a:p>
        </p:txBody>
      </p:sp>
      <p:sp>
        <p:nvSpPr>
          <p:cNvPr id="549" name="Google Shape;549;p31"/>
          <p:cNvSpPr txBox="1">
            <a:spLocks noGrp="1"/>
          </p:cNvSpPr>
          <p:nvPr>
            <p:ph type="subTitle" idx="2"/>
          </p:nvPr>
        </p:nvSpPr>
        <p:spPr>
          <a:xfrm>
            <a:off x="554625" y="1506450"/>
            <a:ext cx="6158825" cy="544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Focus content creation on the "General Discussion" theme. Since it's large and positive, this is the area to "double down" on to maintain the 63.19% positive baseline.</a:t>
            </a:r>
            <a:endParaRPr dirty="0"/>
          </a:p>
        </p:txBody>
      </p:sp>
      <p:sp>
        <p:nvSpPr>
          <p:cNvPr id="550" name="Google Shape;550;p31"/>
          <p:cNvSpPr txBox="1">
            <a:spLocks noGrp="1"/>
          </p:cNvSpPr>
          <p:nvPr>
            <p:ph type="subTitle" idx="3"/>
          </p:nvPr>
        </p:nvSpPr>
        <p:spPr>
          <a:xfrm>
            <a:off x="554627" y="1109951"/>
            <a:ext cx="4243200" cy="470400"/>
          </a:xfrm>
          <a:prstGeom prst="rect">
            <a:avLst/>
          </a:prstGeom>
        </p:spPr>
        <p:txBody>
          <a:bodyPr spcFirstLastPara="1" wrap="square" lIns="91425" tIns="91425" rIns="91425" bIns="91425" anchor="b" anchorCtr="0">
            <a:noAutofit/>
          </a:bodyPr>
          <a:lstStyle/>
          <a:p>
            <a:pPr marL="0" lvl="0" indent="0"/>
            <a:r>
              <a:rPr lang="en-ZA" dirty="0"/>
              <a:t>Prioritise and Reinforce</a:t>
            </a:r>
            <a:endParaRPr dirty="0"/>
          </a:p>
        </p:txBody>
      </p:sp>
      <p:grpSp>
        <p:nvGrpSpPr>
          <p:cNvPr id="551" name="Google Shape;551;p31"/>
          <p:cNvGrpSpPr/>
          <p:nvPr/>
        </p:nvGrpSpPr>
        <p:grpSpPr>
          <a:xfrm>
            <a:off x="4876390" y="1521521"/>
            <a:ext cx="3727268" cy="4330629"/>
            <a:chOff x="3540025" y="1356575"/>
            <a:chExt cx="1650475" cy="1917650"/>
          </a:xfrm>
        </p:grpSpPr>
        <p:sp>
          <p:nvSpPr>
            <p:cNvPr id="552" name="Google Shape;552;p31"/>
            <p:cNvSpPr/>
            <p:nvPr/>
          </p:nvSpPr>
          <p:spPr>
            <a:xfrm>
              <a:off x="4119725" y="1787300"/>
              <a:ext cx="1064450" cy="954675"/>
            </a:xfrm>
            <a:custGeom>
              <a:avLst/>
              <a:gdLst/>
              <a:ahLst/>
              <a:cxnLst/>
              <a:rect l="l" t="t" r="r" b="b"/>
              <a:pathLst>
                <a:path w="42578" h="38187" extrusionOk="0">
                  <a:moveTo>
                    <a:pt x="20250" y="0"/>
                  </a:moveTo>
                  <a:cubicBezTo>
                    <a:pt x="19440" y="0"/>
                    <a:pt x="18614" y="398"/>
                    <a:pt x="18233" y="1019"/>
                  </a:cubicBezTo>
                  <a:lnTo>
                    <a:pt x="9" y="29694"/>
                  </a:lnTo>
                  <a:cubicBezTo>
                    <a:pt x="9" y="29694"/>
                    <a:pt x="1" y="31174"/>
                    <a:pt x="9" y="31404"/>
                  </a:cubicBezTo>
                  <a:cubicBezTo>
                    <a:pt x="25" y="31934"/>
                    <a:pt x="420" y="32393"/>
                    <a:pt x="1093" y="32576"/>
                  </a:cubicBezTo>
                  <a:lnTo>
                    <a:pt x="21725" y="38109"/>
                  </a:lnTo>
                  <a:cubicBezTo>
                    <a:pt x="21917" y="38162"/>
                    <a:pt x="22118" y="38186"/>
                    <a:pt x="22319" y="38186"/>
                  </a:cubicBezTo>
                  <a:cubicBezTo>
                    <a:pt x="23127" y="38186"/>
                    <a:pt x="23949" y="37788"/>
                    <a:pt x="24329" y="37167"/>
                  </a:cubicBezTo>
                  <a:lnTo>
                    <a:pt x="42356" y="7487"/>
                  </a:lnTo>
                  <a:cubicBezTo>
                    <a:pt x="42522" y="7226"/>
                    <a:pt x="42578" y="6949"/>
                    <a:pt x="42554" y="6696"/>
                  </a:cubicBezTo>
                  <a:cubicBezTo>
                    <a:pt x="42490" y="6205"/>
                    <a:pt x="42562" y="5199"/>
                    <a:pt x="42562" y="5199"/>
                  </a:cubicBezTo>
                  <a:lnTo>
                    <a:pt x="20846" y="77"/>
                  </a:lnTo>
                  <a:cubicBezTo>
                    <a:pt x="20653" y="25"/>
                    <a:pt x="20452" y="0"/>
                    <a:pt x="20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p:cNvSpPr/>
            <p:nvPr/>
          </p:nvSpPr>
          <p:spPr>
            <a:xfrm>
              <a:off x="4113000" y="1745425"/>
              <a:ext cx="1077500" cy="954600"/>
            </a:xfrm>
            <a:custGeom>
              <a:avLst/>
              <a:gdLst/>
              <a:ahLst/>
              <a:cxnLst/>
              <a:rect l="l" t="t" r="r" b="b"/>
              <a:pathLst>
                <a:path w="43100" h="38184" extrusionOk="0">
                  <a:moveTo>
                    <a:pt x="20526" y="0"/>
                  </a:moveTo>
                  <a:cubicBezTo>
                    <a:pt x="19714" y="0"/>
                    <a:pt x="18884" y="393"/>
                    <a:pt x="18502" y="1016"/>
                  </a:cubicBezTo>
                  <a:lnTo>
                    <a:pt x="476" y="30696"/>
                  </a:lnTo>
                  <a:cubicBezTo>
                    <a:pt x="1" y="31472"/>
                    <a:pt x="397" y="32319"/>
                    <a:pt x="1362" y="32572"/>
                  </a:cubicBezTo>
                  <a:lnTo>
                    <a:pt x="21994" y="38106"/>
                  </a:lnTo>
                  <a:cubicBezTo>
                    <a:pt x="22188" y="38159"/>
                    <a:pt x="22390" y="38184"/>
                    <a:pt x="22594" y="38184"/>
                  </a:cubicBezTo>
                  <a:cubicBezTo>
                    <a:pt x="23400" y="38184"/>
                    <a:pt x="24219" y="37790"/>
                    <a:pt x="24598" y="37164"/>
                  </a:cubicBezTo>
                  <a:lnTo>
                    <a:pt x="42625" y="7492"/>
                  </a:lnTo>
                  <a:cubicBezTo>
                    <a:pt x="43100" y="6708"/>
                    <a:pt x="42704" y="5869"/>
                    <a:pt x="41738" y="5608"/>
                  </a:cubicBezTo>
                  <a:lnTo>
                    <a:pt x="21115" y="74"/>
                  </a:lnTo>
                  <a:cubicBezTo>
                    <a:pt x="20924" y="24"/>
                    <a:pt x="20726" y="0"/>
                    <a:pt x="2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p:cNvSpPr/>
            <p:nvPr/>
          </p:nvSpPr>
          <p:spPr>
            <a:xfrm>
              <a:off x="4118350" y="1930925"/>
              <a:ext cx="1063250" cy="772300"/>
            </a:xfrm>
            <a:custGeom>
              <a:avLst/>
              <a:gdLst/>
              <a:ahLst/>
              <a:cxnLst/>
              <a:rect l="l" t="t" r="r" b="b"/>
              <a:pathLst>
                <a:path w="42530" h="30892" extrusionOk="0">
                  <a:moveTo>
                    <a:pt x="42300" y="1"/>
                  </a:moveTo>
                  <a:lnTo>
                    <a:pt x="24273" y="29673"/>
                  </a:lnTo>
                  <a:cubicBezTo>
                    <a:pt x="23919" y="30261"/>
                    <a:pt x="23140" y="30632"/>
                    <a:pt x="22377" y="30632"/>
                  </a:cubicBezTo>
                  <a:cubicBezTo>
                    <a:pt x="22185" y="30632"/>
                    <a:pt x="21994" y="30609"/>
                    <a:pt x="21811" y="30559"/>
                  </a:cubicBezTo>
                  <a:lnTo>
                    <a:pt x="1188" y="25026"/>
                  </a:lnTo>
                  <a:cubicBezTo>
                    <a:pt x="721" y="24907"/>
                    <a:pt x="380" y="24630"/>
                    <a:pt x="246" y="24266"/>
                  </a:cubicBezTo>
                  <a:lnTo>
                    <a:pt x="0" y="24361"/>
                  </a:lnTo>
                  <a:cubicBezTo>
                    <a:pt x="159" y="24796"/>
                    <a:pt x="570" y="25136"/>
                    <a:pt x="1117" y="25287"/>
                  </a:cubicBezTo>
                  <a:lnTo>
                    <a:pt x="21740" y="30813"/>
                  </a:lnTo>
                  <a:cubicBezTo>
                    <a:pt x="21946" y="30868"/>
                    <a:pt x="22152" y="30892"/>
                    <a:pt x="22365" y="30892"/>
                  </a:cubicBezTo>
                  <a:cubicBezTo>
                    <a:pt x="23220" y="30892"/>
                    <a:pt x="24091" y="30472"/>
                    <a:pt x="24495" y="29815"/>
                  </a:cubicBezTo>
                  <a:lnTo>
                    <a:pt x="42530" y="135"/>
                  </a:lnTo>
                  <a:lnTo>
                    <a:pt x="423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p:cNvSpPr/>
            <p:nvPr/>
          </p:nvSpPr>
          <p:spPr>
            <a:xfrm>
              <a:off x="4167825" y="1785950"/>
              <a:ext cx="970025" cy="859175"/>
            </a:xfrm>
            <a:custGeom>
              <a:avLst/>
              <a:gdLst/>
              <a:ahLst/>
              <a:cxnLst/>
              <a:rect l="l" t="t" r="r" b="b"/>
              <a:pathLst>
                <a:path w="38801" h="34367" extrusionOk="0">
                  <a:moveTo>
                    <a:pt x="18477" y="1"/>
                  </a:moveTo>
                  <a:cubicBezTo>
                    <a:pt x="17746" y="1"/>
                    <a:pt x="17001" y="356"/>
                    <a:pt x="16658" y="915"/>
                  </a:cubicBezTo>
                  <a:lnTo>
                    <a:pt x="428" y="27626"/>
                  </a:lnTo>
                  <a:cubicBezTo>
                    <a:pt x="1" y="28331"/>
                    <a:pt x="365" y="29091"/>
                    <a:pt x="1236" y="29320"/>
                  </a:cubicBezTo>
                  <a:lnTo>
                    <a:pt x="19793" y="34300"/>
                  </a:lnTo>
                  <a:cubicBezTo>
                    <a:pt x="19965" y="34345"/>
                    <a:pt x="20144" y="34367"/>
                    <a:pt x="20324" y="34367"/>
                  </a:cubicBezTo>
                  <a:cubicBezTo>
                    <a:pt x="21055" y="34367"/>
                    <a:pt x="21801" y="34012"/>
                    <a:pt x="22144" y="33453"/>
                  </a:cubicBezTo>
                  <a:lnTo>
                    <a:pt x="38374" y="6742"/>
                  </a:lnTo>
                  <a:cubicBezTo>
                    <a:pt x="38801" y="6037"/>
                    <a:pt x="38437" y="5285"/>
                    <a:pt x="37566" y="5048"/>
                  </a:cubicBezTo>
                  <a:lnTo>
                    <a:pt x="33251" y="3892"/>
                  </a:lnTo>
                  <a:lnTo>
                    <a:pt x="32713" y="4770"/>
                  </a:lnTo>
                  <a:cubicBezTo>
                    <a:pt x="32536" y="5061"/>
                    <a:pt x="32157" y="5241"/>
                    <a:pt x="31781" y="5241"/>
                  </a:cubicBezTo>
                  <a:cubicBezTo>
                    <a:pt x="31687" y="5241"/>
                    <a:pt x="31592" y="5230"/>
                    <a:pt x="31502" y="5206"/>
                  </a:cubicBezTo>
                  <a:lnTo>
                    <a:pt x="21946" y="2649"/>
                  </a:lnTo>
                  <a:cubicBezTo>
                    <a:pt x="21503" y="2522"/>
                    <a:pt x="21313" y="2134"/>
                    <a:pt x="21534" y="1778"/>
                  </a:cubicBezTo>
                  <a:lnTo>
                    <a:pt x="22073" y="891"/>
                  </a:lnTo>
                  <a:lnTo>
                    <a:pt x="19009" y="68"/>
                  </a:lnTo>
                  <a:cubicBezTo>
                    <a:pt x="18837" y="22"/>
                    <a:pt x="18657" y="1"/>
                    <a:pt x="184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p:cNvSpPr/>
            <p:nvPr/>
          </p:nvSpPr>
          <p:spPr>
            <a:xfrm>
              <a:off x="4459175" y="1890775"/>
              <a:ext cx="579325" cy="365925"/>
            </a:xfrm>
            <a:custGeom>
              <a:avLst/>
              <a:gdLst/>
              <a:ahLst/>
              <a:cxnLst/>
              <a:rect l="l" t="t" r="r" b="b"/>
              <a:pathLst>
                <a:path w="23173" h="14637" extrusionOk="0">
                  <a:moveTo>
                    <a:pt x="6823" y="0"/>
                  </a:moveTo>
                  <a:cubicBezTo>
                    <a:pt x="6293" y="0"/>
                    <a:pt x="5787" y="276"/>
                    <a:pt x="5502" y="744"/>
                  </a:cubicBezTo>
                  <a:lnTo>
                    <a:pt x="277" y="9349"/>
                  </a:lnTo>
                  <a:cubicBezTo>
                    <a:pt x="0" y="9793"/>
                    <a:pt x="238" y="10370"/>
                    <a:pt x="736" y="10505"/>
                  </a:cubicBezTo>
                  <a:lnTo>
                    <a:pt x="15945" y="14582"/>
                  </a:lnTo>
                  <a:cubicBezTo>
                    <a:pt x="16079" y="14619"/>
                    <a:pt x="16215" y="14637"/>
                    <a:pt x="16350" y="14637"/>
                  </a:cubicBezTo>
                  <a:cubicBezTo>
                    <a:pt x="16880" y="14637"/>
                    <a:pt x="17386" y="14361"/>
                    <a:pt x="17671" y="13893"/>
                  </a:cubicBezTo>
                  <a:lnTo>
                    <a:pt x="22904" y="5288"/>
                  </a:lnTo>
                  <a:cubicBezTo>
                    <a:pt x="23173" y="4845"/>
                    <a:pt x="22935" y="4267"/>
                    <a:pt x="22436" y="4132"/>
                  </a:cubicBezTo>
                  <a:lnTo>
                    <a:pt x="7228" y="55"/>
                  </a:lnTo>
                  <a:cubicBezTo>
                    <a:pt x="7094" y="18"/>
                    <a:pt x="6958" y="0"/>
                    <a:pt x="68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4384350" y="2207625"/>
              <a:ext cx="445350" cy="153400"/>
            </a:xfrm>
            <a:custGeom>
              <a:avLst/>
              <a:gdLst/>
              <a:ahLst/>
              <a:cxnLst/>
              <a:rect l="l" t="t" r="r" b="b"/>
              <a:pathLst>
                <a:path w="17814" h="6136" extrusionOk="0">
                  <a:moveTo>
                    <a:pt x="816" y="0"/>
                  </a:moveTo>
                  <a:lnTo>
                    <a:pt x="1" y="1346"/>
                  </a:lnTo>
                  <a:lnTo>
                    <a:pt x="16998" y="6136"/>
                  </a:lnTo>
                  <a:lnTo>
                    <a:pt x="17814" y="4790"/>
                  </a:lnTo>
                  <a:lnTo>
                    <a:pt x="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p:cNvSpPr/>
            <p:nvPr/>
          </p:nvSpPr>
          <p:spPr>
            <a:xfrm>
              <a:off x="4344375" y="2272525"/>
              <a:ext cx="445350" cy="153425"/>
            </a:xfrm>
            <a:custGeom>
              <a:avLst/>
              <a:gdLst/>
              <a:ahLst/>
              <a:cxnLst/>
              <a:rect l="l" t="t" r="r" b="b"/>
              <a:pathLst>
                <a:path w="17814" h="6137" extrusionOk="0">
                  <a:moveTo>
                    <a:pt x="816" y="1"/>
                  </a:moveTo>
                  <a:lnTo>
                    <a:pt x="0" y="1347"/>
                  </a:lnTo>
                  <a:lnTo>
                    <a:pt x="16998" y="6136"/>
                  </a:lnTo>
                  <a:lnTo>
                    <a:pt x="17813" y="4799"/>
                  </a:lnTo>
                  <a:lnTo>
                    <a:pt x="8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p:cNvSpPr/>
            <p:nvPr/>
          </p:nvSpPr>
          <p:spPr>
            <a:xfrm>
              <a:off x="4304400" y="2337450"/>
              <a:ext cx="445350" cy="153425"/>
            </a:xfrm>
            <a:custGeom>
              <a:avLst/>
              <a:gdLst/>
              <a:ahLst/>
              <a:cxnLst/>
              <a:rect l="l" t="t" r="r" b="b"/>
              <a:pathLst>
                <a:path w="17814" h="6137" extrusionOk="0">
                  <a:moveTo>
                    <a:pt x="816" y="1"/>
                  </a:moveTo>
                  <a:lnTo>
                    <a:pt x="0" y="1347"/>
                  </a:lnTo>
                  <a:lnTo>
                    <a:pt x="16998" y="6136"/>
                  </a:lnTo>
                  <a:lnTo>
                    <a:pt x="17813" y="4798"/>
                  </a:lnTo>
                  <a:lnTo>
                    <a:pt x="8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p:cNvSpPr/>
            <p:nvPr/>
          </p:nvSpPr>
          <p:spPr>
            <a:xfrm>
              <a:off x="4264425" y="2402375"/>
              <a:ext cx="445125" cy="153400"/>
            </a:xfrm>
            <a:custGeom>
              <a:avLst/>
              <a:gdLst/>
              <a:ahLst/>
              <a:cxnLst/>
              <a:rect l="l" t="t" r="r" b="b"/>
              <a:pathLst>
                <a:path w="17805" h="6136" extrusionOk="0">
                  <a:moveTo>
                    <a:pt x="815" y="0"/>
                  </a:moveTo>
                  <a:lnTo>
                    <a:pt x="0" y="1346"/>
                  </a:lnTo>
                  <a:lnTo>
                    <a:pt x="16997" y="6136"/>
                  </a:lnTo>
                  <a:lnTo>
                    <a:pt x="17805" y="4798"/>
                  </a:lnTo>
                  <a:lnTo>
                    <a:pt x="8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p:cNvSpPr/>
            <p:nvPr/>
          </p:nvSpPr>
          <p:spPr>
            <a:xfrm>
              <a:off x="4924875" y="1611550"/>
              <a:ext cx="103525" cy="101900"/>
            </a:xfrm>
            <a:custGeom>
              <a:avLst/>
              <a:gdLst/>
              <a:ahLst/>
              <a:cxnLst/>
              <a:rect l="l" t="t" r="r" b="b"/>
              <a:pathLst>
                <a:path w="4141" h="4076" extrusionOk="0">
                  <a:moveTo>
                    <a:pt x="1193" y="1"/>
                  </a:moveTo>
                  <a:cubicBezTo>
                    <a:pt x="960" y="1"/>
                    <a:pt x="726" y="68"/>
                    <a:pt x="531" y="204"/>
                  </a:cubicBezTo>
                  <a:cubicBezTo>
                    <a:pt x="175" y="441"/>
                    <a:pt x="1" y="821"/>
                    <a:pt x="1" y="1193"/>
                  </a:cubicBezTo>
                  <a:lnTo>
                    <a:pt x="1" y="3774"/>
                  </a:lnTo>
                  <a:cubicBezTo>
                    <a:pt x="1" y="3941"/>
                    <a:pt x="135" y="4075"/>
                    <a:pt x="301" y="4075"/>
                  </a:cubicBezTo>
                  <a:lnTo>
                    <a:pt x="2874" y="4075"/>
                  </a:lnTo>
                  <a:cubicBezTo>
                    <a:pt x="3254" y="4075"/>
                    <a:pt x="3634" y="3901"/>
                    <a:pt x="3872" y="3545"/>
                  </a:cubicBezTo>
                  <a:cubicBezTo>
                    <a:pt x="4141" y="3149"/>
                    <a:pt x="4141" y="2618"/>
                    <a:pt x="3872" y="2223"/>
                  </a:cubicBezTo>
                  <a:cubicBezTo>
                    <a:pt x="3603" y="1826"/>
                    <a:pt x="3064" y="1750"/>
                    <a:pt x="2692" y="1750"/>
                  </a:cubicBezTo>
                  <a:cubicBezTo>
                    <a:pt x="2462" y="1750"/>
                    <a:pt x="2296" y="1779"/>
                    <a:pt x="2296" y="1779"/>
                  </a:cubicBezTo>
                  <a:cubicBezTo>
                    <a:pt x="2296" y="1779"/>
                    <a:pt x="2494" y="631"/>
                    <a:pt x="1845" y="196"/>
                  </a:cubicBezTo>
                  <a:cubicBezTo>
                    <a:pt x="1653" y="66"/>
                    <a:pt x="1423" y="1"/>
                    <a:pt x="1193"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p:cNvSpPr/>
            <p:nvPr/>
          </p:nvSpPr>
          <p:spPr>
            <a:xfrm>
              <a:off x="4470050" y="1404525"/>
              <a:ext cx="118375" cy="105350"/>
            </a:xfrm>
            <a:custGeom>
              <a:avLst/>
              <a:gdLst/>
              <a:ahLst/>
              <a:cxnLst/>
              <a:rect l="l" t="t" r="r" b="b"/>
              <a:pathLst>
                <a:path w="4735" h="4214" extrusionOk="0">
                  <a:moveTo>
                    <a:pt x="3493" y="1"/>
                  </a:moveTo>
                  <a:cubicBezTo>
                    <a:pt x="3434" y="1"/>
                    <a:pt x="3376" y="5"/>
                    <a:pt x="3318" y="14"/>
                  </a:cubicBezTo>
                  <a:cubicBezTo>
                    <a:pt x="2550" y="141"/>
                    <a:pt x="2249" y="1265"/>
                    <a:pt x="2249" y="1265"/>
                  </a:cubicBezTo>
                  <a:cubicBezTo>
                    <a:pt x="2249" y="1265"/>
                    <a:pt x="1685" y="873"/>
                    <a:pt x="1123" y="873"/>
                  </a:cubicBezTo>
                  <a:cubicBezTo>
                    <a:pt x="952" y="873"/>
                    <a:pt x="781" y="909"/>
                    <a:pt x="626" y="1003"/>
                  </a:cubicBezTo>
                  <a:cubicBezTo>
                    <a:pt x="222" y="1249"/>
                    <a:pt x="1" y="1732"/>
                    <a:pt x="72" y="2199"/>
                  </a:cubicBezTo>
                  <a:cubicBezTo>
                    <a:pt x="143" y="2626"/>
                    <a:pt x="412" y="2943"/>
                    <a:pt x="753" y="3101"/>
                  </a:cubicBezTo>
                  <a:lnTo>
                    <a:pt x="3088" y="4186"/>
                  </a:lnTo>
                  <a:cubicBezTo>
                    <a:pt x="3130" y="4205"/>
                    <a:pt x="3173" y="4214"/>
                    <a:pt x="3216" y="4214"/>
                  </a:cubicBezTo>
                  <a:cubicBezTo>
                    <a:pt x="3332" y="4214"/>
                    <a:pt x="3440" y="4146"/>
                    <a:pt x="3492" y="4036"/>
                  </a:cubicBezTo>
                  <a:lnTo>
                    <a:pt x="4577" y="1700"/>
                  </a:lnTo>
                  <a:cubicBezTo>
                    <a:pt x="4735" y="1352"/>
                    <a:pt x="4735" y="940"/>
                    <a:pt x="4513" y="568"/>
                  </a:cubicBezTo>
                  <a:cubicBezTo>
                    <a:pt x="4298" y="215"/>
                    <a:pt x="3901" y="1"/>
                    <a:pt x="3493"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p:cNvSpPr/>
            <p:nvPr/>
          </p:nvSpPr>
          <p:spPr>
            <a:xfrm>
              <a:off x="4238675" y="1619400"/>
              <a:ext cx="167075" cy="158250"/>
            </a:xfrm>
            <a:custGeom>
              <a:avLst/>
              <a:gdLst/>
              <a:ahLst/>
              <a:cxnLst/>
              <a:rect l="l" t="t" r="r" b="b"/>
              <a:pathLst>
                <a:path w="6683" h="6330" extrusionOk="0">
                  <a:moveTo>
                    <a:pt x="4809" y="0"/>
                  </a:moveTo>
                  <a:cubicBezTo>
                    <a:pt x="4532" y="0"/>
                    <a:pt x="4254" y="63"/>
                    <a:pt x="3999" y="191"/>
                  </a:cubicBezTo>
                  <a:cubicBezTo>
                    <a:pt x="2946" y="729"/>
                    <a:pt x="3033" y="2494"/>
                    <a:pt x="3033" y="2494"/>
                  </a:cubicBezTo>
                  <a:cubicBezTo>
                    <a:pt x="3033" y="2494"/>
                    <a:pt x="2550" y="2347"/>
                    <a:pt x="1983" y="2347"/>
                  </a:cubicBezTo>
                  <a:cubicBezTo>
                    <a:pt x="1489" y="2347"/>
                    <a:pt x="932" y="2458"/>
                    <a:pt x="571" y="2874"/>
                  </a:cubicBezTo>
                  <a:cubicBezTo>
                    <a:pt x="96" y="3421"/>
                    <a:pt x="1" y="4228"/>
                    <a:pt x="333" y="4869"/>
                  </a:cubicBezTo>
                  <a:cubicBezTo>
                    <a:pt x="626" y="5447"/>
                    <a:pt x="1165" y="5780"/>
                    <a:pt x="1735" y="5851"/>
                  </a:cubicBezTo>
                  <a:lnTo>
                    <a:pt x="5622" y="6326"/>
                  </a:lnTo>
                  <a:cubicBezTo>
                    <a:pt x="5642" y="6329"/>
                    <a:pt x="5662" y="6330"/>
                    <a:pt x="5681" y="6330"/>
                  </a:cubicBezTo>
                  <a:cubicBezTo>
                    <a:pt x="5910" y="6330"/>
                    <a:pt x="6107" y="6164"/>
                    <a:pt x="6136" y="5930"/>
                  </a:cubicBezTo>
                  <a:lnTo>
                    <a:pt x="6611" y="2035"/>
                  </a:lnTo>
                  <a:cubicBezTo>
                    <a:pt x="6683" y="1473"/>
                    <a:pt x="6485" y="871"/>
                    <a:pt x="5994" y="444"/>
                  </a:cubicBezTo>
                  <a:cubicBezTo>
                    <a:pt x="5662" y="151"/>
                    <a:pt x="5237" y="0"/>
                    <a:pt x="4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a:off x="4601675" y="1922600"/>
              <a:ext cx="393100" cy="357500"/>
            </a:xfrm>
            <a:custGeom>
              <a:avLst/>
              <a:gdLst/>
              <a:ahLst/>
              <a:cxnLst/>
              <a:rect l="l" t="t" r="r" b="b"/>
              <a:pathLst>
                <a:path w="15724" h="14300" extrusionOk="0">
                  <a:moveTo>
                    <a:pt x="7853" y="0"/>
                  </a:moveTo>
                  <a:cubicBezTo>
                    <a:pt x="4612" y="0"/>
                    <a:pt x="1676" y="2221"/>
                    <a:pt x="903" y="5511"/>
                  </a:cubicBezTo>
                  <a:cubicBezTo>
                    <a:pt x="0" y="9359"/>
                    <a:pt x="2383" y="13198"/>
                    <a:pt x="6223" y="14109"/>
                  </a:cubicBezTo>
                  <a:cubicBezTo>
                    <a:pt x="6773" y="14238"/>
                    <a:pt x="7323" y="14300"/>
                    <a:pt x="7865" y="14300"/>
                  </a:cubicBezTo>
                  <a:cubicBezTo>
                    <a:pt x="11111" y="14300"/>
                    <a:pt x="14047" y="12078"/>
                    <a:pt x="14821" y="8781"/>
                  </a:cubicBezTo>
                  <a:cubicBezTo>
                    <a:pt x="15723" y="4941"/>
                    <a:pt x="13340" y="1094"/>
                    <a:pt x="9493" y="191"/>
                  </a:cubicBezTo>
                  <a:cubicBezTo>
                    <a:pt x="8943" y="62"/>
                    <a:pt x="8394" y="0"/>
                    <a:pt x="78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p:cNvSpPr/>
            <p:nvPr/>
          </p:nvSpPr>
          <p:spPr>
            <a:xfrm>
              <a:off x="4684400" y="1991475"/>
              <a:ext cx="237325" cy="220350"/>
            </a:xfrm>
            <a:custGeom>
              <a:avLst/>
              <a:gdLst/>
              <a:ahLst/>
              <a:cxnLst/>
              <a:rect l="l" t="t" r="r" b="b"/>
              <a:pathLst>
                <a:path w="9493" h="8814" extrusionOk="0">
                  <a:moveTo>
                    <a:pt x="4633" y="0"/>
                  </a:moveTo>
                  <a:cubicBezTo>
                    <a:pt x="2634" y="0"/>
                    <a:pt x="830" y="1371"/>
                    <a:pt x="349" y="3397"/>
                  </a:cubicBezTo>
                  <a:cubicBezTo>
                    <a:pt x="1" y="4886"/>
                    <a:pt x="452" y="6366"/>
                    <a:pt x="1418" y="7403"/>
                  </a:cubicBezTo>
                  <a:lnTo>
                    <a:pt x="784" y="8488"/>
                  </a:lnTo>
                  <a:lnTo>
                    <a:pt x="2194" y="8076"/>
                  </a:lnTo>
                  <a:cubicBezTo>
                    <a:pt x="2621" y="8353"/>
                    <a:pt x="3104" y="8575"/>
                    <a:pt x="3634" y="8694"/>
                  </a:cubicBezTo>
                  <a:cubicBezTo>
                    <a:pt x="3975" y="8775"/>
                    <a:pt x="4316" y="8813"/>
                    <a:pt x="4652" y="8813"/>
                  </a:cubicBezTo>
                  <a:cubicBezTo>
                    <a:pt x="6647" y="8813"/>
                    <a:pt x="8456" y="7443"/>
                    <a:pt x="8931" y="5416"/>
                  </a:cubicBezTo>
                  <a:cubicBezTo>
                    <a:pt x="9493" y="3041"/>
                    <a:pt x="8020" y="674"/>
                    <a:pt x="5653" y="120"/>
                  </a:cubicBezTo>
                  <a:cubicBezTo>
                    <a:pt x="5311" y="39"/>
                    <a:pt x="4970" y="0"/>
                    <a:pt x="46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p:cNvSpPr/>
            <p:nvPr/>
          </p:nvSpPr>
          <p:spPr>
            <a:xfrm>
              <a:off x="4814825" y="1999650"/>
              <a:ext cx="146700" cy="133400"/>
            </a:xfrm>
            <a:custGeom>
              <a:avLst/>
              <a:gdLst/>
              <a:ahLst/>
              <a:cxnLst/>
              <a:rect l="l" t="t" r="r" b="b"/>
              <a:pathLst>
                <a:path w="5868" h="5336" extrusionOk="0">
                  <a:moveTo>
                    <a:pt x="2940" y="0"/>
                  </a:moveTo>
                  <a:cubicBezTo>
                    <a:pt x="1728" y="0"/>
                    <a:pt x="626" y="828"/>
                    <a:pt x="341" y="2057"/>
                  </a:cubicBezTo>
                  <a:cubicBezTo>
                    <a:pt x="1" y="3490"/>
                    <a:pt x="895" y="4931"/>
                    <a:pt x="2328" y="5263"/>
                  </a:cubicBezTo>
                  <a:cubicBezTo>
                    <a:pt x="2534" y="5312"/>
                    <a:pt x="2740" y="5336"/>
                    <a:pt x="2943" y="5336"/>
                  </a:cubicBezTo>
                  <a:cubicBezTo>
                    <a:pt x="4150" y="5336"/>
                    <a:pt x="5243" y="4503"/>
                    <a:pt x="5535" y="3276"/>
                  </a:cubicBezTo>
                  <a:cubicBezTo>
                    <a:pt x="5867" y="1843"/>
                    <a:pt x="4980" y="410"/>
                    <a:pt x="3547" y="70"/>
                  </a:cubicBezTo>
                  <a:cubicBezTo>
                    <a:pt x="3344" y="23"/>
                    <a:pt x="3141" y="0"/>
                    <a:pt x="29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p:cNvSpPr/>
            <p:nvPr/>
          </p:nvSpPr>
          <p:spPr>
            <a:xfrm>
              <a:off x="4864218" y="2028300"/>
              <a:ext cx="47925" cy="65400"/>
            </a:xfrm>
            <a:custGeom>
              <a:avLst/>
              <a:gdLst/>
              <a:ahLst/>
              <a:cxnLst/>
              <a:rect l="l" t="t" r="r" b="b"/>
              <a:pathLst>
                <a:path w="1917" h="2616" extrusionOk="0">
                  <a:moveTo>
                    <a:pt x="1025" y="428"/>
                  </a:moveTo>
                  <a:cubicBezTo>
                    <a:pt x="1062" y="428"/>
                    <a:pt x="1101" y="433"/>
                    <a:pt x="1140" y="444"/>
                  </a:cubicBezTo>
                  <a:cubicBezTo>
                    <a:pt x="1267" y="468"/>
                    <a:pt x="1354" y="531"/>
                    <a:pt x="1410" y="618"/>
                  </a:cubicBezTo>
                  <a:cubicBezTo>
                    <a:pt x="1457" y="713"/>
                    <a:pt x="1473" y="824"/>
                    <a:pt x="1441" y="959"/>
                  </a:cubicBezTo>
                  <a:cubicBezTo>
                    <a:pt x="1410" y="1077"/>
                    <a:pt x="1354" y="1172"/>
                    <a:pt x="1267" y="1228"/>
                  </a:cubicBezTo>
                  <a:cubicBezTo>
                    <a:pt x="1215" y="1264"/>
                    <a:pt x="1153" y="1284"/>
                    <a:pt x="1083" y="1284"/>
                  </a:cubicBezTo>
                  <a:cubicBezTo>
                    <a:pt x="1046" y="1284"/>
                    <a:pt x="1007" y="1278"/>
                    <a:pt x="966" y="1267"/>
                  </a:cubicBezTo>
                  <a:cubicBezTo>
                    <a:pt x="824" y="1236"/>
                    <a:pt x="729" y="1172"/>
                    <a:pt x="681" y="1085"/>
                  </a:cubicBezTo>
                  <a:cubicBezTo>
                    <a:pt x="626" y="990"/>
                    <a:pt x="618" y="887"/>
                    <a:pt x="650" y="761"/>
                  </a:cubicBezTo>
                  <a:cubicBezTo>
                    <a:pt x="673" y="642"/>
                    <a:pt x="737" y="547"/>
                    <a:pt x="824" y="492"/>
                  </a:cubicBezTo>
                  <a:cubicBezTo>
                    <a:pt x="882" y="449"/>
                    <a:pt x="950" y="428"/>
                    <a:pt x="1025" y="428"/>
                  </a:cubicBezTo>
                  <a:close/>
                  <a:moveTo>
                    <a:pt x="965" y="0"/>
                  </a:moveTo>
                  <a:cubicBezTo>
                    <a:pt x="811" y="0"/>
                    <a:pt x="674" y="39"/>
                    <a:pt x="555" y="112"/>
                  </a:cubicBezTo>
                  <a:cubicBezTo>
                    <a:pt x="372" y="222"/>
                    <a:pt x="246" y="404"/>
                    <a:pt x="190" y="658"/>
                  </a:cubicBezTo>
                  <a:cubicBezTo>
                    <a:pt x="151" y="832"/>
                    <a:pt x="151" y="982"/>
                    <a:pt x="190" y="1117"/>
                  </a:cubicBezTo>
                  <a:cubicBezTo>
                    <a:pt x="230" y="1252"/>
                    <a:pt x="301" y="1362"/>
                    <a:pt x="404" y="1449"/>
                  </a:cubicBezTo>
                  <a:cubicBezTo>
                    <a:pt x="507" y="1537"/>
                    <a:pt x="634" y="1600"/>
                    <a:pt x="776" y="1632"/>
                  </a:cubicBezTo>
                  <a:cubicBezTo>
                    <a:pt x="841" y="1650"/>
                    <a:pt x="903" y="1658"/>
                    <a:pt x="964" y="1658"/>
                  </a:cubicBezTo>
                  <a:cubicBezTo>
                    <a:pt x="1008" y="1658"/>
                    <a:pt x="1050" y="1654"/>
                    <a:pt x="1093" y="1647"/>
                  </a:cubicBezTo>
                  <a:cubicBezTo>
                    <a:pt x="1196" y="1624"/>
                    <a:pt x="1283" y="1584"/>
                    <a:pt x="1354" y="1529"/>
                  </a:cubicBezTo>
                  <a:lnTo>
                    <a:pt x="1354" y="1529"/>
                  </a:lnTo>
                  <a:cubicBezTo>
                    <a:pt x="1291" y="1806"/>
                    <a:pt x="1212" y="1996"/>
                    <a:pt x="1117" y="2091"/>
                  </a:cubicBezTo>
                  <a:cubicBezTo>
                    <a:pt x="1052" y="2167"/>
                    <a:pt x="970" y="2209"/>
                    <a:pt x="873" y="2209"/>
                  </a:cubicBezTo>
                  <a:cubicBezTo>
                    <a:pt x="840" y="2209"/>
                    <a:pt x="805" y="2204"/>
                    <a:pt x="768" y="2194"/>
                  </a:cubicBezTo>
                  <a:cubicBezTo>
                    <a:pt x="665" y="2170"/>
                    <a:pt x="586" y="2122"/>
                    <a:pt x="531" y="2059"/>
                  </a:cubicBezTo>
                  <a:cubicBezTo>
                    <a:pt x="475" y="1988"/>
                    <a:pt x="452" y="1901"/>
                    <a:pt x="460" y="1798"/>
                  </a:cubicBezTo>
                  <a:lnTo>
                    <a:pt x="16" y="1695"/>
                  </a:lnTo>
                  <a:lnTo>
                    <a:pt x="16" y="1695"/>
                  </a:lnTo>
                  <a:cubicBezTo>
                    <a:pt x="0" y="1822"/>
                    <a:pt x="8" y="1948"/>
                    <a:pt x="40" y="2067"/>
                  </a:cubicBezTo>
                  <a:cubicBezTo>
                    <a:pt x="80" y="2186"/>
                    <a:pt x="151" y="2297"/>
                    <a:pt x="254" y="2384"/>
                  </a:cubicBezTo>
                  <a:cubicBezTo>
                    <a:pt x="357" y="2479"/>
                    <a:pt x="491" y="2542"/>
                    <a:pt x="657" y="2582"/>
                  </a:cubicBezTo>
                  <a:cubicBezTo>
                    <a:pt x="747" y="2605"/>
                    <a:pt x="831" y="2615"/>
                    <a:pt x="908" y="2615"/>
                  </a:cubicBezTo>
                  <a:cubicBezTo>
                    <a:pt x="1017" y="2615"/>
                    <a:pt x="1113" y="2595"/>
                    <a:pt x="1196" y="2558"/>
                  </a:cubicBezTo>
                  <a:cubicBezTo>
                    <a:pt x="1346" y="2487"/>
                    <a:pt x="1465" y="2368"/>
                    <a:pt x="1560" y="2186"/>
                  </a:cubicBezTo>
                  <a:cubicBezTo>
                    <a:pt x="1655" y="2012"/>
                    <a:pt x="1742" y="1774"/>
                    <a:pt x="1805" y="1481"/>
                  </a:cubicBezTo>
                  <a:cubicBezTo>
                    <a:pt x="1908" y="1069"/>
                    <a:pt x="1916" y="737"/>
                    <a:pt x="1829" y="499"/>
                  </a:cubicBezTo>
                  <a:cubicBezTo>
                    <a:pt x="1742" y="262"/>
                    <a:pt x="1544" y="112"/>
                    <a:pt x="1220" y="32"/>
                  </a:cubicBezTo>
                  <a:cubicBezTo>
                    <a:pt x="1130" y="11"/>
                    <a:pt x="1045" y="0"/>
                    <a:pt x="9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a:off x="4069650" y="2391025"/>
              <a:ext cx="399250" cy="233050"/>
            </a:xfrm>
            <a:custGeom>
              <a:avLst/>
              <a:gdLst/>
              <a:ahLst/>
              <a:cxnLst/>
              <a:rect l="l" t="t" r="r" b="b"/>
              <a:pathLst>
                <a:path w="15970" h="9322" extrusionOk="0">
                  <a:moveTo>
                    <a:pt x="11546" y="0"/>
                  </a:moveTo>
                  <a:cubicBezTo>
                    <a:pt x="10432" y="0"/>
                    <a:pt x="9230" y="220"/>
                    <a:pt x="8108" y="565"/>
                  </a:cubicBezTo>
                  <a:cubicBezTo>
                    <a:pt x="6984" y="921"/>
                    <a:pt x="6524" y="1808"/>
                    <a:pt x="5582" y="2513"/>
                  </a:cubicBezTo>
                  <a:cubicBezTo>
                    <a:pt x="4577" y="3273"/>
                    <a:pt x="3548" y="4017"/>
                    <a:pt x="2463" y="4650"/>
                  </a:cubicBezTo>
                  <a:cubicBezTo>
                    <a:pt x="1791" y="5036"/>
                    <a:pt x="931" y="5572"/>
                    <a:pt x="117" y="5572"/>
                  </a:cubicBezTo>
                  <a:cubicBezTo>
                    <a:pt x="78" y="5572"/>
                    <a:pt x="40" y="5571"/>
                    <a:pt x="1" y="5569"/>
                  </a:cubicBezTo>
                  <a:lnTo>
                    <a:pt x="1" y="5569"/>
                  </a:lnTo>
                  <a:lnTo>
                    <a:pt x="7451" y="9321"/>
                  </a:lnTo>
                  <a:cubicBezTo>
                    <a:pt x="8614" y="8347"/>
                    <a:pt x="9636" y="7350"/>
                    <a:pt x="10974" y="6669"/>
                  </a:cubicBezTo>
                  <a:cubicBezTo>
                    <a:pt x="12375" y="5949"/>
                    <a:pt x="13578" y="4927"/>
                    <a:pt x="15043" y="4294"/>
                  </a:cubicBezTo>
                  <a:cubicBezTo>
                    <a:pt x="15367" y="4152"/>
                    <a:pt x="15732" y="3985"/>
                    <a:pt x="15874" y="3653"/>
                  </a:cubicBezTo>
                  <a:cubicBezTo>
                    <a:pt x="15969" y="3431"/>
                    <a:pt x="15945" y="3170"/>
                    <a:pt x="15898" y="2932"/>
                  </a:cubicBezTo>
                  <a:cubicBezTo>
                    <a:pt x="15724" y="2077"/>
                    <a:pt x="15296" y="1254"/>
                    <a:pt x="14584" y="763"/>
                  </a:cubicBezTo>
                  <a:cubicBezTo>
                    <a:pt x="14053" y="383"/>
                    <a:pt x="13396" y="217"/>
                    <a:pt x="12755" y="98"/>
                  </a:cubicBezTo>
                  <a:cubicBezTo>
                    <a:pt x="12370" y="31"/>
                    <a:pt x="11964" y="0"/>
                    <a:pt x="115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a:off x="4184650" y="2480525"/>
              <a:ext cx="335575" cy="233200"/>
            </a:xfrm>
            <a:custGeom>
              <a:avLst/>
              <a:gdLst/>
              <a:ahLst/>
              <a:cxnLst/>
              <a:rect l="l" t="t" r="r" b="b"/>
              <a:pathLst>
                <a:path w="13423" h="9328" extrusionOk="0">
                  <a:moveTo>
                    <a:pt x="10891" y="1"/>
                  </a:moveTo>
                  <a:cubicBezTo>
                    <a:pt x="10874" y="1"/>
                    <a:pt x="10856" y="1"/>
                    <a:pt x="10839" y="2"/>
                  </a:cubicBezTo>
                  <a:cubicBezTo>
                    <a:pt x="8820" y="49"/>
                    <a:pt x="7086" y="334"/>
                    <a:pt x="5242" y="1221"/>
                  </a:cubicBezTo>
                  <a:cubicBezTo>
                    <a:pt x="3460" y="2084"/>
                    <a:pt x="1814" y="3200"/>
                    <a:pt x="1" y="3999"/>
                  </a:cubicBezTo>
                  <a:lnTo>
                    <a:pt x="6579" y="9327"/>
                  </a:lnTo>
                  <a:cubicBezTo>
                    <a:pt x="6579" y="9327"/>
                    <a:pt x="10696" y="5702"/>
                    <a:pt x="12454" y="3762"/>
                  </a:cubicBezTo>
                  <a:cubicBezTo>
                    <a:pt x="12675" y="3517"/>
                    <a:pt x="12905" y="3255"/>
                    <a:pt x="13008" y="2931"/>
                  </a:cubicBezTo>
                  <a:cubicBezTo>
                    <a:pt x="13422" y="1539"/>
                    <a:pt x="12269" y="1"/>
                    <a:pt x="10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p:cNvSpPr/>
            <p:nvPr/>
          </p:nvSpPr>
          <p:spPr>
            <a:xfrm>
              <a:off x="4183475" y="2474550"/>
              <a:ext cx="284025" cy="109150"/>
            </a:xfrm>
            <a:custGeom>
              <a:avLst/>
              <a:gdLst/>
              <a:ahLst/>
              <a:cxnLst/>
              <a:rect l="l" t="t" r="r" b="b"/>
              <a:pathLst>
                <a:path w="11361" h="4366" extrusionOk="0">
                  <a:moveTo>
                    <a:pt x="9984" y="0"/>
                  </a:moveTo>
                  <a:cubicBezTo>
                    <a:pt x="8553" y="0"/>
                    <a:pt x="6797" y="478"/>
                    <a:pt x="5225" y="1349"/>
                  </a:cubicBezTo>
                  <a:cubicBezTo>
                    <a:pt x="4813" y="1571"/>
                    <a:pt x="4402" y="1808"/>
                    <a:pt x="3990" y="2038"/>
                  </a:cubicBezTo>
                  <a:cubicBezTo>
                    <a:pt x="2700" y="2766"/>
                    <a:pt x="1370" y="3510"/>
                    <a:pt x="0" y="4120"/>
                  </a:cubicBezTo>
                  <a:lnTo>
                    <a:pt x="103" y="4365"/>
                  </a:lnTo>
                  <a:cubicBezTo>
                    <a:pt x="1488" y="3748"/>
                    <a:pt x="2826" y="2996"/>
                    <a:pt x="4117" y="2267"/>
                  </a:cubicBezTo>
                  <a:cubicBezTo>
                    <a:pt x="4528" y="2038"/>
                    <a:pt x="4940" y="1808"/>
                    <a:pt x="5352" y="1578"/>
                  </a:cubicBezTo>
                  <a:cubicBezTo>
                    <a:pt x="6890" y="733"/>
                    <a:pt x="8597" y="262"/>
                    <a:pt x="9977" y="262"/>
                  </a:cubicBezTo>
                  <a:cubicBezTo>
                    <a:pt x="10459" y="262"/>
                    <a:pt x="10901" y="320"/>
                    <a:pt x="11282" y="438"/>
                  </a:cubicBezTo>
                  <a:lnTo>
                    <a:pt x="11361" y="185"/>
                  </a:lnTo>
                  <a:cubicBezTo>
                    <a:pt x="10958" y="61"/>
                    <a:pt x="10491" y="0"/>
                    <a:pt x="9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p:cNvSpPr/>
            <p:nvPr/>
          </p:nvSpPr>
          <p:spPr>
            <a:xfrm>
              <a:off x="3540025" y="2133775"/>
              <a:ext cx="1027825" cy="1140450"/>
            </a:xfrm>
            <a:custGeom>
              <a:avLst/>
              <a:gdLst/>
              <a:ahLst/>
              <a:cxnLst/>
              <a:rect l="l" t="t" r="r" b="b"/>
              <a:pathLst>
                <a:path w="41113" h="45618" extrusionOk="0">
                  <a:moveTo>
                    <a:pt x="35288" y="0"/>
                  </a:moveTo>
                  <a:cubicBezTo>
                    <a:pt x="34725" y="0"/>
                    <a:pt x="34100" y="343"/>
                    <a:pt x="33702" y="722"/>
                  </a:cubicBezTo>
                  <a:cubicBezTo>
                    <a:pt x="30464" y="3809"/>
                    <a:pt x="27092" y="5179"/>
                    <a:pt x="24234" y="7989"/>
                  </a:cubicBezTo>
                  <a:cubicBezTo>
                    <a:pt x="22310" y="9874"/>
                    <a:pt x="18763" y="13943"/>
                    <a:pt x="16942" y="15930"/>
                  </a:cubicBezTo>
                  <a:cubicBezTo>
                    <a:pt x="14575" y="18503"/>
                    <a:pt x="3207" y="35286"/>
                    <a:pt x="0" y="38224"/>
                  </a:cubicBezTo>
                  <a:lnTo>
                    <a:pt x="18011" y="45618"/>
                  </a:lnTo>
                  <a:cubicBezTo>
                    <a:pt x="18011" y="45618"/>
                    <a:pt x="22785" y="39356"/>
                    <a:pt x="24226" y="38754"/>
                  </a:cubicBezTo>
                  <a:cubicBezTo>
                    <a:pt x="25683" y="38152"/>
                    <a:pt x="27021" y="36925"/>
                    <a:pt x="28081" y="35746"/>
                  </a:cubicBezTo>
                  <a:cubicBezTo>
                    <a:pt x="29594" y="34059"/>
                    <a:pt x="30654" y="32017"/>
                    <a:pt x="31945" y="30148"/>
                  </a:cubicBezTo>
                  <a:cubicBezTo>
                    <a:pt x="32832" y="28866"/>
                    <a:pt x="33821" y="27663"/>
                    <a:pt x="34906" y="26554"/>
                  </a:cubicBezTo>
                  <a:cubicBezTo>
                    <a:pt x="35268" y="27184"/>
                    <a:pt x="35928" y="27708"/>
                    <a:pt x="36632" y="27708"/>
                  </a:cubicBezTo>
                  <a:cubicBezTo>
                    <a:pt x="36697" y="27708"/>
                    <a:pt x="36763" y="27704"/>
                    <a:pt x="36830" y="27694"/>
                  </a:cubicBezTo>
                  <a:cubicBezTo>
                    <a:pt x="37780" y="27560"/>
                    <a:pt x="38334" y="26586"/>
                    <a:pt x="38753" y="25715"/>
                  </a:cubicBezTo>
                  <a:cubicBezTo>
                    <a:pt x="39244" y="24710"/>
                    <a:pt x="39965" y="23878"/>
                    <a:pt x="40503" y="22897"/>
                  </a:cubicBezTo>
                  <a:cubicBezTo>
                    <a:pt x="40590" y="22738"/>
                    <a:pt x="40677" y="22580"/>
                    <a:pt x="40733" y="22414"/>
                  </a:cubicBezTo>
                  <a:cubicBezTo>
                    <a:pt x="41113" y="21210"/>
                    <a:pt x="40669" y="19366"/>
                    <a:pt x="40012" y="18337"/>
                  </a:cubicBezTo>
                  <a:cubicBezTo>
                    <a:pt x="39595" y="17681"/>
                    <a:pt x="38876" y="17159"/>
                    <a:pt x="38114" y="17159"/>
                  </a:cubicBezTo>
                  <a:cubicBezTo>
                    <a:pt x="38066" y="17159"/>
                    <a:pt x="38018" y="17161"/>
                    <a:pt x="37970" y="17165"/>
                  </a:cubicBezTo>
                  <a:cubicBezTo>
                    <a:pt x="37392" y="17212"/>
                    <a:pt x="36885" y="17545"/>
                    <a:pt x="36418" y="17893"/>
                  </a:cubicBezTo>
                  <a:cubicBezTo>
                    <a:pt x="34367" y="19421"/>
                    <a:pt x="33607" y="20284"/>
                    <a:pt x="31280" y="21567"/>
                  </a:cubicBezTo>
                  <a:lnTo>
                    <a:pt x="24907" y="16516"/>
                  </a:lnTo>
                  <a:cubicBezTo>
                    <a:pt x="26617" y="14449"/>
                    <a:pt x="28161" y="12130"/>
                    <a:pt x="30528" y="9652"/>
                  </a:cubicBezTo>
                  <a:cubicBezTo>
                    <a:pt x="31557" y="8567"/>
                    <a:pt x="33750" y="7126"/>
                    <a:pt x="34494" y="6216"/>
                  </a:cubicBezTo>
                  <a:cubicBezTo>
                    <a:pt x="35547" y="4941"/>
                    <a:pt x="36663" y="3485"/>
                    <a:pt x="36560" y="1822"/>
                  </a:cubicBezTo>
                  <a:cubicBezTo>
                    <a:pt x="36521" y="1221"/>
                    <a:pt x="36323" y="373"/>
                    <a:pt x="35792" y="112"/>
                  </a:cubicBezTo>
                  <a:cubicBezTo>
                    <a:pt x="35637" y="34"/>
                    <a:pt x="35465" y="0"/>
                    <a:pt x="352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p:cNvSpPr/>
            <p:nvPr/>
          </p:nvSpPr>
          <p:spPr>
            <a:xfrm>
              <a:off x="4320425" y="2559350"/>
              <a:ext cx="222675" cy="116375"/>
            </a:xfrm>
            <a:custGeom>
              <a:avLst/>
              <a:gdLst/>
              <a:ahLst/>
              <a:cxnLst/>
              <a:rect l="l" t="t" r="r" b="b"/>
              <a:pathLst>
                <a:path w="8907" h="4655" extrusionOk="0">
                  <a:moveTo>
                    <a:pt x="6892" y="0"/>
                  </a:moveTo>
                  <a:cubicBezTo>
                    <a:pt x="6841" y="0"/>
                    <a:pt x="6789" y="3"/>
                    <a:pt x="6738" y="7"/>
                  </a:cubicBezTo>
                  <a:cubicBezTo>
                    <a:pt x="6120" y="63"/>
                    <a:pt x="5582" y="427"/>
                    <a:pt x="5123" y="767"/>
                  </a:cubicBezTo>
                  <a:cubicBezTo>
                    <a:pt x="4497" y="1234"/>
                    <a:pt x="3975" y="1646"/>
                    <a:pt x="3516" y="2018"/>
                  </a:cubicBezTo>
                  <a:cubicBezTo>
                    <a:pt x="2447" y="2865"/>
                    <a:pt x="1600" y="3546"/>
                    <a:pt x="1" y="4425"/>
                  </a:cubicBezTo>
                  <a:lnTo>
                    <a:pt x="127" y="4654"/>
                  </a:lnTo>
                  <a:cubicBezTo>
                    <a:pt x="1750" y="3760"/>
                    <a:pt x="2597" y="3079"/>
                    <a:pt x="3682" y="2224"/>
                  </a:cubicBezTo>
                  <a:cubicBezTo>
                    <a:pt x="4157" y="1836"/>
                    <a:pt x="4656" y="1440"/>
                    <a:pt x="5281" y="973"/>
                  </a:cubicBezTo>
                  <a:cubicBezTo>
                    <a:pt x="5709" y="664"/>
                    <a:pt x="6207" y="324"/>
                    <a:pt x="6761" y="269"/>
                  </a:cubicBezTo>
                  <a:cubicBezTo>
                    <a:pt x="6802" y="265"/>
                    <a:pt x="6842" y="264"/>
                    <a:pt x="6883" y="264"/>
                  </a:cubicBezTo>
                  <a:cubicBezTo>
                    <a:pt x="7551" y="264"/>
                    <a:pt x="8245" y="691"/>
                    <a:pt x="8685" y="1385"/>
                  </a:cubicBezTo>
                  <a:lnTo>
                    <a:pt x="8907" y="1250"/>
                  </a:lnTo>
                  <a:cubicBezTo>
                    <a:pt x="8418" y="480"/>
                    <a:pt x="7645" y="0"/>
                    <a:pt x="68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p:cNvSpPr/>
            <p:nvPr/>
          </p:nvSpPr>
          <p:spPr>
            <a:xfrm>
              <a:off x="4410275" y="2700050"/>
              <a:ext cx="100375" cy="99775"/>
            </a:xfrm>
            <a:custGeom>
              <a:avLst/>
              <a:gdLst/>
              <a:ahLst/>
              <a:cxnLst/>
              <a:rect l="l" t="t" r="r" b="b"/>
              <a:pathLst>
                <a:path w="4015" h="3991" extrusionOk="0">
                  <a:moveTo>
                    <a:pt x="3872" y="0"/>
                  </a:moveTo>
                  <a:cubicBezTo>
                    <a:pt x="2708" y="760"/>
                    <a:pt x="112" y="3689"/>
                    <a:pt x="1" y="3816"/>
                  </a:cubicBezTo>
                  <a:lnTo>
                    <a:pt x="199" y="3990"/>
                  </a:lnTo>
                  <a:cubicBezTo>
                    <a:pt x="222" y="3959"/>
                    <a:pt x="2882" y="958"/>
                    <a:pt x="4015" y="222"/>
                  </a:cubicBezTo>
                  <a:lnTo>
                    <a:pt x="3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p:cNvSpPr/>
            <p:nvPr/>
          </p:nvSpPr>
          <p:spPr>
            <a:xfrm>
              <a:off x="4065500" y="2402575"/>
              <a:ext cx="210825" cy="118775"/>
            </a:xfrm>
            <a:custGeom>
              <a:avLst/>
              <a:gdLst/>
              <a:ahLst/>
              <a:cxnLst/>
              <a:rect l="l" t="t" r="r" b="b"/>
              <a:pathLst>
                <a:path w="8433" h="4751" extrusionOk="0">
                  <a:moveTo>
                    <a:pt x="8353" y="0"/>
                  </a:moveTo>
                  <a:cubicBezTo>
                    <a:pt x="7632" y="238"/>
                    <a:pt x="6263" y="1101"/>
                    <a:pt x="5724" y="1489"/>
                  </a:cubicBezTo>
                  <a:cubicBezTo>
                    <a:pt x="4767" y="2177"/>
                    <a:pt x="3777" y="2676"/>
                    <a:pt x="2732" y="3215"/>
                  </a:cubicBezTo>
                  <a:lnTo>
                    <a:pt x="2368" y="3397"/>
                  </a:lnTo>
                  <a:cubicBezTo>
                    <a:pt x="2067" y="3555"/>
                    <a:pt x="1829" y="3690"/>
                    <a:pt x="1616" y="3808"/>
                  </a:cubicBezTo>
                  <a:cubicBezTo>
                    <a:pt x="1117" y="4101"/>
                    <a:pt x="753" y="4315"/>
                    <a:pt x="1" y="4497"/>
                  </a:cubicBezTo>
                  <a:lnTo>
                    <a:pt x="64" y="4750"/>
                  </a:lnTo>
                  <a:cubicBezTo>
                    <a:pt x="848" y="4560"/>
                    <a:pt x="1244" y="4331"/>
                    <a:pt x="1750" y="4038"/>
                  </a:cubicBezTo>
                  <a:cubicBezTo>
                    <a:pt x="1956" y="3919"/>
                    <a:pt x="2194" y="3785"/>
                    <a:pt x="2487" y="3634"/>
                  </a:cubicBezTo>
                  <a:lnTo>
                    <a:pt x="2851" y="3452"/>
                  </a:lnTo>
                  <a:cubicBezTo>
                    <a:pt x="3912" y="2914"/>
                    <a:pt x="4909" y="2399"/>
                    <a:pt x="5883" y="1702"/>
                  </a:cubicBezTo>
                  <a:cubicBezTo>
                    <a:pt x="6413" y="1322"/>
                    <a:pt x="7743" y="483"/>
                    <a:pt x="8432" y="254"/>
                  </a:cubicBezTo>
                  <a:lnTo>
                    <a:pt x="83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p:cNvSpPr/>
            <p:nvPr/>
          </p:nvSpPr>
          <p:spPr>
            <a:xfrm>
              <a:off x="4611175" y="2604650"/>
              <a:ext cx="260475" cy="260475"/>
            </a:xfrm>
            <a:custGeom>
              <a:avLst/>
              <a:gdLst/>
              <a:ahLst/>
              <a:cxnLst/>
              <a:rect l="l" t="t" r="r" b="b"/>
              <a:pathLst>
                <a:path w="10419" h="10419" extrusionOk="0">
                  <a:moveTo>
                    <a:pt x="5210" y="0"/>
                  </a:moveTo>
                  <a:cubicBezTo>
                    <a:pt x="2328" y="0"/>
                    <a:pt x="0" y="2328"/>
                    <a:pt x="0" y="5210"/>
                  </a:cubicBezTo>
                  <a:cubicBezTo>
                    <a:pt x="0" y="8083"/>
                    <a:pt x="2328" y="10419"/>
                    <a:pt x="5210" y="10419"/>
                  </a:cubicBezTo>
                  <a:cubicBezTo>
                    <a:pt x="8083" y="10419"/>
                    <a:pt x="10419" y="8083"/>
                    <a:pt x="10419" y="5210"/>
                  </a:cubicBezTo>
                  <a:cubicBezTo>
                    <a:pt x="10419" y="2328"/>
                    <a:pt x="8083" y="0"/>
                    <a:pt x="5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p:cNvSpPr/>
            <p:nvPr/>
          </p:nvSpPr>
          <p:spPr>
            <a:xfrm>
              <a:off x="4647200" y="2664225"/>
              <a:ext cx="162300" cy="139550"/>
            </a:xfrm>
            <a:custGeom>
              <a:avLst/>
              <a:gdLst/>
              <a:ahLst/>
              <a:cxnLst/>
              <a:rect l="l" t="t" r="r" b="b"/>
              <a:pathLst>
                <a:path w="6492" h="5582" extrusionOk="0">
                  <a:moveTo>
                    <a:pt x="6492" y="0"/>
                  </a:moveTo>
                  <a:lnTo>
                    <a:pt x="0" y="2827"/>
                  </a:lnTo>
                  <a:lnTo>
                    <a:pt x="5898" y="5582"/>
                  </a:lnTo>
                  <a:lnTo>
                    <a:pt x="64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p:cNvSpPr/>
            <p:nvPr/>
          </p:nvSpPr>
          <p:spPr>
            <a:xfrm>
              <a:off x="4702800" y="2664225"/>
              <a:ext cx="106700" cy="141725"/>
            </a:xfrm>
            <a:custGeom>
              <a:avLst/>
              <a:gdLst/>
              <a:ahLst/>
              <a:cxnLst/>
              <a:rect l="l" t="t" r="r" b="b"/>
              <a:pathLst>
                <a:path w="4268" h="5669" extrusionOk="0">
                  <a:moveTo>
                    <a:pt x="4268" y="0"/>
                  </a:moveTo>
                  <a:lnTo>
                    <a:pt x="4267" y="2"/>
                  </a:lnTo>
                  <a:lnTo>
                    <a:pt x="4267" y="2"/>
                  </a:lnTo>
                  <a:cubicBezTo>
                    <a:pt x="4267" y="1"/>
                    <a:pt x="4268" y="1"/>
                    <a:pt x="4268" y="0"/>
                  </a:cubicBezTo>
                  <a:close/>
                  <a:moveTo>
                    <a:pt x="4267" y="2"/>
                  </a:moveTo>
                  <a:lnTo>
                    <a:pt x="4267" y="2"/>
                  </a:lnTo>
                  <a:cubicBezTo>
                    <a:pt x="4177" y="107"/>
                    <a:pt x="1" y="3864"/>
                    <a:pt x="1" y="3864"/>
                  </a:cubicBezTo>
                  <a:lnTo>
                    <a:pt x="381" y="5669"/>
                  </a:lnTo>
                  <a:lnTo>
                    <a:pt x="1117" y="4386"/>
                  </a:lnTo>
                  <a:lnTo>
                    <a:pt x="4267" y="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p:cNvSpPr/>
            <p:nvPr/>
          </p:nvSpPr>
          <p:spPr>
            <a:xfrm>
              <a:off x="4676675" y="1356575"/>
              <a:ext cx="246850" cy="221000"/>
            </a:xfrm>
            <a:custGeom>
              <a:avLst/>
              <a:gdLst/>
              <a:ahLst/>
              <a:cxnLst/>
              <a:rect l="l" t="t" r="r" b="b"/>
              <a:pathLst>
                <a:path w="9874" h="8840" extrusionOk="0">
                  <a:moveTo>
                    <a:pt x="2601" y="0"/>
                  </a:moveTo>
                  <a:cubicBezTo>
                    <a:pt x="1794" y="0"/>
                    <a:pt x="1013" y="406"/>
                    <a:pt x="555" y="1093"/>
                  </a:cubicBezTo>
                  <a:cubicBezTo>
                    <a:pt x="48" y="1837"/>
                    <a:pt x="1" y="2700"/>
                    <a:pt x="294" y="3436"/>
                  </a:cubicBezTo>
                  <a:lnTo>
                    <a:pt x="2313" y="8439"/>
                  </a:lnTo>
                  <a:cubicBezTo>
                    <a:pt x="2410" y="8688"/>
                    <a:pt x="2651" y="8839"/>
                    <a:pt x="2904" y="8839"/>
                  </a:cubicBezTo>
                  <a:cubicBezTo>
                    <a:pt x="2982" y="8839"/>
                    <a:pt x="3060" y="8825"/>
                    <a:pt x="3136" y="8796"/>
                  </a:cubicBezTo>
                  <a:lnTo>
                    <a:pt x="8147" y="6777"/>
                  </a:lnTo>
                  <a:cubicBezTo>
                    <a:pt x="8876" y="6484"/>
                    <a:pt x="9469" y="5851"/>
                    <a:pt x="9659" y="4972"/>
                  </a:cubicBezTo>
                  <a:cubicBezTo>
                    <a:pt x="9873" y="3998"/>
                    <a:pt x="9453" y="2961"/>
                    <a:pt x="8630" y="2407"/>
                  </a:cubicBezTo>
                  <a:cubicBezTo>
                    <a:pt x="8275" y="2165"/>
                    <a:pt x="7870" y="2076"/>
                    <a:pt x="7467" y="2076"/>
                  </a:cubicBezTo>
                  <a:cubicBezTo>
                    <a:pt x="6338" y="2076"/>
                    <a:pt x="5218" y="2771"/>
                    <a:pt x="5218" y="2771"/>
                  </a:cubicBezTo>
                  <a:cubicBezTo>
                    <a:pt x="5218" y="2771"/>
                    <a:pt x="4703" y="396"/>
                    <a:pt x="3112" y="56"/>
                  </a:cubicBezTo>
                  <a:cubicBezTo>
                    <a:pt x="2943" y="18"/>
                    <a:pt x="2771"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8150;p64">
            <a:extLst>
              <a:ext uri="{FF2B5EF4-FFF2-40B4-BE49-F238E27FC236}">
                <a16:creationId xmlns:a16="http://schemas.microsoft.com/office/drawing/2014/main" id="{3812FD0E-0677-6C1B-0EA4-D3A94C207209}"/>
              </a:ext>
            </a:extLst>
          </p:cNvPr>
          <p:cNvGrpSpPr/>
          <p:nvPr/>
        </p:nvGrpSpPr>
        <p:grpSpPr>
          <a:xfrm>
            <a:off x="7990980" y="3813238"/>
            <a:ext cx="387681" cy="387681"/>
            <a:chOff x="4933458" y="1687279"/>
            <a:chExt cx="397907" cy="397907"/>
          </a:xfrm>
        </p:grpSpPr>
        <p:sp>
          <p:nvSpPr>
            <p:cNvPr id="3" name="Google Shape;8151;p64">
              <a:extLst>
                <a:ext uri="{FF2B5EF4-FFF2-40B4-BE49-F238E27FC236}">
                  <a16:creationId xmlns:a16="http://schemas.microsoft.com/office/drawing/2014/main" id="{D269E9E7-4BF7-FE4F-5043-DD28A3C0F684}"/>
                </a:ext>
              </a:extLst>
            </p:cNvPr>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152;p64">
              <a:extLst>
                <a:ext uri="{FF2B5EF4-FFF2-40B4-BE49-F238E27FC236}">
                  <a16:creationId xmlns:a16="http://schemas.microsoft.com/office/drawing/2014/main" id="{BFBDBB7C-95BE-5B6C-9204-60FF984FAC2F}"/>
                </a:ext>
              </a:extLst>
            </p:cNvPr>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546;p31">
            <a:extLst>
              <a:ext uri="{FF2B5EF4-FFF2-40B4-BE49-F238E27FC236}">
                <a16:creationId xmlns:a16="http://schemas.microsoft.com/office/drawing/2014/main" id="{28DFBDF5-2F23-A377-9317-3AD0326D3992}"/>
              </a:ext>
            </a:extLst>
          </p:cNvPr>
          <p:cNvSpPr txBox="1">
            <a:spLocks/>
          </p:cNvSpPr>
          <p:nvPr/>
        </p:nvSpPr>
        <p:spPr>
          <a:xfrm>
            <a:off x="650117" y="2951312"/>
            <a:ext cx="4243200" cy="47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ZA" dirty="0"/>
              <a:t>Rapid Response Protocol</a:t>
            </a:r>
          </a:p>
        </p:txBody>
      </p:sp>
      <p:sp>
        <p:nvSpPr>
          <p:cNvPr id="6" name="Google Shape;548;p31">
            <a:extLst>
              <a:ext uri="{FF2B5EF4-FFF2-40B4-BE49-F238E27FC236}">
                <a16:creationId xmlns:a16="http://schemas.microsoft.com/office/drawing/2014/main" id="{8EB3032D-99D0-5A51-B914-84A20907B0B2}"/>
              </a:ext>
            </a:extLst>
          </p:cNvPr>
          <p:cNvSpPr txBox="1">
            <a:spLocks/>
          </p:cNvSpPr>
          <p:nvPr/>
        </p:nvSpPr>
        <p:spPr>
          <a:xfrm>
            <a:off x="650115" y="3347810"/>
            <a:ext cx="6287709" cy="511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1pPr>
            <a:lvl2pPr marL="914400" marR="0" lvl="1"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2pPr>
            <a:lvl3pPr marL="1371600" marR="0" lvl="2"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3pPr>
            <a:lvl4pPr marL="1828800" marR="0" lvl="3"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4pPr>
            <a:lvl5pPr marL="2286000" marR="0" lvl="4"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5pPr>
            <a:lvl6pPr marL="2743200" marR="0" lvl="5"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6pPr>
            <a:lvl7pPr marL="3200400" marR="0" lvl="6"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7pPr>
            <a:lvl8pPr marL="3657600" marR="0" lvl="7"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8pPr>
            <a:lvl9pPr marL="4114800" marR="0" lvl="8"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9pPr>
          </a:lstStyle>
          <a:p>
            <a:pPr marL="0" indent="0"/>
            <a:r>
              <a:rPr lang="en-ZA" dirty="0"/>
              <a:t>While risk is low, a protocol should be in place to monitor influential users and engage quickly if negative sentiment begins to cluster.</a:t>
            </a:r>
          </a:p>
        </p:txBody>
      </p:sp>
      <p:sp>
        <p:nvSpPr>
          <p:cNvPr id="7" name="Google Shape;546;p31">
            <a:extLst>
              <a:ext uri="{FF2B5EF4-FFF2-40B4-BE49-F238E27FC236}">
                <a16:creationId xmlns:a16="http://schemas.microsoft.com/office/drawing/2014/main" id="{5BC3737A-6CA6-5698-5883-7F42BEC887F3}"/>
              </a:ext>
            </a:extLst>
          </p:cNvPr>
          <p:cNvSpPr txBox="1">
            <a:spLocks/>
          </p:cNvSpPr>
          <p:nvPr/>
        </p:nvSpPr>
        <p:spPr>
          <a:xfrm>
            <a:off x="654406" y="3930340"/>
            <a:ext cx="4243200" cy="47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ZA" dirty="0"/>
              <a:t>Embrace Nuance</a:t>
            </a:r>
          </a:p>
        </p:txBody>
      </p:sp>
      <p:sp>
        <p:nvSpPr>
          <p:cNvPr id="8" name="Google Shape;548;p31">
            <a:extLst>
              <a:ext uri="{FF2B5EF4-FFF2-40B4-BE49-F238E27FC236}">
                <a16:creationId xmlns:a16="http://schemas.microsoft.com/office/drawing/2014/main" id="{F9FDB620-093D-1570-66DE-4BC9CB9187E9}"/>
              </a:ext>
            </a:extLst>
          </p:cNvPr>
          <p:cNvSpPr txBox="1">
            <a:spLocks/>
          </p:cNvSpPr>
          <p:nvPr/>
        </p:nvSpPr>
        <p:spPr>
          <a:xfrm>
            <a:off x="720000" y="4415373"/>
            <a:ext cx="6287709" cy="511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1pPr>
            <a:lvl2pPr marL="914400" marR="0" lvl="1"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2pPr>
            <a:lvl3pPr marL="1371600" marR="0" lvl="2"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3pPr>
            <a:lvl4pPr marL="1828800" marR="0" lvl="3"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4pPr>
            <a:lvl5pPr marL="2286000" marR="0" lvl="4"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5pPr>
            <a:lvl6pPr marL="2743200" marR="0" lvl="5"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6pPr>
            <a:lvl7pPr marL="3200400" marR="0" lvl="6"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7pPr>
            <a:lvl8pPr marL="3657600" marR="0" lvl="7"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8pPr>
            <a:lvl9pPr marL="4114800" marR="0" lvl="8" indent="-304800" algn="ctr" rtl="0">
              <a:lnSpc>
                <a:spcPct val="100000"/>
              </a:lnSpc>
              <a:spcBef>
                <a:spcPts val="0"/>
              </a:spcBef>
              <a:spcAft>
                <a:spcPts val="0"/>
              </a:spcAft>
              <a:buClr>
                <a:schemeClr val="dk1"/>
              </a:buClr>
              <a:buSzPts val="1200"/>
              <a:buFont typeface="Baloo 2"/>
              <a:buNone/>
              <a:defRPr sz="1200" b="0" i="0" u="none" strike="noStrike" cap="none">
                <a:solidFill>
                  <a:schemeClr val="dk1"/>
                </a:solidFill>
                <a:latin typeface="Baloo 2"/>
                <a:ea typeface="Baloo 2"/>
                <a:cs typeface="Baloo 2"/>
                <a:sym typeface="Baloo 2"/>
              </a:defRPr>
            </a:lvl9pPr>
          </a:lstStyle>
          <a:p>
            <a:pPr marL="0" indent="0"/>
            <a:r>
              <a:rPr lang="en-ZA" dirty="0"/>
              <a:t>Use the "MIXED" profile as a source of insight. These are engaged users. Publish transparent, positive policy updates to address the nuanced questions they are raising.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33"/>
          <p:cNvSpPr txBox="1">
            <a:spLocks noGrp="1"/>
          </p:cNvSpPr>
          <p:nvPr>
            <p:ph type="subTitle" idx="6"/>
          </p:nvPr>
        </p:nvSpPr>
        <p:spPr>
          <a:xfrm>
            <a:off x="927425" y="2952500"/>
            <a:ext cx="3282000" cy="469500"/>
          </a:xfrm>
          <a:prstGeom prst="rect">
            <a:avLst/>
          </a:prstGeom>
        </p:spPr>
        <p:txBody>
          <a:bodyPr spcFirstLastPara="1" wrap="square" lIns="91425" tIns="91425" rIns="91425" bIns="91425" anchor="b" anchorCtr="0">
            <a:noAutofit/>
          </a:bodyPr>
          <a:lstStyle/>
          <a:p>
            <a:pPr marL="0" lvl="0" indent="0"/>
            <a:r>
              <a:rPr lang="en-ZA" dirty="0"/>
              <a:t>Multimodal Analysis</a:t>
            </a:r>
            <a:endParaRPr dirty="0"/>
          </a:p>
        </p:txBody>
      </p:sp>
      <p:sp>
        <p:nvSpPr>
          <p:cNvPr id="595" name="Google Shape;59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ZA" dirty="0"/>
              <a:t>Limitations and Future Research</a:t>
            </a:r>
            <a:endParaRPr dirty="0"/>
          </a:p>
        </p:txBody>
      </p:sp>
      <p:sp>
        <p:nvSpPr>
          <p:cNvPr id="596" name="Google Shape;596;p33"/>
          <p:cNvSpPr txBox="1">
            <a:spLocks noGrp="1"/>
          </p:cNvSpPr>
          <p:nvPr>
            <p:ph type="subTitle" idx="1"/>
          </p:nvPr>
        </p:nvSpPr>
        <p:spPr>
          <a:xfrm>
            <a:off x="927412" y="1825100"/>
            <a:ext cx="3415987"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Our analysis was text-only, ignoring images, videos, and linked content which add crucial context.</a:t>
            </a:r>
          </a:p>
          <a:p>
            <a:pPr marL="0" lvl="0" indent="0" algn="l" rtl="0">
              <a:spcBef>
                <a:spcPts val="0"/>
              </a:spcBef>
              <a:spcAft>
                <a:spcPts val="0"/>
              </a:spcAft>
              <a:buNone/>
            </a:pPr>
            <a:r>
              <a:rPr lang="en-ZA" dirty="0"/>
              <a:t>The analysis is a static snapshot in time, not a live, real-time monitor.</a:t>
            </a:r>
          </a:p>
        </p:txBody>
      </p:sp>
      <p:sp>
        <p:nvSpPr>
          <p:cNvPr id="597" name="Google Shape;597;p33"/>
          <p:cNvSpPr txBox="1">
            <a:spLocks noGrp="1"/>
          </p:cNvSpPr>
          <p:nvPr>
            <p:ph type="subTitle" idx="2"/>
          </p:nvPr>
        </p:nvSpPr>
        <p:spPr>
          <a:xfrm>
            <a:off x="4934548" y="1825100"/>
            <a:ext cx="3282000" cy="5054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Map how information propagates from influential users.</a:t>
            </a:r>
            <a:endParaRPr dirty="0"/>
          </a:p>
        </p:txBody>
      </p:sp>
      <p:sp>
        <p:nvSpPr>
          <p:cNvPr id="598" name="Google Shape;598;p33"/>
          <p:cNvSpPr txBox="1">
            <a:spLocks noGrp="1"/>
          </p:cNvSpPr>
          <p:nvPr>
            <p:ph type="subTitle" idx="3"/>
          </p:nvPr>
        </p:nvSpPr>
        <p:spPr>
          <a:xfrm>
            <a:off x="927413" y="3338175"/>
            <a:ext cx="3282000" cy="382487"/>
          </a:xfrm>
          <a:prstGeom prst="rect">
            <a:avLst/>
          </a:prstGeom>
        </p:spPr>
        <p:txBody>
          <a:bodyPr spcFirstLastPara="1" wrap="square" lIns="91425" tIns="91425" rIns="91425" bIns="91425" anchor="t" anchorCtr="0">
            <a:noAutofit/>
          </a:bodyPr>
          <a:lstStyle/>
          <a:p>
            <a:pPr marL="0" lvl="0" indent="0"/>
            <a:r>
              <a:rPr lang="en-ZA" dirty="0"/>
              <a:t>Incorporate image and video analysis.</a:t>
            </a:r>
            <a:endParaRPr dirty="0"/>
          </a:p>
        </p:txBody>
      </p:sp>
      <p:sp>
        <p:nvSpPr>
          <p:cNvPr id="599" name="Google Shape;599;p33"/>
          <p:cNvSpPr txBox="1">
            <a:spLocks noGrp="1"/>
          </p:cNvSpPr>
          <p:nvPr>
            <p:ph type="subTitle" idx="4"/>
          </p:nvPr>
        </p:nvSpPr>
        <p:spPr>
          <a:xfrm>
            <a:off x="4934548" y="3338175"/>
            <a:ext cx="3282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dirty="0"/>
              <a:t>Convert this static analysis into a live monitoring tool to track our KPIs (like the 11.08% negative rate) in real time.</a:t>
            </a:r>
            <a:endParaRPr dirty="0"/>
          </a:p>
        </p:txBody>
      </p:sp>
      <p:sp>
        <p:nvSpPr>
          <p:cNvPr id="600" name="Google Shape;600;p33"/>
          <p:cNvSpPr txBox="1">
            <a:spLocks noGrp="1"/>
          </p:cNvSpPr>
          <p:nvPr>
            <p:ph type="subTitle" idx="5"/>
          </p:nvPr>
        </p:nvSpPr>
        <p:spPr>
          <a:xfrm>
            <a:off x="927425" y="1439400"/>
            <a:ext cx="3282000" cy="469500"/>
          </a:xfrm>
          <a:prstGeom prst="rect">
            <a:avLst/>
          </a:prstGeom>
        </p:spPr>
        <p:txBody>
          <a:bodyPr spcFirstLastPara="1" wrap="square" lIns="91425" tIns="91425" rIns="91425" bIns="91425" anchor="b" anchorCtr="0">
            <a:noAutofit/>
          </a:bodyPr>
          <a:lstStyle/>
          <a:p>
            <a:pPr marL="0" lvl="0" indent="0"/>
            <a:r>
              <a:rPr lang="en-ZA" dirty="0"/>
              <a:t>Limitations</a:t>
            </a:r>
            <a:endParaRPr dirty="0"/>
          </a:p>
        </p:txBody>
      </p:sp>
      <p:sp>
        <p:nvSpPr>
          <p:cNvPr id="601" name="Google Shape;601;p33"/>
          <p:cNvSpPr txBox="1">
            <a:spLocks noGrp="1"/>
          </p:cNvSpPr>
          <p:nvPr>
            <p:ph type="subTitle" idx="7"/>
          </p:nvPr>
        </p:nvSpPr>
        <p:spPr>
          <a:xfrm>
            <a:off x="4934526" y="1439400"/>
            <a:ext cx="4036053" cy="469500"/>
          </a:xfrm>
          <a:prstGeom prst="rect">
            <a:avLst/>
          </a:prstGeom>
        </p:spPr>
        <p:txBody>
          <a:bodyPr spcFirstLastPara="1" wrap="square" lIns="91425" tIns="91425" rIns="91425" bIns="91425" anchor="b" anchorCtr="0">
            <a:noAutofit/>
          </a:bodyPr>
          <a:lstStyle/>
          <a:p>
            <a:pPr marL="0" lvl="0" indent="0"/>
            <a:r>
              <a:rPr lang="en-ZA" dirty="0"/>
              <a:t>Cascade and Influence Analysis</a:t>
            </a:r>
            <a:endParaRPr dirty="0"/>
          </a:p>
        </p:txBody>
      </p:sp>
      <p:sp>
        <p:nvSpPr>
          <p:cNvPr id="602" name="Google Shape;602;p33"/>
          <p:cNvSpPr txBox="1">
            <a:spLocks noGrp="1"/>
          </p:cNvSpPr>
          <p:nvPr>
            <p:ph type="subTitle" idx="8"/>
          </p:nvPr>
        </p:nvSpPr>
        <p:spPr>
          <a:xfrm>
            <a:off x="4934527" y="2952500"/>
            <a:ext cx="3282000" cy="469500"/>
          </a:xfrm>
          <a:prstGeom prst="rect">
            <a:avLst/>
          </a:prstGeom>
        </p:spPr>
        <p:txBody>
          <a:bodyPr spcFirstLastPara="1" wrap="square" lIns="91425" tIns="91425" rIns="91425" bIns="91425" anchor="b" anchorCtr="0">
            <a:noAutofit/>
          </a:bodyPr>
          <a:lstStyle/>
          <a:p>
            <a:pPr marL="0" lvl="0" indent="0"/>
            <a:r>
              <a:rPr lang="en-ZA" dirty="0"/>
              <a:t>Real-Time Dashboard:</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pic>
        <p:nvPicPr>
          <p:cNvPr id="5" name="Picture 4">
            <a:extLst>
              <a:ext uri="{FF2B5EF4-FFF2-40B4-BE49-F238E27FC236}">
                <a16:creationId xmlns:a16="http://schemas.microsoft.com/office/drawing/2014/main" id="{A13BB1FF-6E59-7FED-7B25-BC91B4159C1F}"/>
              </a:ext>
            </a:extLst>
          </p:cNvPr>
          <p:cNvPicPr>
            <a:picLocks noChangeAspect="1"/>
          </p:cNvPicPr>
          <p:nvPr/>
        </p:nvPicPr>
        <p:blipFill>
          <a:blip r:embed="rId3"/>
          <a:stretch>
            <a:fillRect/>
          </a:stretch>
        </p:blipFill>
        <p:spPr>
          <a:xfrm>
            <a:off x="723423" y="126541"/>
            <a:ext cx="4938188" cy="1765322"/>
          </a:xfrm>
          <a:prstGeom prst="rect">
            <a:avLst/>
          </a:prstGeom>
        </p:spPr>
      </p:pic>
      <p:sp>
        <p:nvSpPr>
          <p:cNvPr id="9" name="TextBox 8">
            <a:extLst>
              <a:ext uri="{FF2B5EF4-FFF2-40B4-BE49-F238E27FC236}">
                <a16:creationId xmlns:a16="http://schemas.microsoft.com/office/drawing/2014/main" id="{7F504EDC-D9D2-BD9B-1DF7-5268CDD4AE33}"/>
              </a:ext>
            </a:extLst>
          </p:cNvPr>
          <p:cNvSpPr txBox="1"/>
          <p:nvPr/>
        </p:nvSpPr>
        <p:spPr>
          <a:xfrm>
            <a:off x="2185141" y="1954168"/>
            <a:ext cx="4749362" cy="584775"/>
          </a:xfrm>
          <a:prstGeom prst="rect">
            <a:avLst/>
          </a:prstGeom>
          <a:noFill/>
        </p:spPr>
        <p:txBody>
          <a:bodyPr wrap="square">
            <a:spAutoFit/>
          </a:bodyPr>
          <a:lstStyle/>
          <a:p>
            <a:r>
              <a:rPr lang="en-ZA" sz="3200" b="1" dirty="0">
                <a:latin typeface="Baloo 2" panose="020B0604020202020204" charset="0"/>
                <a:cs typeface="Baloo 2" panose="020B0604020202020204" charset="0"/>
              </a:rPr>
              <a:t>Q&amp;A</a:t>
            </a:r>
          </a:p>
        </p:txBody>
      </p:sp>
      <p:grpSp>
        <p:nvGrpSpPr>
          <p:cNvPr id="10" name="Google Shape;918;p45">
            <a:extLst>
              <a:ext uri="{FF2B5EF4-FFF2-40B4-BE49-F238E27FC236}">
                <a16:creationId xmlns:a16="http://schemas.microsoft.com/office/drawing/2014/main" id="{E5C93DF7-D0FB-FDE4-542F-1C5B9098CBB8}"/>
              </a:ext>
            </a:extLst>
          </p:cNvPr>
          <p:cNvGrpSpPr/>
          <p:nvPr/>
        </p:nvGrpSpPr>
        <p:grpSpPr>
          <a:xfrm>
            <a:off x="5883717" y="1615771"/>
            <a:ext cx="3609917" cy="3220505"/>
            <a:chOff x="5828852" y="2571750"/>
            <a:chExt cx="2277981" cy="2032249"/>
          </a:xfrm>
        </p:grpSpPr>
        <p:sp>
          <p:nvSpPr>
            <p:cNvPr id="11" name="Google Shape;919;p45">
              <a:extLst>
                <a:ext uri="{FF2B5EF4-FFF2-40B4-BE49-F238E27FC236}">
                  <a16:creationId xmlns:a16="http://schemas.microsoft.com/office/drawing/2014/main" id="{F25F416D-BB5D-1951-7356-EB17C26BF6CF}"/>
                </a:ext>
              </a:extLst>
            </p:cNvPr>
            <p:cNvSpPr/>
            <p:nvPr/>
          </p:nvSpPr>
          <p:spPr>
            <a:xfrm>
              <a:off x="5865752" y="2571750"/>
              <a:ext cx="293756" cy="293756"/>
            </a:xfrm>
            <a:custGeom>
              <a:avLst/>
              <a:gdLst/>
              <a:ahLst/>
              <a:cxnLst/>
              <a:rect l="l" t="t" r="r" b="b"/>
              <a:pathLst>
                <a:path w="7316" h="7316" fill="none" extrusionOk="0">
                  <a:moveTo>
                    <a:pt x="7315" y="3658"/>
                  </a:moveTo>
                  <a:cubicBezTo>
                    <a:pt x="7315" y="5677"/>
                    <a:pt x="5676" y="7315"/>
                    <a:pt x="3658" y="7315"/>
                  </a:cubicBezTo>
                  <a:cubicBezTo>
                    <a:pt x="1639" y="7315"/>
                    <a:pt x="0" y="5677"/>
                    <a:pt x="0" y="3658"/>
                  </a:cubicBezTo>
                  <a:cubicBezTo>
                    <a:pt x="0" y="1631"/>
                    <a:pt x="1639" y="0"/>
                    <a:pt x="3658" y="0"/>
                  </a:cubicBezTo>
                  <a:cubicBezTo>
                    <a:pt x="5676" y="0"/>
                    <a:pt x="7315" y="1631"/>
                    <a:pt x="7315" y="3658"/>
                  </a:cubicBezTo>
                  <a:close/>
                </a:path>
              </a:pathLst>
            </a:custGeom>
            <a:noFill/>
            <a:ln w="6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20;p45">
              <a:extLst>
                <a:ext uri="{FF2B5EF4-FFF2-40B4-BE49-F238E27FC236}">
                  <a16:creationId xmlns:a16="http://schemas.microsoft.com/office/drawing/2014/main" id="{5AA89668-420D-F8E8-FA08-C3045423580E}"/>
                </a:ext>
              </a:extLst>
            </p:cNvPr>
            <p:cNvSpPr/>
            <p:nvPr/>
          </p:nvSpPr>
          <p:spPr>
            <a:xfrm>
              <a:off x="6304099" y="2992631"/>
              <a:ext cx="988635" cy="988635"/>
            </a:xfrm>
            <a:custGeom>
              <a:avLst/>
              <a:gdLst/>
              <a:ahLst/>
              <a:cxnLst/>
              <a:rect l="l" t="t" r="r" b="b"/>
              <a:pathLst>
                <a:path w="24622" h="24622" extrusionOk="0">
                  <a:moveTo>
                    <a:pt x="12311" y="0"/>
                  </a:moveTo>
                  <a:cubicBezTo>
                    <a:pt x="5510" y="0"/>
                    <a:pt x="0" y="5510"/>
                    <a:pt x="0" y="12311"/>
                  </a:cubicBezTo>
                  <a:cubicBezTo>
                    <a:pt x="0" y="19111"/>
                    <a:pt x="5510" y="24621"/>
                    <a:pt x="12311" y="24621"/>
                  </a:cubicBezTo>
                  <a:cubicBezTo>
                    <a:pt x="19112" y="24621"/>
                    <a:pt x="24622" y="19111"/>
                    <a:pt x="24622" y="12311"/>
                  </a:cubicBezTo>
                  <a:cubicBezTo>
                    <a:pt x="24622" y="5510"/>
                    <a:pt x="19112" y="0"/>
                    <a:pt x="12311" y="0"/>
                  </a:cubicBezTo>
                  <a:close/>
                </a:path>
              </a:pathLst>
            </a:custGeom>
            <a:solidFill>
              <a:srgbClr val="5B9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21;p45">
              <a:extLst>
                <a:ext uri="{FF2B5EF4-FFF2-40B4-BE49-F238E27FC236}">
                  <a16:creationId xmlns:a16="http://schemas.microsoft.com/office/drawing/2014/main" id="{613A393D-D19A-1D1D-519F-B616C132862B}"/>
                </a:ext>
              </a:extLst>
            </p:cNvPr>
            <p:cNvSpPr/>
            <p:nvPr/>
          </p:nvSpPr>
          <p:spPr>
            <a:xfrm>
              <a:off x="6304099" y="2992631"/>
              <a:ext cx="988635" cy="988635"/>
            </a:xfrm>
            <a:custGeom>
              <a:avLst/>
              <a:gdLst/>
              <a:ahLst/>
              <a:cxnLst/>
              <a:rect l="l" t="t" r="r" b="b"/>
              <a:pathLst>
                <a:path w="24622" h="24622" extrusionOk="0">
                  <a:moveTo>
                    <a:pt x="12311" y="0"/>
                  </a:moveTo>
                  <a:cubicBezTo>
                    <a:pt x="5510" y="0"/>
                    <a:pt x="0" y="5510"/>
                    <a:pt x="0" y="12311"/>
                  </a:cubicBezTo>
                  <a:cubicBezTo>
                    <a:pt x="0" y="19111"/>
                    <a:pt x="5510" y="24621"/>
                    <a:pt x="12311" y="24621"/>
                  </a:cubicBezTo>
                  <a:cubicBezTo>
                    <a:pt x="19112" y="24621"/>
                    <a:pt x="24622" y="19111"/>
                    <a:pt x="24622" y="12311"/>
                  </a:cubicBezTo>
                  <a:cubicBezTo>
                    <a:pt x="24622" y="5510"/>
                    <a:pt x="19112" y="0"/>
                    <a:pt x="123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22;p45">
              <a:extLst>
                <a:ext uri="{FF2B5EF4-FFF2-40B4-BE49-F238E27FC236}">
                  <a16:creationId xmlns:a16="http://schemas.microsoft.com/office/drawing/2014/main" id="{1477E9E6-0B44-E6FA-4AB0-165E5AD2DC8F}"/>
                </a:ext>
              </a:extLst>
            </p:cNvPr>
            <p:cNvSpPr/>
            <p:nvPr/>
          </p:nvSpPr>
          <p:spPr>
            <a:xfrm>
              <a:off x="6615283" y="2992631"/>
              <a:ext cx="207307" cy="124433"/>
            </a:xfrm>
            <a:custGeom>
              <a:avLst/>
              <a:gdLst/>
              <a:ahLst/>
              <a:cxnLst/>
              <a:rect l="l" t="t" r="r" b="b"/>
              <a:pathLst>
                <a:path w="5163" h="3099" extrusionOk="0">
                  <a:moveTo>
                    <a:pt x="4561" y="0"/>
                  </a:moveTo>
                  <a:cubicBezTo>
                    <a:pt x="2993" y="0"/>
                    <a:pt x="1489" y="293"/>
                    <a:pt x="104" y="831"/>
                  </a:cubicBezTo>
                  <a:cubicBezTo>
                    <a:pt x="159" y="1291"/>
                    <a:pt x="278" y="1750"/>
                    <a:pt x="223" y="2217"/>
                  </a:cubicBezTo>
                  <a:cubicBezTo>
                    <a:pt x="183" y="2518"/>
                    <a:pt x="1" y="3024"/>
                    <a:pt x="460" y="3096"/>
                  </a:cubicBezTo>
                  <a:cubicBezTo>
                    <a:pt x="474" y="3098"/>
                    <a:pt x="489" y="3099"/>
                    <a:pt x="504" y="3099"/>
                  </a:cubicBezTo>
                  <a:cubicBezTo>
                    <a:pt x="806" y="3099"/>
                    <a:pt x="1258" y="2663"/>
                    <a:pt x="1537" y="2557"/>
                  </a:cubicBezTo>
                  <a:cubicBezTo>
                    <a:pt x="1893" y="2423"/>
                    <a:pt x="2273" y="2343"/>
                    <a:pt x="2558" y="2090"/>
                  </a:cubicBezTo>
                  <a:cubicBezTo>
                    <a:pt x="2796" y="1884"/>
                    <a:pt x="2970" y="1576"/>
                    <a:pt x="3271" y="1496"/>
                  </a:cubicBezTo>
                  <a:cubicBezTo>
                    <a:pt x="3329" y="1480"/>
                    <a:pt x="3390" y="1473"/>
                    <a:pt x="3451" y="1473"/>
                  </a:cubicBezTo>
                  <a:cubicBezTo>
                    <a:pt x="3739" y="1473"/>
                    <a:pt x="4046" y="1626"/>
                    <a:pt x="4313" y="1626"/>
                  </a:cubicBezTo>
                  <a:cubicBezTo>
                    <a:pt x="4422" y="1626"/>
                    <a:pt x="4525" y="1600"/>
                    <a:pt x="4616" y="1528"/>
                  </a:cubicBezTo>
                  <a:cubicBezTo>
                    <a:pt x="4925" y="1291"/>
                    <a:pt x="4767" y="792"/>
                    <a:pt x="4901" y="428"/>
                  </a:cubicBezTo>
                  <a:cubicBezTo>
                    <a:pt x="4949" y="269"/>
                    <a:pt x="5052" y="135"/>
                    <a:pt x="5163" y="16"/>
                  </a:cubicBezTo>
                  <a:cubicBezTo>
                    <a:pt x="4965" y="0"/>
                    <a:pt x="4759" y="0"/>
                    <a:pt x="4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23;p45">
              <a:extLst>
                <a:ext uri="{FF2B5EF4-FFF2-40B4-BE49-F238E27FC236}">
                  <a16:creationId xmlns:a16="http://schemas.microsoft.com/office/drawing/2014/main" id="{57FA4D09-8957-36BE-DE3E-0B2028E3FDF4}"/>
                </a:ext>
              </a:extLst>
            </p:cNvPr>
            <p:cNvSpPr/>
            <p:nvPr/>
          </p:nvSpPr>
          <p:spPr>
            <a:xfrm>
              <a:off x="6789827" y="3010740"/>
              <a:ext cx="479702" cy="392932"/>
            </a:xfrm>
            <a:custGeom>
              <a:avLst/>
              <a:gdLst/>
              <a:ahLst/>
              <a:cxnLst/>
              <a:rect l="l" t="t" r="r" b="b"/>
              <a:pathLst>
                <a:path w="11947" h="9786" extrusionOk="0">
                  <a:moveTo>
                    <a:pt x="3531" y="0"/>
                  </a:moveTo>
                  <a:cubicBezTo>
                    <a:pt x="3357" y="198"/>
                    <a:pt x="3262" y="444"/>
                    <a:pt x="3270" y="705"/>
                  </a:cubicBezTo>
                  <a:cubicBezTo>
                    <a:pt x="3278" y="935"/>
                    <a:pt x="3349" y="1180"/>
                    <a:pt x="3222" y="1370"/>
                  </a:cubicBezTo>
                  <a:cubicBezTo>
                    <a:pt x="3120" y="1512"/>
                    <a:pt x="2929" y="1560"/>
                    <a:pt x="2803" y="1671"/>
                  </a:cubicBezTo>
                  <a:cubicBezTo>
                    <a:pt x="2470" y="1956"/>
                    <a:pt x="2549" y="2550"/>
                    <a:pt x="2193" y="2803"/>
                  </a:cubicBezTo>
                  <a:cubicBezTo>
                    <a:pt x="2011" y="2937"/>
                    <a:pt x="1758" y="2930"/>
                    <a:pt x="1528" y="2945"/>
                  </a:cubicBezTo>
                  <a:cubicBezTo>
                    <a:pt x="1022" y="2985"/>
                    <a:pt x="531" y="3175"/>
                    <a:pt x="135" y="3484"/>
                  </a:cubicBezTo>
                  <a:cubicBezTo>
                    <a:pt x="79" y="3523"/>
                    <a:pt x="32" y="3571"/>
                    <a:pt x="16" y="3626"/>
                  </a:cubicBezTo>
                  <a:cubicBezTo>
                    <a:pt x="0" y="3697"/>
                    <a:pt x="48" y="3769"/>
                    <a:pt x="87" y="3832"/>
                  </a:cubicBezTo>
                  <a:cubicBezTo>
                    <a:pt x="269" y="4117"/>
                    <a:pt x="515" y="4426"/>
                    <a:pt x="847" y="4426"/>
                  </a:cubicBezTo>
                  <a:cubicBezTo>
                    <a:pt x="1022" y="4426"/>
                    <a:pt x="1188" y="4347"/>
                    <a:pt x="1354" y="4323"/>
                  </a:cubicBezTo>
                  <a:cubicBezTo>
                    <a:pt x="1392" y="4318"/>
                    <a:pt x="1429" y="4316"/>
                    <a:pt x="1466" y="4316"/>
                  </a:cubicBezTo>
                  <a:cubicBezTo>
                    <a:pt x="1756" y="4316"/>
                    <a:pt x="2041" y="4452"/>
                    <a:pt x="2332" y="4452"/>
                  </a:cubicBezTo>
                  <a:cubicBezTo>
                    <a:pt x="2351" y="4452"/>
                    <a:pt x="2371" y="4451"/>
                    <a:pt x="2391" y="4450"/>
                  </a:cubicBezTo>
                  <a:cubicBezTo>
                    <a:pt x="3040" y="4404"/>
                    <a:pt x="3495" y="3604"/>
                    <a:pt x="4125" y="3604"/>
                  </a:cubicBezTo>
                  <a:cubicBezTo>
                    <a:pt x="4156" y="3604"/>
                    <a:pt x="4188" y="3606"/>
                    <a:pt x="4220" y="3610"/>
                  </a:cubicBezTo>
                  <a:cubicBezTo>
                    <a:pt x="4426" y="3642"/>
                    <a:pt x="4616" y="3769"/>
                    <a:pt x="4782" y="3895"/>
                  </a:cubicBezTo>
                  <a:cubicBezTo>
                    <a:pt x="5154" y="4172"/>
                    <a:pt x="5502" y="4497"/>
                    <a:pt x="5906" y="4727"/>
                  </a:cubicBezTo>
                  <a:cubicBezTo>
                    <a:pt x="6222" y="4912"/>
                    <a:pt x="6585" y="5045"/>
                    <a:pt x="6945" y="5045"/>
                  </a:cubicBezTo>
                  <a:cubicBezTo>
                    <a:pt x="7045" y="5045"/>
                    <a:pt x="7145" y="5034"/>
                    <a:pt x="7244" y="5012"/>
                  </a:cubicBezTo>
                  <a:cubicBezTo>
                    <a:pt x="7400" y="4976"/>
                    <a:pt x="7582" y="4923"/>
                    <a:pt x="7740" y="4923"/>
                  </a:cubicBezTo>
                  <a:cubicBezTo>
                    <a:pt x="7863" y="4923"/>
                    <a:pt x="7971" y="4955"/>
                    <a:pt x="8044" y="5051"/>
                  </a:cubicBezTo>
                  <a:cubicBezTo>
                    <a:pt x="8147" y="5202"/>
                    <a:pt x="8091" y="5415"/>
                    <a:pt x="8004" y="5574"/>
                  </a:cubicBezTo>
                  <a:cubicBezTo>
                    <a:pt x="7909" y="5732"/>
                    <a:pt x="7790" y="5883"/>
                    <a:pt x="7783" y="6073"/>
                  </a:cubicBezTo>
                  <a:cubicBezTo>
                    <a:pt x="7759" y="6453"/>
                    <a:pt x="8186" y="6674"/>
                    <a:pt x="8519" y="6872"/>
                  </a:cubicBezTo>
                  <a:cubicBezTo>
                    <a:pt x="8923" y="7118"/>
                    <a:pt x="9271" y="7490"/>
                    <a:pt x="9421" y="7941"/>
                  </a:cubicBezTo>
                  <a:cubicBezTo>
                    <a:pt x="9500" y="8186"/>
                    <a:pt x="9516" y="8455"/>
                    <a:pt x="9588" y="8709"/>
                  </a:cubicBezTo>
                  <a:cubicBezTo>
                    <a:pt x="9698" y="9128"/>
                    <a:pt x="9849" y="9785"/>
                    <a:pt x="10284" y="9785"/>
                  </a:cubicBezTo>
                  <a:cubicBezTo>
                    <a:pt x="10767" y="9785"/>
                    <a:pt x="10854" y="9287"/>
                    <a:pt x="10949" y="8946"/>
                  </a:cubicBezTo>
                  <a:cubicBezTo>
                    <a:pt x="11385" y="8661"/>
                    <a:pt x="11693" y="8463"/>
                    <a:pt x="11947" y="8099"/>
                  </a:cubicBezTo>
                  <a:cubicBezTo>
                    <a:pt x="10688" y="4172"/>
                    <a:pt x="7513" y="1109"/>
                    <a:pt x="35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24;p45">
              <a:extLst>
                <a:ext uri="{FF2B5EF4-FFF2-40B4-BE49-F238E27FC236}">
                  <a16:creationId xmlns:a16="http://schemas.microsoft.com/office/drawing/2014/main" id="{9B4D8C9D-BFED-03B8-B53B-80DDE35359F4}"/>
                </a:ext>
              </a:extLst>
            </p:cNvPr>
            <p:cNvSpPr/>
            <p:nvPr/>
          </p:nvSpPr>
          <p:spPr>
            <a:xfrm>
              <a:off x="6307593" y="3110559"/>
              <a:ext cx="387231" cy="788836"/>
            </a:xfrm>
            <a:custGeom>
              <a:avLst/>
              <a:gdLst/>
              <a:ahLst/>
              <a:cxnLst/>
              <a:rect l="l" t="t" r="r" b="b"/>
              <a:pathLst>
                <a:path w="9644" h="19646" extrusionOk="0">
                  <a:moveTo>
                    <a:pt x="4236" y="0"/>
                  </a:moveTo>
                  <a:cubicBezTo>
                    <a:pt x="1948" y="1956"/>
                    <a:pt x="388" y="4727"/>
                    <a:pt x="0" y="7869"/>
                  </a:cubicBezTo>
                  <a:cubicBezTo>
                    <a:pt x="206" y="7941"/>
                    <a:pt x="436" y="7964"/>
                    <a:pt x="650" y="8020"/>
                  </a:cubicBezTo>
                  <a:cubicBezTo>
                    <a:pt x="1220" y="8170"/>
                    <a:pt x="1671" y="8511"/>
                    <a:pt x="1924" y="9041"/>
                  </a:cubicBezTo>
                  <a:cubicBezTo>
                    <a:pt x="2209" y="9643"/>
                    <a:pt x="2470" y="10260"/>
                    <a:pt x="2724" y="10878"/>
                  </a:cubicBezTo>
                  <a:cubicBezTo>
                    <a:pt x="2787" y="11044"/>
                    <a:pt x="2851" y="11218"/>
                    <a:pt x="2866" y="11392"/>
                  </a:cubicBezTo>
                  <a:cubicBezTo>
                    <a:pt x="2898" y="11677"/>
                    <a:pt x="2803" y="11947"/>
                    <a:pt x="2763" y="12224"/>
                  </a:cubicBezTo>
                  <a:cubicBezTo>
                    <a:pt x="2684" y="12762"/>
                    <a:pt x="2827" y="13324"/>
                    <a:pt x="3143" y="13760"/>
                  </a:cubicBezTo>
                  <a:cubicBezTo>
                    <a:pt x="3238" y="13902"/>
                    <a:pt x="3357" y="14029"/>
                    <a:pt x="3413" y="14195"/>
                  </a:cubicBezTo>
                  <a:cubicBezTo>
                    <a:pt x="3444" y="14298"/>
                    <a:pt x="3444" y="14409"/>
                    <a:pt x="3460" y="14520"/>
                  </a:cubicBezTo>
                  <a:cubicBezTo>
                    <a:pt x="3492" y="14678"/>
                    <a:pt x="3555" y="14828"/>
                    <a:pt x="3626" y="14979"/>
                  </a:cubicBezTo>
                  <a:cubicBezTo>
                    <a:pt x="3840" y="15414"/>
                    <a:pt x="4117" y="15818"/>
                    <a:pt x="4450" y="16174"/>
                  </a:cubicBezTo>
                  <a:cubicBezTo>
                    <a:pt x="4529" y="16269"/>
                    <a:pt x="4624" y="16356"/>
                    <a:pt x="4671" y="16475"/>
                  </a:cubicBezTo>
                  <a:cubicBezTo>
                    <a:pt x="4766" y="16681"/>
                    <a:pt x="4695" y="16926"/>
                    <a:pt x="4727" y="17156"/>
                  </a:cubicBezTo>
                  <a:cubicBezTo>
                    <a:pt x="4790" y="17686"/>
                    <a:pt x="5328" y="18011"/>
                    <a:pt x="5637" y="18446"/>
                  </a:cubicBezTo>
                  <a:cubicBezTo>
                    <a:pt x="5811" y="18700"/>
                    <a:pt x="5906" y="18993"/>
                    <a:pt x="6088" y="19238"/>
                  </a:cubicBezTo>
                  <a:cubicBezTo>
                    <a:pt x="6241" y="19460"/>
                    <a:pt x="6485" y="19645"/>
                    <a:pt x="6745" y="19645"/>
                  </a:cubicBezTo>
                  <a:cubicBezTo>
                    <a:pt x="6782" y="19645"/>
                    <a:pt x="6819" y="19642"/>
                    <a:pt x="6856" y="19634"/>
                  </a:cubicBezTo>
                  <a:cubicBezTo>
                    <a:pt x="6690" y="18763"/>
                    <a:pt x="6666" y="17853"/>
                    <a:pt x="6801" y="16974"/>
                  </a:cubicBezTo>
                  <a:cubicBezTo>
                    <a:pt x="6896" y="16285"/>
                    <a:pt x="7110" y="15573"/>
                    <a:pt x="7624" y="15105"/>
                  </a:cubicBezTo>
                  <a:cubicBezTo>
                    <a:pt x="7949" y="14812"/>
                    <a:pt x="8400" y="14599"/>
                    <a:pt x="8511" y="14179"/>
                  </a:cubicBezTo>
                  <a:cubicBezTo>
                    <a:pt x="8566" y="13973"/>
                    <a:pt x="8527" y="13744"/>
                    <a:pt x="8606" y="13538"/>
                  </a:cubicBezTo>
                  <a:cubicBezTo>
                    <a:pt x="8693" y="13308"/>
                    <a:pt x="8915" y="13150"/>
                    <a:pt x="9073" y="12960"/>
                  </a:cubicBezTo>
                  <a:cubicBezTo>
                    <a:pt x="9334" y="12635"/>
                    <a:pt x="9643" y="12216"/>
                    <a:pt x="9406" y="11867"/>
                  </a:cubicBezTo>
                  <a:cubicBezTo>
                    <a:pt x="9026" y="11305"/>
                    <a:pt x="8052" y="11353"/>
                    <a:pt x="7759" y="10735"/>
                  </a:cubicBezTo>
                  <a:cubicBezTo>
                    <a:pt x="7688" y="10585"/>
                    <a:pt x="7672" y="10411"/>
                    <a:pt x="7601" y="10252"/>
                  </a:cubicBezTo>
                  <a:cubicBezTo>
                    <a:pt x="7514" y="10070"/>
                    <a:pt x="7363" y="9936"/>
                    <a:pt x="7197" y="9817"/>
                  </a:cubicBezTo>
                  <a:cubicBezTo>
                    <a:pt x="6790" y="9536"/>
                    <a:pt x="6293" y="9379"/>
                    <a:pt x="5797" y="9379"/>
                  </a:cubicBezTo>
                  <a:cubicBezTo>
                    <a:pt x="5762" y="9379"/>
                    <a:pt x="5727" y="9380"/>
                    <a:pt x="5693" y="9382"/>
                  </a:cubicBezTo>
                  <a:cubicBezTo>
                    <a:pt x="5542" y="9390"/>
                    <a:pt x="5379" y="9407"/>
                    <a:pt x="5222" y="9407"/>
                  </a:cubicBezTo>
                  <a:cubicBezTo>
                    <a:pt x="4958" y="9407"/>
                    <a:pt x="4709" y="9360"/>
                    <a:pt x="4561" y="9152"/>
                  </a:cubicBezTo>
                  <a:cubicBezTo>
                    <a:pt x="4466" y="9017"/>
                    <a:pt x="4442" y="8843"/>
                    <a:pt x="4315" y="8740"/>
                  </a:cubicBezTo>
                  <a:cubicBezTo>
                    <a:pt x="4237" y="8675"/>
                    <a:pt x="4146" y="8654"/>
                    <a:pt x="4049" y="8654"/>
                  </a:cubicBezTo>
                  <a:cubicBezTo>
                    <a:pt x="3883" y="8654"/>
                    <a:pt x="3698" y="8715"/>
                    <a:pt x="3526" y="8715"/>
                  </a:cubicBezTo>
                  <a:cubicBezTo>
                    <a:pt x="3482" y="8715"/>
                    <a:pt x="3439" y="8711"/>
                    <a:pt x="3397" y="8701"/>
                  </a:cubicBezTo>
                  <a:cubicBezTo>
                    <a:pt x="3270" y="8677"/>
                    <a:pt x="3167" y="8598"/>
                    <a:pt x="3064" y="8527"/>
                  </a:cubicBezTo>
                  <a:cubicBezTo>
                    <a:pt x="2660" y="8242"/>
                    <a:pt x="2225" y="7901"/>
                    <a:pt x="2154" y="7410"/>
                  </a:cubicBezTo>
                  <a:cubicBezTo>
                    <a:pt x="2130" y="7260"/>
                    <a:pt x="2138" y="7102"/>
                    <a:pt x="2067" y="6983"/>
                  </a:cubicBezTo>
                  <a:cubicBezTo>
                    <a:pt x="1916" y="6729"/>
                    <a:pt x="1513" y="6737"/>
                    <a:pt x="1354" y="6484"/>
                  </a:cubicBezTo>
                  <a:cubicBezTo>
                    <a:pt x="1243" y="6310"/>
                    <a:pt x="1315" y="6064"/>
                    <a:pt x="1457" y="5914"/>
                  </a:cubicBezTo>
                  <a:cubicBezTo>
                    <a:pt x="1600" y="5764"/>
                    <a:pt x="1805" y="5684"/>
                    <a:pt x="1995" y="5605"/>
                  </a:cubicBezTo>
                  <a:cubicBezTo>
                    <a:pt x="2182" y="5531"/>
                    <a:pt x="2389" y="5456"/>
                    <a:pt x="2587" y="5456"/>
                  </a:cubicBezTo>
                  <a:cubicBezTo>
                    <a:pt x="2684" y="5456"/>
                    <a:pt x="2778" y="5474"/>
                    <a:pt x="2866" y="5518"/>
                  </a:cubicBezTo>
                  <a:cubicBezTo>
                    <a:pt x="3326" y="5732"/>
                    <a:pt x="3405" y="6508"/>
                    <a:pt x="3911" y="6563"/>
                  </a:cubicBezTo>
                  <a:cubicBezTo>
                    <a:pt x="3924" y="6564"/>
                    <a:pt x="3937" y="6565"/>
                    <a:pt x="3950" y="6565"/>
                  </a:cubicBezTo>
                  <a:cubicBezTo>
                    <a:pt x="4293" y="6565"/>
                    <a:pt x="4530" y="6162"/>
                    <a:pt x="4553" y="5803"/>
                  </a:cubicBezTo>
                  <a:cubicBezTo>
                    <a:pt x="4576" y="5431"/>
                    <a:pt x="4466" y="5051"/>
                    <a:pt x="4561" y="4695"/>
                  </a:cubicBezTo>
                  <a:cubicBezTo>
                    <a:pt x="4624" y="4457"/>
                    <a:pt x="4766" y="4252"/>
                    <a:pt x="4909" y="4054"/>
                  </a:cubicBezTo>
                  <a:cubicBezTo>
                    <a:pt x="5218" y="3626"/>
                    <a:pt x="5518" y="3207"/>
                    <a:pt x="5827" y="2787"/>
                  </a:cubicBezTo>
                  <a:cubicBezTo>
                    <a:pt x="5938" y="2629"/>
                    <a:pt x="6049" y="2478"/>
                    <a:pt x="6207" y="2383"/>
                  </a:cubicBezTo>
                  <a:cubicBezTo>
                    <a:pt x="6405" y="2264"/>
                    <a:pt x="6651" y="2249"/>
                    <a:pt x="6864" y="2169"/>
                  </a:cubicBezTo>
                  <a:cubicBezTo>
                    <a:pt x="7086" y="2082"/>
                    <a:pt x="7292" y="1876"/>
                    <a:pt x="7236" y="1655"/>
                  </a:cubicBezTo>
                  <a:cubicBezTo>
                    <a:pt x="7221" y="1584"/>
                    <a:pt x="7181" y="1520"/>
                    <a:pt x="7134" y="1473"/>
                  </a:cubicBezTo>
                  <a:cubicBezTo>
                    <a:pt x="6817" y="1116"/>
                    <a:pt x="6247" y="1085"/>
                    <a:pt x="5938" y="729"/>
                  </a:cubicBezTo>
                  <a:cubicBezTo>
                    <a:pt x="5883" y="665"/>
                    <a:pt x="5835" y="594"/>
                    <a:pt x="5772" y="539"/>
                  </a:cubicBezTo>
                  <a:cubicBezTo>
                    <a:pt x="5653" y="436"/>
                    <a:pt x="5495" y="420"/>
                    <a:pt x="5344" y="396"/>
                  </a:cubicBezTo>
                  <a:cubicBezTo>
                    <a:pt x="4956" y="325"/>
                    <a:pt x="4584" y="190"/>
                    <a:pt x="4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25;p45">
              <a:extLst>
                <a:ext uri="{FF2B5EF4-FFF2-40B4-BE49-F238E27FC236}">
                  <a16:creationId xmlns:a16="http://schemas.microsoft.com/office/drawing/2014/main" id="{1FE00A29-8766-710E-072F-A391CEACCF10}"/>
                </a:ext>
              </a:extLst>
            </p:cNvPr>
            <p:cNvSpPr/>
            <p:nvPr/>
          </p:nvSpPr>
          <p:spPr>
            <a:xfrm>
              <a:off x="6757062" y="3265750"/>
              <a:ext cx="450792" cy="525114"/>
            </a:xfrm>
            <a:custGeom>
              <a:avLst/>
              <a:gdLst/>
              <a:ahLst/>
              <a:cxnLst/>
              <a:rect l="l" t="t" r="r" b="b"/>
              <a:pathLst>
                <a:path w="11227" h="13078" extrusionOk="0">
                  <a:moveTo>
                    <a:pt x="4523" y="1"/>
                  </a:moveTo>
                  <a:cubicBezTo>
                    <a:pt x="3928" y="1"/>
                    <a:pt x="3274" y="255"/>
                    <a:pt x="2962" y="703"/>
                  </a:cubicBezTo>
                  <a:cubicBezTo>
                    <a:pt x="2819" y="901"/>
                    <a:pt x="2732" y="1139"/>
                    <a:pt x="2526" y="1265"/>
                  </a:cubicBezTo>
                  <a:cubicBezTo>
                    <a:pt x="2289" y="1408"/>
                    <a:pt x="1948" y="1368"/>
                    <a:pt x="1766" y="1574"/>
                  </a:cubicBezTo>
                  <a:cubicBezTo>
                    <a:pt x="1711" y="1645"/>
                    <a:pt x="1671" y="1732"/>
                    <a:pt x="1640" y="1819"/>
                  </a:cubicBezTo>
                  <a:cubicBezTo>
                    <a:pt x="1410" y="2461"/>
                    <a:pt x="1252" y="3126"/>
                    <a:pt x="1165" y="3799"/>
                  </a:cubicBezTo>
                  <a:cubicBezTo>
                    <a:pt x="1149" y="3933"/>
                    <a:pt x="1133" y="4076"/>
                    <a:pt x="1078" y="4202"/>
                  </a:cubicBezTo>
                  <a:cubicBezTo>
                    <a:pt x="1030" y="4297"/>
                    <a:pt x="959" y="4377"/>
                    <a:pt x="895" y="4456"/>
                  </a:cubicBezTo>
                  <a:cubicBezTo>
                    <a:pt x="705" y="4669"/>
                    <a:pt x="508" y="4867"/>
                    <a:pt x="294" y="5050"/>
                  </a:cubicBezTo>
                  <a:cubicBezTo>
                    <a:pt x="159" y="5160"/>
                    <a:pt x="1" y="5311"/>
                    <a:pt x="33" y="5485"/>
                  </a:cubicBezTo>
                  <a:cubicBezTo>
                    <a:pt x="64" y="5627"/>
                    <a:pt x="207" y="5715"/>
                    <a:pt x="341" y="5770"/>
                  </a:cubicBezTo>
                  <a:cubicBezTo>
                    <a:pt x="808" y="5974"/>
                    <a:pt x="1314" y="6080"/>
                    <a:pt x="1820" y="6080"/>
                  </a:cubicBezTo>
                  <a:cubicBezTo>
                    <a:pt x="2001" y="6080"/>
                    <a:pt x="2181" y="6066"/>
                    <a:pt x="2360" y="6039"/>
                  </a:cubicBezTo>
                  <a:cubicBezTo>
                    <a:pt x="2589" y="6008"/>
                    <a:pt x="2818" y="5953"/>
                    <a:pt x="3046" y="5953"/>
                  </a:cubicBezTo>
                  <a:cubicBezTo>
                    <a:pt x="3111" y="5953"/>
                    <a:pt x="3175" y="5957"/>
                    <a:pt x="3239" y="5968"/>
                  </a:cubicBezTo>
                  <a:cubicBezTo>
                    <a:pt x="3508" y="6007"/>
                    <a:pt x="3761" y="6150"/>
                    <a:pt x="4038" y="6166"/>
                  </a:cubicBezTo>
                  <a:cubicBezTo>
                    <a:pt x="4055" y="6167"/>
                    <a:pt x="4071" y="6167"/>
                    <a:pt x="4087" y="6167"/>
                  </a:cubicBezTo>
                  <a:cubicBezTo>
                    <a:pt x="4377" y="6167"/>
                    <a:pt x="4648" y="6038"/>
                    <a:pt x="4941" y="6015"/>
                  </a:cubicBezTo>
                  <a:cubicBezTo>
                    <a:pt x="4964" y="6013"/>
                    <a:pt x="4987" y="6012"/>
                    <a:pt x="5010" y="6012"/>
                  </a:cubicBezTo>
                  <a:cubicBezTo>
                    <a:pt x="5296" y="6012"/>
                    <a:pt x="5613" y="6189"/>
                    <a:pt x="5598" y="6475"/>
                  </a:cubicBezTo>
                  <a:cubicBezTo>
                    <a:pt x="5590" y="6633"/>
                    <a:pt x="5479" y="6767"/>
                    <a:pt x="5424" y="6910"/>
                  </a:cubicBezTo>
                  <a:cubicBezTo>
                    <a:pt x="5289" y="7282"/>
                    <a:pt x="5519" y="7678"/>
                    <a:pt x="5519" y="8066"/>
                  </a:cubicBezTo>
                  <a:cubicBezTo>
                    <a:pt x="5527" y="8477"/>
                    <a:pt x="5273" y="8881"/>
                    <a:pt x="5376" y="9277"/>
                  </a:cubicBezTo>
                  <a:cubicBezTo>
                    <a:pt x="5432" y="9475"/>
                    <a:pt x="5558" y="9633"/>
                    <a:pt x="5622" y="9831"/>
                  </a:cubicBezTo>
                  <a:cubicBezTo>
                    <a:pt x="5733" y="10211"/>
                    <a:pt x="5527" y="10607"/>
                    <a:pt x="5471" y="11003"/>
                  </a:cubicBezTo>
                  <a:cubicBezTo>
                    <a:pt x="5392" y="11700"/>
                    <a:pt x="5788" y="12349"/>
                    <a:pt x="6160" y="12935"/>
                  </a:cubicBezTo>
                  <a:cubicBezTo>
                    <a:pt x="6208" y="13006"/>
                    <a:pt x="6263" y="13077"/>
                    <a:pt x="6342" y="13077"/>
                  </a:cubicBezTo>
                  <a:cubicBezTo>
                    <a:pt x="6406" y="13077"/>
                    <a:pt x="6453" y="13022"/>
                    <a:pt x="6493" y="12982"/>
                  </a:cubicBezTo>
                  <a:cubicBezTo>
                    <a:pt x="6754" y="12689"/>
                    <a:pt x="6983" y="12365"/>
                    <a:pt x="7158" y="12016"/>
                  </a:cubicBezTo>
                  <a:cubicBezTo>
                    <a:pt x="7237" y="11866"/>
                    <a:pt x="7324" y="11692"/>
                    <a:pt x="7474" y="11620"/>
                  </a:cubicBezTo>
                  <a:cubicBezTo>
                    <a:pt x="7593" y="11573"/>
                    <a:pt x="7736" y="11589"/>
                    <a:pt x="7862" y="11557"/>
                  </a:cubicBezTo>
                  <a:cubicBezTo>
                    <a:pt x="8179" y="11494"/>
                    <a:pt x="8393" y="11193"/>
                    <a:pt x="8527" y="10892"/>
                  </a:cubicBezTo>
                  <a:cubicBezTo>
                    <a:pt x="8654" y="10599"/>
                    <a:pt x="8741" y="10267"/>
                    <a:pt x="8955" y="10029"/>
                  </a:cubicBezTo>
                  <a:cubicBezTo>
                    <a:pt x="9074" y="9902"/>
                    <a:pt x="9216" y="9807"/>
                    <a:pt x="9343" y="9689"/>
                  </a:cubicBezTo>
                  <a:cubicBezTo>
                    <a:pt x="9731" y="9325"/>
                    <a:pt x="9889" y="8778"/>
                    <a:pt x="9976" y="8256"/>
                  </a:cubicBezTo>
                  <a:cubicBezTo>
                    <a:pt x="10063" y="7725"/>
                    <a:pt x="10103" y="7187"/>
                    <a:pt x="10316" y="6696"/>
                  </a:cubicBezTo>
                  <a:cubicBezTo>
                    <a:pt x="10475" y="6348"/>
                    <a:pt x="10720" y="6047"/>
                    <a:pt x="10950" y="5754"/>
                  </a:cubicBezTo>
                  <a:cubicBezTo>
                    <a:pt x="11084" y="5580"/>
                    <a:pt x="11227" y="5390"/>
                    <a:pt x="11203" y="5168"/>
                  </a:cubicBezTo>
                  <a:cubicBezTo>
                    <a:pt x="11164" y="4836"/>
                    <a:pt x="10768" y="4685"/>
                    <a:pt x="10491" y="4495"/>
                  </a:cubicBezTo>
                  <a:cubicBezTo>
                    <a:pt x="9857" y="4052"/>
                    <a:pt x="9699" y="3157"/>
                    <a:pt x="9121" y="2659"/>
                  </a:cubicBezTo>
                  <a:cubicBezTo>
                    <a:pt x="8947" y="2508"/>
                    <a:pt x="8741" y="2397"/>
                    <a:pt x="8591" y="2223"/>
                  </a:cubicBezTo>
                  <a:cubicBezTo>
                    <a:pt x="8416" y="2009"/>
                    <a:pt x="8361" y="1724"/>
                    <a:pt x="8226" y="1479"/>
                  </a:cubicBezTo>
                  <a:cubicBezTo>
                    <a:pt x="8118" y="1268"/>
                    <a:pt x="7904" y="1075"/>
                    <a:pt x="7675" y="1075"/>
                  </a:cubicBezTo>
                  <a:cubicBezTo>
                    <a:pt x="7637" y="1075"/>
                    <a:pt x="7599" y="1080"/>
                    <a:pt x="7561" y="1091"/>
                  </a:cubicBezTo>
                  <a:cubicBezTo>
                    <a:pt x="7504" y="1106"/>
                    <a:pt x="7453" y="1140"/>
                    <a:pt x="7396" y="1140"/>
                  </a:cubicBezTo>
                  <a:cubicBezTo>
                    <a:pt x="7391" y="1140"/>
                    <a:pt x="7385" y="1139"/>
                    <a:pt x="7379" y="1139"/>
                  </a:cubicBezTo>
                  <a:cubicBezTo>
                    <a:pt x="7173" y="1131"/>
                    <a:pt x="7173" y="790"/>
                    <a:pt x="6991" y="687"/>
                  </a:cubicBezTo>
                  <a:cubicBezTo>
                    <a:pt x="6949" y="664"/>
                    <a:pt x="6899" y="656"/>
                    <a:pt x="6845" y="656"/>
                  </a:cubicBezTo>
                  <a:cubicBezTo>
                    <a:pt x="6689" y="656"/>
                    <a:pt x="6498" y="728"/>
                    <a:pt x="6356" y="728"/>
                  </a:cubicBezTo>
                  <a:cubicBezTo>
                    <a:pt x="6346" y="728"/>
                    <a:pt x="6336" y="728"/>
                    <a:pt x="6326" y="727"/>
                  </a:cubicBezTo>
                  <a:cubicBezTo>
                    <a:pt x="6121" y="703"/>
                    <a:pt x="5907" y="624"/>
                    <a:pt x="5733" y="521"/>
                  </a:cubicBezTo>
                  <a:cubicBezTo>
                    <a:pt x="5511" y="387"/>
                    <a:pt x="5345" y="181"/>
                    <a:pt x="5099" y="94"/>
                  </a:cubicBezTo>
                  <a:cubicBezTo>
                    <a:pt x="4925" y="31"/>
                    <a:pt x="4727" y="1"/>
                    <a:pt x="45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26;p45">
              <a:extLst>
                <a:ext uri="{FF2B5EF4-FFF2-40B4-BE49-F238E27FC236}">
                  <a16:creationId xmlns:a16="http://schemas.microsoft.com/office/drawing/2014/main" id="{90768A4A-5ECC-D579-DCCA-491593E20BED}"/>
                </a:ext>
              </a:extLst>
            </p:cNvPr>
            <p:cNvSpPr/>
            <p:nvPr/>
          </p:nvSpPr>
          <p:spPr>
            <a:xfrm>
              <a:off x="6024034" y="2958903"/>
              <a:ext cx="1722944" cy="1473757"/>
            </a:xfrm>
            <a:custGeom>
              <a:avLst/>
              <a:gdLst/>
              <a:ahLst/>
              <a:cxnLst/>
              <a:rect l="l" t="t" r="r" b="b"/>
              <a:pathLst>
                <a:path w="42910" h="36704" fill="none" extrusionOk="0">
                  <a:moveTo>
                    <a:pt x="18684" y="36703"/>
                  </a:moveTo>
                  <a:cubicBezTo>
                    <a:pt x="18684" y="36703"/>
                    <a:pt x="39213" y="30908"/>
                    <a:pt x="39236" y="30544"/>
                  </a:cubicBezTo>
                  <a:cubicBezTo>
                    <a:pt x="39260" y="30180"/>
                    <a:pt x="42910" y="9216"/>
                    <a:pt x="42910" y="9216"/>
                  </a:cubicBezTo>
                  <a:lnTo>
                    <a:pt x="3183" y="1"/>
                  </a:lnTo>
                  <a:lnTo>
                    <a:pt x="1" y="30283"/>
                  </a:lnTo>
                  <a:close/>
                </a:path>
              </a:pathLst>
            </a:custGeom>
            <a:noFill/>
            <a:ln w="6525"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27;p45">
              <a:extLst>
                <a:ext uri="{FF2B5EF4-FFF2-40B4-BE49-F238E27FC236}">
                  <a16:creationId xmlns:a16="http://schemas.microsoft.com/office/drawing/2014/main" id="{8457176D-9536-D6EA-2435-4F02718AB80A}"/>
                </a:ext>
              </a:extLst>
            </p:cNvPr>
            <p:cNvSpPr/>
            <p:nvPr/>
          </p:nvSpPr>
          <p:spPr>
            <a:xfrm>
              <a:off x="6024034" y="4053064"/>
              <a:ext cx="1145350" cy="379602"/>
            </a:xfrm>
            <a:custGeom>
              <a:avLst/>
              <a:gdLst/>
              <a:ahLst/>
              <a:cxnLst/>
              <a:rect l="l" t="t" r="r" b="b"/>
              <a:pathLst>
                <a:path w="28525" h="9454" fill="none" extrusionOk="0">
                  <a:moveTo>
                    <a:pt x="18684" y="9453"/>
                  </a:moveTo>
                  <a:lnTo>
                    <a:pt x="28525" y="0"/>
                  </a:lnTo>
                  <a:lnTo>
                    <a:pt x="1" y="3033"/>
                  </a:lnTo>
                </a:path>
              </a:pathLst>
            </a:custGeom>
            <a:noFill/>
            <a:ln w="6525"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8;p45">
              <a:extLst>
                <a:ext uri="{FF2B5EF4-FFF2-40B4-BE49-F238E27FC236}">
                  <a16:creationId xmlns:a16="http://schemas.microsoft.com/office/drawing/2014/main" id="{7DD5BBEC-6B7C-B547-DAE9-F773E104A5EE}"/>
                </a:ext>
              </a:extLst>
            </p:cNvPr>
            <p:cNvSpPr/>
            <p:nvPr/>
          </p:nvSpPr>
          <p:spPr>
            <a:xfrm>
              <a:off x="7169350" y="3328950"/>
              <a:ext cx="577634" cy="856373"/>
            </a:xfrm>
            <a:custGeom>
              <a:avLst/>
              <a:gdLst/>
              <a:ahLst/>
              <a:cxnLst/>
              <a:rect l="l" t="t" r="r" b="b"/>
              <a:pathLst>
                <a:path w="14386" h="21328" fill="none" extrusionOk="0">
                  <a:moveTo>
                    <a:pt x="10712" y="21328"/>
                  </a:moveTo>
                  <a:lnTo>
                    <a:pt x="1" y="18042"/>
                  </a:lnTo>
                  <a:lnTo>
                    <a:pt x="14386" y="0"/>
                  </a:lnTo>
                </a:path>
              </a:pathLst>
            </a:custGeom>
            <a:noFill/>
            <a:ln w="6525"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29;p45">
              <a:extLst>
                <a:ext uri="{FF2B5EF4-FFF2-40B4-BE49-F238E27FC236}">
                  <a16:creationId xmlns:a16="http://schemas.microsoft.com/office/drawing/2014/main" id="{6A062DFE-9F63-63BE-AEBE-BCB5D3A166C5}"/>
                </a:ext>
              </a:extLst>
            </p:cNvPr>
            <p:cNvSpPr/>
            <p:nvPr/>
          </p:nvSpPr>
          <p:spPr>
            <a:xfrm>
              <a:off x="6151840" y="2958903"/>
              <a:ext cx="1017545" cy="1094517"/>
            </a:xfrm>
            <a:custGeom>
              <a:avLst/>
              <a:gdLst/>
              <a:ahLst/>
              <a:cxnLst/>
              <a:rect l="l" t="t" r="r" b="b"/>
              <a:pathLst>
                <a:path w="25342" h="27259" fill="none" extrusionOk="0">
                  <a:moveTo>
                    <a:pt x="0" y="1"/>
                  </a:moveTo>
                  <a:lnTo>
                    <a:pt x="25342" y="27258"/>
                  </a:lnTo>
                </a:path>
              </a:pathLst>
            </a:custGeom>
            <a:noFill/>
            <a:ln w="6525"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30;p45">
              <a:extLst>
                <a:ext uri="{FF2B5EF4-FFF2-40B4-BE49-F238E27FC236}">
                  <a16:creationId xmlns:a16="http://schemas.microsoft.com/office/drawing/2014/main" id="{0D11CE0E-A51B-86D7-3F60-090102E978E6}"/>
                </a:ext>
              </a:extLst>
            </p:cNvPr>
            <p:cNvSpPr/>
            <p:nvPr/>
          </p:nvSpPr>
          <p:spPr>
            <a:xfrm>
              <a:off x="7363288" y="4020942"/>
              <a:ext cx="504516" cy="443846"/>
            </a:xfrm>
            <a:custGeom>
              <a:avLst/>
              <a:gdLst/>
              <a:ahLst/>
              <a:cxnLst/>
              <a:rect l="l" t="t" r="r" b="b"/>
              <a:pathLst>
                <a:path w="12565" h="11054" extrusionOk="0">
                  <a:moveTo>
                    <a:pt x="6279" y="1"/>
                  </a:moveTo>
                  <a:cubicBezTo>
                    <a:pt x="5556" y="1"/>
                    <a:pt x="4822" y="143"/>
                    <a:pt x="4117" y="444"/>
                  </a:cubicBezTo>
                  <a:cubicBezTo>
                    <a:pt x="1307" y="1640"/>
                    <a:pt x="0" y="4886"/>
                    <a:pt x="1204" y="7696"/>
                  </a:cubicBezTo>
                  <a:cubicBezTo>
                    <a:pt x="2098" y="9798"/>
                    <a:pt x="4138" y="11054"/>
                    <a:pt x="6286" y="11054"/>
                  </a:cubicBezTo>
                  <a:cubicBezTo>
                    <a:pt x="7010" y="11054"/>
                    <a:pt x="7747" y="10911"/>
                    <a:pt x="8455" y="10609"/>
                  </a:cubicBezTo>
                  <a:cubicBezTo>
                    <a:pt x="11258" y="9414"/>
                    <a:pt x="12564" y="6168"/>
                    <a:pt x="11369" y="3358"/>
                  </a:cubicBezTo>
                  <a:cubicBezTo>
                    <a:pt x="10474" y="1260"/>
                    <a:pt x="8427" y="1"/>
                    <a:pt x="62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31;p45">
              <a:extLst>
                <a:ext uri="{FF2B5EF4-FFF2-40B4-BE49-F238E27FC236}">
                  <a16:creationId xmlns:a16="http://schemas.microsoft.com/office/drawing/2014/main" id="{F88B2F34-D08A-C7F5-5B2A-607230FDCEF2}"/>
                </a:ext>
              </a:extLst>
            </p:cNvPr>
            <p:cNvSpPr/>
            <p:nvPr/>
          </p:nvSpPr>
          <p:spPr>
            <a:xfrm>
              <a:off x="7450701" y="4116947"/>
              <a:ext cx="329692" cy="251796"/>
            </a:xfrm>
            <a:custGeom>
              <a:avLst/>
              <a:gdLst/>
              <a:ahLst/>
              <a:cxnLst/>
              <a:rect l="l" t="t" r="r" b="b"/>
              <a:pathLst>
                <a:path w="8211" h="6271" extrusionOk="0">
                  <a:moveTo>
                    <a:pt x="7070" y="1"/>
                  </a:moveTo>
                  <a:lnTo>
                    <a:pt x="0" y="1822"/>
                  </a:lnTo>
                  <a:lnTo>
                    <a:pt x="1148" y="6271"/>
                  </a:lnTo>
                  <a:lnTo>
                    <a:pt x="8210" y="4450"/>
                  </a:lnTo>
                  <a:lnTo>
                    <a:pt x="7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32;p45">
              <a:extLst>
                <a:ext uri="{FF2B5EF4-FFF2-40B4-BE49-F238E27FC236}">
                  <a16:creationId xmlns:a16="http://schemas.microsoft.com/office/drawing/2014/main" id="{8D1C62C4-5CC5-C251-7626-C2662EB53559}"/>
                </a:ext>
              </a:extLst>
            </p:cNvPr>
            <p:cNvSpPr/>
            <p:nvPr/>
          </p:nvSpPr>
          <p:spPr>
            <a:xfrm>
              <a:off x="7496796" y="4217731"/>
              <a:ext cx="283597" cy="151014"/>
            </a:xfrm>
            <a:custGeom>
              <a:avLst/>
              <a:gdLst/>
              <a:ahLst/>
              <a:cxnLst/>
              <a:rect l="l" t="t" r="r" b="b"/>
              <a:pathLst>
                <a:path w="7063" h="3761" fill="none" extrusionOk="0">
                  <a:moveTo>
                    <a:pt x="0" y="3761"/>
                  </a:moveTo>
                  <a:lnTo>
                    <a:pt x="2803" y="0"/>
                  </a:lnTo>
                  <a:lnTo>
                    <a:pt x="7062" y="1940"/>
                  </a:lnTo>
                </a:path>
              </a:pathLst>
            </a:custGeom>
            <a:noFill/>
            <a:ln w="33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33;p45">
              <a:extLst>
                <a:ext uri="{FF2B5EF4-FFF2-40B4-BE49-F238E27FC236}">
                  <a16:creationId xmlns:a16="http://schemas.microsoft.com/office/drawing/2014/main" id="{3EF4A0A9-4681-4873-ED2B-FDBE1AABC12E}"/>
                </a:ext>
              </a:extLst>
            </p:cNvPr>
            <p:cNvSpPr/>
            <p:nvPr/>
          </p:nvSpPr>
          <p:spPr>
            <a:xfrm>
              <a:off x="7450701" y="4116947"/>
              <a:ext cx="283918" cy="151054"/>
            </a:xfrm>
            <a:custGeom>
              <a:avLst/>
              <a:gdLst/>
              <a:ahLst/>
              <a:cxnLst/>
              <a:rect l="l" t="t" r="r" b="b"/>
              <a:pathLst>
                <a:path w="7071" h="3762" extrusionOk="0">
                  <a:moveTo>
                    <a:pt x="7070" y="1"/>
                  </a:moveTo>
                  <a:lnTo>
                    <a:pt x="0" y="1822"/>
                  </a:lnTo>
                  <a:lnTo>
                    <a:pt x="4268" y="3761"/>
                  </a:lnTo>
                  <a:lnTo>
                    <a:pt x="7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34;p45">
              <a:extLst>
                <a:ext uri="{FF2B5EF4-FFF2-40B4-BE49-F238E27FC236}">
                  <a16:creationId xmlns:a16="http://schemas.microsoft.com/office/drawing/2014/main" id="{35A5635E-4F01-064C-DC03-BB002105EA78}"/>
                </a:ext>
              </a:extLst>
            </p:cNvPr>
            <p:cNvSpPr/>
            <p:nvPr/>
          </p:nvSpPr>
          <p:spPr>
            <a:xfrm>
              <a:off x="7450701" y="4116947"/>
              <a:ext cx="283918" cy="151054"/>
            </a:xfrm>
            <a:custGeom>
              <a:avLst/>
              <a:gdLst/>
              <a:ahLst/>
              <a:cxnLst/>
              <a:rect l="l" t="t" r="r" b="b"/>
              <a:pathLst>
                <a:path w="7071" h="3762" fill="none" extrusionOk="0">
                  <a:moveTo>
                    <a:pt x="7070" y="1"/>
                  </a:moveTo>
                  <a:lnTo>
                    <a:pt x="4268" y="3761"/>
                  </a:lnTo>
                  <a:lnTo>
                    <a:pt x="0" y="1822"/>
                  </a:lnTo>
                </a:path>
              </a:pathLst>
            </a:custGeom>
            <a:noFill/>
            <a:ln w="33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35;p45">
              <a:extLst>
                <a:ext uri="{FF2B5EF4-FFF2-40B4-BE49-F238E27FC236}">
                  <a16:creationId xmlns:a16="http://schemas.microsoft.com/office/drawing/2014/main" id="{905CBA31-6085-B90E-9894-1C6594BD9B0E}"/>
                </a:ext>
              </a:extLst>
            </p:cNvPr>
            <p:cNvSpPr/>
            <p:nvPr/>
          </p:nvSpPr>
          <p:spPr>
            <a:xfrm>
              <a:off x="5828852" y="2694939"/>
              <a:ext cx="578919" cy="512747"/>
            </a:xfrm>
            <a:custGeom>
              <a:avLst/>
              <a:gdLst/>
              <a:ahLst/>
              <a:cxnLst/>
              <a:rect l="l" t="t" r="r" b="b"/>
              <a:pathLst>
                <a:path w="14418" h="12770" extrusionOk="0">
                  <a:moveTo>
                    <a:pt x="7209" y="1"/>
                  </a:moveTo>
                  <a:cubicBezTo>
                    <a:pt x="6479" y="1"/>
                    <a:pt x="5737" y="127"/>
                    <a:pt x="5012" y="392"/>
                  </a:cubicBezTo>
                  <a:cubicBezTo>
                    <a:pt x="1703" y="1611"/>
                    <a:pt x="1" y="5277"/>
                    <a:pt x="1220" y="8586"/>
                  </a:cubicBezTo>
                  <a:cubicBezTo>
                    <a:pt x="2166" y="11170"/>
                    <a:pt x="4608" y="12769"/>
                    <a:pt x="7209" y="12769"/>
                  </a:cubicBezTo>
                  <a:cubicBezTo>
                    <a:pt x="7939" y="12769"/>
                    <a:pt x="8681" y="12643"/>
                    <a:pt x="9406" y="12378"/>
                  </a:cubicBezTo>
                  <a:cubicBezTo>
                    <a:pt x="12715" y="11167"/>
                    <a:pt x="14417" y="7493"/>
                    <a:pt x="13198" y="4184"/>
                  </a:cubicBezTo>
                  <a:cubicBezTo>
                    <a:pt x="12252" y="1600"/>
                    <a:pt x="9810" y="1"/>
                    <a:pt x="72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36;p45">
              <a:extLst>
                <a:ext uri="{FF2B5EF4-FFF2-40B4-BE49-F238E27FC236}">
                  <a16:creationId xmlns:a16="http://schemas.microsoft.com/office/drawing/2014/main" id="{973D61D7-6702-3347-B32A-BDE782BB80C5}"/>
                </a:ext>
              </a:extLst>
            </p:cNvPr>
            <p:cNvSpPr/>
            <p:nvPr/>
          </p:nvSpPr>
          <p:spPr>
            <a:xfrm>
              <a:off x="5877195" y="3804158"/>
              <a:ext cx="498132" cy="498172"/>
            </a:xfrm>
            <a:custGeom>
              <a:avLst/>
              <a:gdLst/>
              <a:ahLst/>
              <a:cxnLst/>
              <a:rect l="l" t="t" r="r" b="b"/>
              <a:pathLst>
                <a:path w="12406" h="12407" extrusionOk="0">
                  <a:moveTo>
                    <a:pt x="6207" y="1"/>
                  </a:moveTo>
                  <a:cubicBezTo>
                    <a:pt x="2779" y="1"/>
                    <a:pt x="0" y="2779"/>
                    <a:pt x="0" y="6207"/>
                  </a:cubicBezTo>
                  <a:cubicBezTo>
                    <a:pt x="0" y="9627"/>
                    <a:pt x="2779" y="12406"/>
                    <a:pt x="6207" y="12406"/>
                  </a:cubicBezTo>
                  <a:cubicBezTo>
                    <a:pt x="9635" y="12406"/>
                    <a:pt x="12406" y="9627"/>
                    <a:pt x="12406" y="6207"/>
                  </a:cubicBezTo>
                  <a:cubicBezTo>
                    <a:pt x="12406" y="2779"/>
                    <a:pt x="9635"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37;p45">
              <a:extLst>
                <a:ext uri="{FF2B5EF4-FFF2-40B4-BE49-F238E27FC236}">
                  <a16:creationId xmlns:a16="http://schemas.microsoft.com/office/drawing/2014/main" id="{08F9F042-706A-9435-5B94-6CB27E28CD97}"/>
                </a:ext>
              </a:extLst>
            </p:cNvPr>
            <p:cNvSpPr/>
            <p:nvPr/>
          </p:nvSpPr>
          <p:spPr>
            <a:xfrm>
              <a:off x="5913975" y="3886150"/>
              <a:ext cx="402890" cy="248102"/>
            </a:xfrm>
            <a:custGeom>
              <a:avLst/>
              <a:gdLst/>
              <a:ahLst/>
              <a:cxnLst/>
              <a:rect l="l" t="t" r="r" b="b"/>
              <a:pathLst>
                <a:path w="10034" h="6179" extrusionOk="0">
                  <a:moveTo>
                    <a:pt x="4905" y="1"/>
                  </a:moveTo>
                  <a:cubicBezTo>
                    <a:pt x="4424" y="1"/>
                    <a:pt x="3940" y="173"/>
                    <a:pt x="3557" y="484"/>
                  </a:cubicBezTo>
                  <a:cubicBezTo>
                    <a:pt x="2924" y="991"/>
                    <a:pt x="2496" y="2178"/>
                    <a:pt x="2813" y="2986"/>
                  </a:cubicBezTo>
                  <a:cubicBezTo>
                    <a:pt x="2544" y="2830"/>
                    <a:pt x="2246" y="2759"/>
                    <a:pt x="1951" y="2759"/>
                  </a:cubicBezTo>
                  <a:cubicBezTo>
                    <a:pt x="1209" y="2759"/>
                    <a:pt x="483" y="3205"/>
                    <a:pt x="279" y="3872"/>
                  </a:cubicBezTo>
                  <a:cubicBezTo>
                    <a:pt x="0" y="4770"/>
                    <a:pt x="383" y="6179"/>
                    <a:pt x="1687" y="6179"/>
                  </a:cubicBezTo>
                  <a:cubicBezTo>
                    <a:pt x="1751" y="6179"/>
                    <a:pt x="1818" y="6175"/>
                    <a:pt x="1887" y="6168"/>
                  </a:cubicBezTo>
                  <a:cubicBezTo>
                    <a:pt x="2845" y="6073"/>
                    <a:pt x="9036" y="5218"/>
                    <a:pt x="9036" y="5218"/>
                  </a:cubicBezTo>
                  <a:cubicBezTo>
                    <a:pt x="9859" y="4783"/>
                    <a:pt x="10033" y="3358"/>
                    <a:pt x="9360" y="2645"/>
                  </a:cubicBezTo>
                  <a:cubicBezTo>
                    <a:pt x="9103" y="2371"/>
                    <a:pt x="8817" y="2257"/>
                    <a:pt x="8538" y="2257"/>
                  </a:cubicBezTo>
                  <a:cubicBezTo>
                    <a:pt x="7923" y="2257"/>
                    <a:pt x="7334" y="2807"/>
                    <a:pt x="7128" y="3405"/>
                  </a:cubicBezTo>
                  <a:cubicBezTo>
                    <a:pt x="7531" y="1569"/>
                    <a:pt x="6534" y="619"/>
                    <a:pt x="5813" y="231"/>
                  </a:cubicBezTo>
                  <a:cubicBezTo>
                    <a:pt x="5532" y="74"/>
                    <a:pt x="5219" y="1"/>
                    <a:pt x="49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38;p45">
              <a:extLst>
                <a:ext uri="{FF2B5EF4-FFF2-40B4-BE49-F238E27FC236}">
                  <a16:creationId xmlns:a16="http://schemas.microsoft.com/office/drawing/2014/main" id="{5143FECC-899D-CACF-ED20-B8891AD1209E}"/>
                </a:ext>
              </a:extLst>
            </p:cNvPr>
            <p:cNvSpPr/>
            <p:nvPr/>
          </p:nvSpPr>
          <p:spPr>
            <a:xfrm>
              <a:off x="6601631" y="4276394"/>
              <a:ext cx="345271" cy="312266"/>
            </a:xfrm>
            <a:custGeom>
              <a:avLst/>
              <a:gdLst/>
              <a:ahLst/>
              <a:cxnLst/>
              <a:rect l="l" t="t" r="r" b="b"/>
              <a:pathLst>
                <a:path w="8599" h="7777" extrusionOk="0">
                  <a:moveTo>
                    <a:pt x="4298" y="1"/>
                  </a:moveTo>
                  <a:cubicBezTo>
                    <a:pt x="3979" y="1"/>
                    <a:pt x="3656" y="40"/>
                    <a:pt x="3333" y="123"/>
                  </a:cubicBezTo>
                  <a:cubicBezTo>
                    <a:pt x="1251" y="661"/>
                    <a:pt x="1" y="2783"/>
                    <a:pt x="539" y="4857"/>
                  </a:cubicBezTo>
                  <a:cubicBezTo>
                    <a:pt x="993" y="6612"/>
                    <a:pt x="2566" y="7777"/>
                    <a:pt x="4296" y="7777"/>
                  </a:cubicBezTo>
                  <a:cubicBezTo>
                    <a:pt x="4618" y="7777"/>
                    <a:pt x="4946" y="7736"/>
                    <a:pt x="5273" y="7652"/>
                  </a:cubicBezTo>
                  <a:cubicBezTo>
                    <a:pt x="7347" y="7113"/>
                    <a:pt x="8598" y="4999"/>
                    <a:pt x="8068" y="2917"/>
                  </a:cubicBezTo>
                  <a:cubicBezTo>
                    <a:pt x="7613" y="1165"/>
                    <a:pt x="6029" y="1"/>
                    <a:pt x="4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39;p45">
              <a:extLst>
                <a:ext uri="{FF2B5EF4-FFF2-40B4-BE49-F238E27FC236}">
                  <a16:creationId xmlns:a16="http://schemas.microsoft.com/office/drawing/2014/main" id="{B504C6D4-B5A2-02DA-BA74-39B4D574D1E4}"/>
                </a:ext>
              </a:extLst>
            </p:cNvPr>
            <p:cNvSpPr/>
            <p:nvPr/>
          </p:nvSpPr>
          <p:spPr>
            <a:xfrm>
              <a:off x="6756741" y="4486353"/>
              <a:ext cx="35334" cy="32122"/>
            </a:xfrm>
            <a:custGeom>
              <a:avLst/>
              <a:gdLst/>
              <a:ahLst/>
              <a:cxnLst/>
              <a:rect l="l" t="t" r="r" b="b"/>
              <a:pathLst>
                <a:path w="880" h="800" extrusionOk="0">
                  <a:moveTo>
                    <a:pt x="437" y="0"/>
                  </a:moveTo>
                  <a:cubicBezTo>
                    <a:pt x="335" y="0"/>
                    <a:pt x="234" y="40"/>
                    <a:pt x="159" y="119"/>
                  </a:cubicBezTo>
                  <a:cubicBezTo>
                    <a:pt x="1" y="269"/>
                    <a:pt x="1" y="523"/>
                    <a:pt x="159" y="681"/>
                  </a:cubicBezTo>
                  <a:cubicBezTo>
                    <a:pt x="234" y="760"/>
                    <a:pt x="335" y="800"/>
                    <a:pt x="437" y="800"/>
                  </a:cubicBezTo>
                  <a:cubicBezTo>
                    <a:pt x="539" y="800"/>
                    <a:pt x="642" y="760"/>
                    <a:pt x="721" y="681"/>
                  </a:cubicBezTo>
                  <a:cubicBezTo>
                    <a:pt x="880" y="523"/>
                    <a:pt x="880" y="269"/>
                    <a:pt x="721" y="119"/>
                  </a:cubicBezTo>
                  <a:cubicBezTo>
                    <a:pt x="642" y="40"/>
                    <a:pt x="539" y="0"/>
                    <a:pt x="4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40;p45">
              <a:extLst>
                <a:ext uri="{FF2B5EF4-FFF2-40B4-BE49-F238E27FC236}">
                  <a16:creationId xmlns:a16="http://schemas.microsoft.com/office/drawing/2014/main" id="{75766EE1-7ECC-0A56-900F-C6CD27C85718}"/>
                </a:ext>
              </a:extLst>
            </p:cNvPr>
            <p:cNvSpPr/>
            <p:nvPr/>
          </p:nvSpPr>
          <p:spPr>
            <a:xfrm>
              <a:off x="6732930" y="4447886"/>
              <a:ext cx="82674" cy="31158"/>
            </a:xfrm>
            <a:custGeom>
              <a:avLst/>
              <a:gdLst/>
              <a:ahLst/>
              <a:cxnLst/>
              <a:rect l="l" t="t" r="r" b="b"/>
              <a:pathLst>
                <a:path w="2059" h="776" extrusionOk="0">
                  <a:moveTo>
                    <a:pt x="1032" y="0"/>
                  </a:moveTo>
                  <a:cubicBezTo>
                    <a:pt x="659" y="0"/>
                    <a:pt x="285" y="143"/>
                    <a:pt x="0" y="428"/>
                  </a:cubicBezTo>
                  <a:lnTo>
                    <a:pt x="356" y="776"/>
                  </a:lnTo>
                  <a:cubicBezTo>
                    <a:pt x="542" y="590"/>
                    <a:pt x="788" y="497"/>
                    <a:pt x="1033" y="497"/>
                  </a:cubicBezTo>
                  <a:cubicBezTo>
                    <a:pt x="1279" y="497"/>
                    <a:pt x="1524" y="590"/>
                    <a:pt x="1710" y="776"/>
                  </a:cubicBezTo>
                  <a:lnTo>
                    <a:pt x="2059" y="428"/>
                  </a:lnTo>
                  <a:cubicBezTo>
                    <a:pt x="1777" y="143"/>
                    <a:pt x="1405" y="0"/>
                    <a:pt x="1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41;p45">
              <a:extLst>
                <a:ext uri="{FF2B5EF4-FFF2-40B4-BE49-F238E27FC236}">
                  <a16:creationId xmlns:a16="http://schemas.microsoft.com/office/drawing/2014/main" id="{11746DE1-261E-C897-C031-1C7D7BCEE330}"/>
                </a:ext>
              </a:extLst>
            </p:cNvPr>
            <p:cNvSpPr/>
            <p:nvPr/>
          </p:nvSpPr>
          <p:spPr>
            <a:xfrm>
              <a:off x="6699845" y="4401229"/>
              <a:ext cx="148805" cy="44770"/>
            </a:xfrm>
            <a:custGeom>
              <a:avLst/>
              <a:gdLst/>
              <a:ahLst/>
              <a:cxnLst/>
              <a:rect l="l" t="t" r="r" b="b"/>
              <a:pathLst>
                <a:path w="3706" h="1115" extrusionOk="0">
                  <a:moveTo>
                    <a:pt x="1853" y="0"/>
                  </a:moveTo>
                  <a:cubicBezTo>
                    <a:pt x="1182" y="0"/>
                    <a:pt x="511" y="256"/>
                    <a:pt x="1" y="766"/>
                  </a:cubicBezTo>
                  <a:lnTo>
                    <a:pt x="357" y="1115"/>
                  </a:lnTo>
                  <a:cubicBezTo>
                    <a:pt x="769" y="703"/>
                    <a:pt x="1311" y="497"/>
                    <a:pt x="1854" y="497"/>
                  </a:cubicBezTo>
                  <a:cubicBezTo>
                    <a:pt x="2398" y="497"/>
                    <a:pt x="2942" y="703"/>
                    <a:pt x="3358" y="1115"/>
                  </a:cubicBezTo>
                  <a:lnTo>
                    <a:pt x="3706" y="766"/>
                  </a:lnTo>
                  <a:cubicBezTo>
                    <a:pt x="3195" y="256"/>
                    <a:pt x="2524" y="0"/>
                    <a:pt x="18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42;p45">
              <a:extLst>
                <a:ext uri="{FF2B5EF4-FFF2-40B4-BE49-F238E27FC236}">
                  <a16:creationId xmlns:a16="http://schemas.microsoft.com/office/drawing/2014/main" id="{4B0EA8CB-04F0-E84F-5C47-B8602635B750}"/>
                </a:ext>
              </a:extLst>
            </p:cNvPr>
            <p:cNvSpPr/>
            <p:nvPr/>
          </p:nvSpPr>
          <p:spPr>
            <a:xfrm>
              <a:off x="6661378" y="4346460"/>
              <a:ext cx="226059" cy="61072"/>
            </a:xfrm>
            <a:custGeom>
              <a:avLst/>
              <a:gdLst/>
              <a:ahLst/>
              <a:cxnLst/>
              <a:rect l="l" t="t" r="r" b="b"/>
              <a:pathLst>
                <a:path w="5630" h="1521" extrusionOk="0">
                  <a:moveTo>
                    <a:pt x="2815" y="1"/>
                  </a:moveTo>
                  <a:cubicBezTo>
                    <a:pt x="1796" y="1"/>
                    <a:pt x="777" y="389"/>
                    <a:pt x="1" y="1164"/>
                  </a:cubicBezTo>
                  <a:lnTo>
                    <a:pt x="357" y="1521"/>
                  </a:lnTo>
                  <a:cubicBezTo>
                    <a:pt x="1034" y="840"/>
                    <a:pt x="1925" y="499"/>
                    <a:pt x="2815" y="499"/>
                  </a:cubicBezTo>
                  <a:cubicBezTo>
                    <a:pt x="3706" y="499"/>
                    <a:pt x="4597" y="840"/>
                    <a:pt x="5273" y="1521"/>
                  </a:cubicBezTo>
                  <a:lnTo>
                    <a:pt x="5630" y="1164"/>
                  </a:lnTo>
                  <a:cubicBezTo>
                    <a:pt x="4854" y="389"/>
                    <a:pt x="3835" y="1"/>
                    <a:pt x="28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43;p45">
              <a:extLst>
                <a:ext uri="{FF2B5EF4-FFF2-40B4-BE49-F238E27FC236}">
                  <a16:creationId xmlns:a16="http://schemas.microsoft.com/office/drawing/2014/main" id="{B2AFE107-8CB1-7814-D1D2-235F81D21FD8}"/>
                </a:ext>
              </a:extLst>
            </p:cNvPr>
            <p:cNvSpPr/>
            <p:nvPr/>
          </p:nvSpPr>
          <p:spPr>
            <a:xfrm>
              <a:off x="7494547" y="3043785"/>
              <a:ext cx="612285" cy="537281"/>
            </a:xfrm>
            <a:custGeom>
              <a:avLst/>
              <a:gdLst/>
              <a:ahLst/>
              <a:cxnLst/>
              <a:rect l="l" t="t" r="r" b="b"/>
              <a:pathLst>
                <a:path w="15249" h="13381" extrusionOk="0">
                  <a:moveTo>
                    <a:pt x="7628" y="0"/>
                  </a:moveTo>
                  <a:cubicBezTo>
                    <a:pt x="5106" y="0"/>
                    <a:pt x="2690" y="1435"/>
                    <a:pt x="1561" y="3872"/>
                  </a:cubicBezTo>
                  <a:cubicBezTo>
                    <a:pt x="1" y="7221"/>
                    <a:pt x="1458" y="11195"/>
                    <a:pt x="4806" y="12755"/>
                  </a:cubicBezTo>
                  <a:cubicBezTo>
                    <a:pt x="5718" y="13179"/>
                    <a:pt x="6678" y="13380"/>
                    <a:pt x="7622" y="13380"/>
                  </a:cubicBezTo>
                  <a:cubicBezTo>
                    <a:pt x="10144" y="13380"/>
                    <a:pt x="12560" y="11945"/>
                    <a:pt x="13689" y="9509"/>
                  </a:cubicBezTo>
                  <a:cubicBezTo>
                    <a:pt x="15249" y="6160"/>
                    <a:pt x="13792" y="2178"/>
                    <a:pt x="10443" y="626"/>
                  </a:cubicBezTo>
                  <a:cubicBezTo>
                    <a:pt x="9531" y="201"/>
                    <a:pt x="8572" y="0"/>
                    <a:pt x="76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44;p45">
              <a:extLst>
                <a:ext uri="{FF2B5EF4-FFF2-40B4-BE49-F238E27FC236}">
                  <a16:creationId xmlns:a16="http://schemas.microsoft.com/office/drawing/2014/main" id="{5E7069CE-7B7C-EA12-D673-4C2CA3657C25}"/>
                </a:ext>
              </a:extLst>
            </p:cNvPr>
            <p:cNvSpPr/>
            <p:nvPr/>
          </p:nvSpPr>
          <p:spPr>
            <a:xfrm>
              <a:off x="7657005" y="3140754"/>
              <a:ext cx="335394" cy="355149"/>
            </a:xfrm>
            <a:custGeom>
              <a:avLst/>
              <a:gdLst/>
              <a:ahLst/>
              <a:cxnLst/>
              <a:rect l="l" t="t" r="r" b="b"/>
              <a:pathLst>
                <a:path w="8353" h="8845" extrusionOk="0">
                  <a:moveTo>
                    <a:pt x="5081" y="0"/>
                  </a:moveTo>
                  <a:cubicBezTo>
                    <a:pt x="4771" y="0"/>
                    <a:pt x="4621" y="367"/>
                    <a:pt x="4378" y="562"/>
                  </a:cubicBezTo>
                  <a:cubicBezTo>
                    <a:pt x="3981" y="906"/>
                    <a:pt x="3577" y="1046"/>
                    <a:pt x="3136" y="1046"/>
                  </a:cubicBezTo>
                  <a:cubicBezTo>
                    <a:pt x="2865" y="1046"/>
                    <a:pt x="2579" y="993"/>
                    <a:pt x="2273" y="903"/>
                  </a:cubicBezTo>
                  <a:lnTo>
                    <a:pt x="0" y="5550"/>
                  </a:lnTo>
                  <a:lnTo>
                    <a:pt x="562" y="5827"/>
                  </a:lnTo>
                  <a:cubicBezTo>
                    <a:pt x="705" y="5898"/>
                    <a:pt x="871" y="6627"/>
                    <a:pt x="1576" y="6967"/>
                  </a:cubicBezTo>
                  <a:lnTo>
                    <a:pt x="5257" y="8772"/>
                  </a:lnTo>
                  <a:cubicBezTo>
                    <a:pt x="5360" y="8821"/>
                    <a:pt x="5468" y="8844"/>
                    <a:pt x="5575" y="8844"/>
                  </a:cubicBezTo>
                  <a:cubicBezTo>
                    <a:pt x="5847" y="8844"/>
                    <a:pt x="6108" y="8693"/>
                    <a:pt x="6239" y="8432"/>
                  </a:cubicBezTo>
                  <a:cubicBezTo>
                    <a:pt x="6413" y="8068"/>
                    <a:pt x="6263" y="7632"/>
                    <a:pt x="5899" y="7450"/>
                  </a:cubicBezTo>
                  <a:lnTo>
                    <a:pt x="5899" y="7450"/>
                  </a:lnTo>
                  <a:cubicBezTo>
                    <a:pt x="6004" y="7503"/>
                    <a:pt x="6115" y="7527"/>
                    <a:pt x="6225" y="7527"/>
                  </a:cubicBezTo>
                  <a:cubicBezTo>
                    <a:pt x="6496" y="7527"/>
                    <a:pt x="6756" y="7377"/>
                    <a:pt x="6880" y="7117"/>
                  </a:cubicBezTo>
                  <a:cubicBezTo>
                    <a:pt x="7062" y="6753"/>
                    <a:pt x="6912" y="6310"/>
                    <a:pt x="6548" y="6136"/>
                  </a:cubicBezTo>
                  <a:lnTo>
                    <a:pt x="6548" y="6136"/>
                  </a:lnTo>
                  <a:cubicBezTo>
                    <a:pt x="6651" y="6185"/>
                    <a:pt x="6759" y="6208"/>
                    <a:pt x="6866" y="6208"/>
                  </a:cubicBezTo>
                  <a:cubicBezTo>
                    <a:pt x="7138" y="6208"/>
                    <a:pt x="7399" y="6059"/>
                    <a:pt x="7529" y="5803"/>
                  </a:cubicBezTo>
                  <a:cubicBezTo>
                    <a:pt x="7703" y="5439"/>
                    <a:pt x="7553" y="4996"/>
                    <a:pt x="7189" y="4822"/>
                  </a:cubicBezTo>
                  <a:lnTo>
                    <a:pt x="7189" y="4822"/>
                  </a:lnTo>
                  <a:cubicBezTo>
                    <a:pt x="7292" y="4871"/>
                    <a:pt x="7400" y="4894"/>
                    <a:pt x="7508" y="4894"/>
                  </a:cubicBezTo>
                  <a:cubicBezTo>
                    <a:pt x="7782" y="4894"/>
                    <a:pt x="8045" y="4743"/>
                    <a:pt x="8171" y="4481"/>
                  </a:cubicBezTo>
                  <a:cubicBezTo>
                    <a:pt x="8353" y="4117"/>
                    <a:pt x="8202" y="3682"/>
                    <a:pt x="7838" y="3500"/>
                  </a:cubicBezTo>
                  <a:lnTo>
                    <a:pt x="4830" y="2027"/>
                  </a:lnTo>
                  <a:cubicBezTo>
                    <a:pt x="5083" y="1782"/>
                    <a:pt x="5289" y="1481"/>
                    <a:pt x="5431" y="1164"/>
                  </a:cubicBezTo>
                  <a:cubicBezTo>
                    <a:pt x="5550" y="911"/>
                    <a:pt x="5629" y="634"/>
                    <a:pt x="5534" y="364"/>
                  </a:cubicBezTo>
                  <a:cubicBezTo>
                    <a:pt x="5463" y="167"/>
                    <a:pt x="5297" y="8"/>
                    <a:pt x="5091" y="0"/>
                  </a:cubicBezTo>
                  <a:cubicBezTo>
                    <a:pt x="5088" y="0"/>
                    <a:pt x="5084" y="0"/>
                    <a:pt x="50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45;p45">
              <a:extLst>
                <a:ext uri="{FF2B5EF4-FFF2-40B4-BE49-F238E27FC236}">
                  <a16:creationId xmlns:a16="http://schemas.microsoft.com/office/drawing/2014/main" id="{3CBF562F-693D-7FA5-64DD-BE2A55D5F073}"/>
                </a:ext>
              </a:extLst>
            </p:cNvPr>
            <p:cNvSpPr/>
            <p:nvPr/>
          </p:nvSpPr>
          <p:spPr>
            <a:xfrm>
              <a:off x="7590874" y="3125055"/>
              <a:ext cx="180606" cy="265368"/>
            </a:xfrm>
            <a:custGeom>
              <a:avLst/>
              <a:gdLst/>
              <a:ahLst/>
              <a:cxnLst/>
              <a:rect l="l" t="t" r="r" b="b"/>
              <a:pathLst>
                <a:path w="4498" h="6609" extrusionOk="0">
                  <a:moveTo>
                    <a:pt x="3014" y="1"/>
                  </a:moveTo>
                  <a:cubicBezTo>
                    <a:pt x="2903" y="1"/>
                    <a:pt x="2796" y="64"/>
                    <a:pt x="2740" y="170"/>
                  </a:cubicBezTo>
                  <a:lnTo>
                    <a:pt x="80" y="5616"/>
                  </a:lnTo>
                  <a:cubicBezTo>
                    <a:pt x="1" y="5767"/>
                    <a:pt x="64" y="5949"/>
                    <a:pt x="214" y="6020"/>
                  </a:cubicBezTo>
                  <a:lnTo>
                    <a:pt x="1354" y="6574"/>
                  </a:lnTo>
                  <a:cubicBezTo>
                    <a:pt x="1399" y="6598"/>
                    <a:pt x="1446" y="6609"/>
                    <a:pt x="1492" y="6609"/>
                  </a:cubicBezTo>
                  <a:cubicBezTo>
                    <a:pt x="1603" y="6609"/>
                    <a:pt x="1708" y="6546"/>
                    <a:pt x="1758" y="6440"/>
                  </a:cubicBezTo>
                  <a:lnTo>
                    <a:pt x="4426" y="993"/>
                  </a:lnTo>
                  <a:cubicBezTo>
                    <a:pt x="4497" y="843"/>
                    <a:pt x="4434" y="660"/>
                    <a:pt x="4284" y="589"/>
                  </a:cubicBezTo>
                  <a:lnTo>
                    <a:pt x="3152" y="35"/>
                  </a:lnTo>
                  <a:cubicBezTo>
                    <a:pt x="3107" y="12"/>
                    <a:pt x="3060" y="1"/>
                    <a:pt x="3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46;p45">
              <a:extLst>
                <a:ext uri="{FF2B5EF4-FFF2-40B4-BE49-F238E27FC236}">
                  <a16:creationId xmlns:a16="http://schemas.microsoft.com/office/drawing/2014/main" id="{EC531778-2CC2-5111-9994-75E9D349F41D}"/>
                </a:ext>
              </a:extLst>
            </p:cNvPr>
            <p:cNvSpPr/>
            <p:nvPr/>
          </p:nvSpPr>
          <p:spPr>
            <a:xfrm>
              <a:off x="7336586" y="2904576"/>
              <a:ext cx="152620" cy="152620"/>
            </a:xfrm>
            <a:custGeom>
              <a:avLst/>
              <a:gdLst/>
              <a:ahLst/>
              <a:cxnLst/>
              <a:rect l="l" t="t" r="r" b="b"/>
              <a:pathLst>
                <a:path w="3801" h="3801" fill="none" extrusionOk="0">
                  <a:moveTo>
                    <a:pt x="3800" y="1900"/>
                  </a:moveTo>
                  <a:cubicBezTo>
                    <a:pt x="3800" y="2945"/>
                    <a:pt x="2945" y="3800"/>
                    <a:pt x="1900" y="3800"/>
                  </a:cubicBezTo>
                  <a:cubicBezTo>
                    <a:pt x="847" y="3800"/>
                    <a:pt x="0" y="2945"/>
                    <a:pt x="0" y="1900"/>
                  </a:cubicBezTo>
                  <a:cubicBezTo>
                    <a:pt x="0" y="855"/>
                    <a:pt x="847" y="0"/>
                    <a:pt x="1900" y="0"/>
                  </a:cubicBezTo>
                  <a:cubicBezTo>
                    <a:pt x="2945" y="0"/>
                    <a:pt x="3800" y="855"/>
                    <a:pt x="3800" y="1900"/>
                  </a:cubicBezTo>
                  <a:close/>
                </a:path>
              </a:pathLst>
            </a:custGeom>
            <a:noFill/>
            <a:ln w="6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47;p45">
              <a:extLst>
                <a:ext uri="{FF2B5EF4-FFF2-40B4-BE49-F238E27FC236}">
                  <a16:creationId xmlns:a16="http://schemas.microsoft.com/office/drawing/2014/main" id="{4539E8F8-0FA5-3243-5E98-6791D184DED7}"/>
                </a:ext>
              </a:extLst>
            </p:cNvPr>
            <p:cNvSpPr/>
            <p:nvPr/>
          </p:nvSpPr>
          <p:spPr>
            <a:xfrm>
              <a:off x="6205886" y="4483140"/>
              <a:ext cx="120819" cy="120859"/>
            </a:xfrm>
            <a:custGeom>
              <a:avLst/>
              <a:gdLst/>
              <a:ahLst/>
              <a:cxnLst/>
              <a:rect l="l" t="t" r="r" b="b"/>
              <a:pathLst>
                <a:path w="3009" h="3010" fill="none" extrusionOk="0">
                  <a:moveTo>
                    <a:pt x="3008" y="1505"/>
                  </a:moveTo>
                  <a:cubicBezTo>
                    <a:pt x="3008" y="2336"/>
                    <a:pt x="2336" y="3009"/>
                    <a:pt x="1504" y="3009"/>
                  </a:cubicBezTo>
                  <a:cubicBezTo>
                    <a:pt x="673" y="3009"/>
                    <a:pt x="0" y="2336"/>
                    <a:pt x="0" y="1505"/>
                  </a:cubicBezTo>
                  <a:cubicBezTo>
                    <a:pt x="0" y="674"/>
                    <a:pt x="673" y="1"/>
                    <a:pt x="1504" y="1"/>
                  </a:cubicBezTo>
                  <a:cubicBezTo>
                    <a:pt x="2336" y="1"/>
                    <a:pt x="3008" y="674"/>
                    <a:pt x="3008" y="1505"/>
                  </a:cubicBezTo>
                  <a:close/>
                </a:path>
              </a:pathLst>
            </a:custGeom>
            <a:noFill/>
            <a:ln w="6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48;p45">
              <a:extLst>
                <a:ext uri="{FF2B5EF4-FFF2-40B4-BE49-F238E27FC236}">
                  <a16:creationId xmlns:a16="http://schemas.microsoft.com/office/drawing/2014/main" id="{49F1992E-3A53-F295-613F-5BA5FD61E26A}"/>
                </a:ext>
              </a:extLst>
            </p:cNvPr>
            <p:cNvSpPr/>
            <p:nvPr/>
          </p:nvSpPr>
          <p:spPr>
            <a:xfrm>
              <a:off x="6892819" y="3800263"/>
              <a:ext cx="397068" cy="371170"/>
            </a:xfrm>
            <a:custGeom>
              <a:avLst/>
              <a:gdLst/>
              <a:ahLst/>
              <a:cxnLst/>
              <a:rect l="l" t="t" r="r" b="b"/>
              <a:pathLst>
                <a:path w="9889" h="9244" extrusionOk="0">
                  <a:moveTo>
                    <a:pt x="4933" y="0"/>
                  </a:moveTo>
                  <a:cubicBezTo>
                    <a:pt x="2673" y="0"/>
                    <a:pt x="703" y="1656"/>
                    <a:pt x="364" y="3953"/>
                  </a:cubicBezTo>
                  <a:cubicBezTo>
                    <a:pt x="0" y="6479"/>
                    <a:pt x="1750" y="8830"/>
                    <a:pt x="4275" y="9194"/>
                  </a:cubicBezTo>
                  <a:cubicBezTo>
                    <a:pt x="4503" y="9228"/>
                    <a:pt x="4730" y="9244"/>
                    <a:pt x="4954" y="9244"/>
                  </a:cubicBezTo>
                  <a:cubicBezTo>
                    <a:pt x="7208" y="9244"/>
                    <a:pt x="9178" y="7588"/>
                    <a:pt x="9516" y="5291"/>
                  </a:cubicBezTo>
                  <a:cubicBezTo>
                    <a:pt x="9888" y="2766"/>
                    <a:pt x="8139" y="414"/>
                    <a:pt x="5613" y="50"/>
                  </a:cubicBezTo>
                  <a:cubicBezTo>
                    <a:pt x="5385" y="17"/>
                    <a:pt x="5158" y="0"/>
                    <a:pt x="49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49;p45">
              <a:extLst>
                <a:ext uri="{FF2B5EF4-FFF2-40B4-BE49-F238E27FC236}">
                  <a16:creationId xmlns:a16="http://schemas.microsoft.com/office/drawing/2014/main" id="{25860C91-1328-C0AF-329C-D1E9BFBC5CBB}"/>
                </a:ext>
              </a:extLst>
            </p:cNvPr>
            <p:cNvSpPr/>
            <p:nvPr/>
          </p:nvSpPr>
          <p:spPr>
            <a:xfrm>
              <a:off x="6953851" y="3877557"/>
              <a:ext cx="259747" cy="224774"/>
            </a:xfrm>
            <a:custGeom>
              <a:avLst/>
              <a:gdLst/>
              <a:ahLst/>
              <a:cxnLst/>
              <a:rect l="l" t="t" r="r" b="b"/>
              <a:pathLst>
                <a:path w="6469" h="5598" extrusionOk="0">
                  <a:moveTo>
                    <a:pt x="4773" y="1"/>
                  </a:moveTo>
                  <a:cubicBezTo>
                    <a:pt x="4760" y="1"/>
                    <a:pt x="4748" y="1"/>
                    <a:pt x="4735" y="1"/>
                  </a:cubicBezTo>
                  <a:cubicBezTo>
                    <a:pt x="3682" y="41"/>
                    <a:pt x="3088" y="1482"/>
                    <a:pt x="3088" y="1482"/>
                  </a:cubicBezTo>
                  <a:cubicBezTo>
                    <a:pt x="3088" y="1482"/>
                    <a:pt x="2281" y="757"/>
                    <a:pt x="1458" y="757"/>
                  </a:cubicBezTo>
                  <a:cubicBezTo>
                    <a:pt x="1292" y="757"/>
                    <a:pt x="1126" y="786"/>
                    <a:pt x="966" y="856"/>
                  </a:cubicBezTo>
                  <a:cubicBezTo>
                    <a:pt x="380" y="1118"/>
                    <a:pt x="0" y="1727"/>
                    <a:pt x="24" y="2361"/>
                  </a:cubicBezTo>
                  <a:cubicBezTo>
                    <a:pt x="40" y="2939"/>
                    <a:pt x="349" y="3414"/>
                    <a:pt x="776" y="3683"/>
                  </a:cubicBezTo>
                  <a:lnTo>
                    <a:pt x="3713" y="5535"/>
                  </a:lnTo>
                  <a:cubicBezTo>
                    <a:pt x="3781" y="5577"/>
                    <a:pt x="3856" y="5598"/>
                    <a:pt x="3931" y="5598"/>
                  </a:cubicBezTo>
                  <a:cubicBezTo>
                    <a:pt x="4066" y="5598"/>
                    <a:pt x="4199" y="5531"/>
                    <a:pt x="4275" y="5409"/>
                  </a:cubicBezTo>
                  <a:lnTo>
                    <a:pt x="6128" y="2471"/>
                  </a:lnTo>
                  <a:cubicBezTo>
                    <a:pt x="6397" y="2044"/>
                    <a:pt x="6468" y="1482"/>
                    <a:pt x="6231" y="951"/>
                  </a:cubicBezTo>
                  <a:cubicBezTo>
                    <a:pt x="5983" y="377"/>
                    <a:pt x="5400" y="1"/>
                    <a:pt x="47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50;p45">
              <a:extLst>
                <a:ext uri="{FF2B5EF4-FFF2-40B4-BE49-F238E27FC236}">
                  <a16:creationId xmlns:a16="http://schemas.microsoft.com/office/drawing/2014/main" id="{1E7F1146-AF54-CC14-B93C-142C02A2871B}"/>
                </a:ext>
              </a:extLst>
            </p:cNvPr>
            <p:cNvSpPr/>
            <p:nvPr/>
          </p:nvSpPr>
          <p:spPr>
            <a:xfrm>
              <a:off x="5989513" y="2802050"/>
              <a:ext cx="251819" cy="298523"/>
            </a:xfrm>
            <a:custGeom>
              <a:avLst/>
              <a:gdLst/>
              <a:ahLst/>
              <a:cxnLst/>
              <a:rect l="l" t="t" r="r" b="b"/>
              <a:pathLst>
                <a:path w="6454" h="7651" extrusionOk="0">
                  <a:moveTo>
                    <a:pt x="3202" y="1939"/>
                  </a:moveTo>
                  <a:cubicBezTo>
                    <a:pt x="3573" y="1939"/>
                    <a:pt x="3915" y="2170"/>
                    <a:pt x="4046" y="2538"/>
                  </a:cubicBezTo>
                  <a:cubicBezTo>
                    <a:pt x="4213" y="3013"/>
                    <a:pt x="3959" y="3519"/>
                    <a:pt x="3492" y="3686"/>
                  </a:cubicBezTo>
                  <a:cubicBezTo>
                    <a:pt x="3395" y="3720"/>
                    <a:pt x="3295" y="3737"/>
                    <a:pt x="3197" y="3737"/>
                  </a:cubicBezTo>
                  <a:cubicBezTo>
                    <a:pt x="2826" y="3737"/>
                    <a:pt x="2477" y="3501"/>
                    <a:pt x="2352" y="3131"/>
                  </a:cubicBezTo>
                  <a:cubicBezTo>
                    <a:pt x="2186" y="2664"/>
                    <a:pt x="2431" y="2150"/>
                    <a:pt x="2898" y="1991"/>
                  </a:cubicBezTo>
                  <a:cubicBezTo>
                    <a:pt x="2999" y="1956"/>
                    <a:pt x="3102" y="1939"/>
                    <a:pt x="3202" y="1939"/>
                  </a:cubicBezTo>
                  <a:close/>
                  <a:moveTo>
                    <a:pt x="3202" y="1"/>
                  </a:moveTo>
                  <a:cubicBezTo>
                    <a:pt x="2891" y="1"/>
                    <a:pt x="2575" y="53"/>
                    <a:pt x="2265" y="163"/>
                  </a:cubicBezTo>
                  <a:cubicBezTo>
                    <a:pt x="785" y="677"/>
                    <a:pt x="1" y="2292"/>
                    <a:pt x="523" y="3773"/>
                  </a:cubicBezTo>
                  <a:cubicBezTo>
                    <a:pt x="555" y="3876"/>
                    <a:pt x="595" y="3971"/>
                    <a:pt x="642" y="4066"/>
                  </a:cubicBezTo>
                  <a:cubicBezTo>
                    <a:pt x="1383" y="5722"/>
                    <a:pt x="3508" y="7650"/>
                    <a:pt x="4616" y="7650"/>
                  </a:cubicBezTo>
                  <a:cubicBezTo>
                    <a:pt x="4705" y="7650"/>
                    <a:pt x="4787" y="7638"/>
                    <a:pt x="4862" y="7612"/>
                  </a:cubicBezTo>
                  <a:cubicBezTo>
                    <a:pt x="5867" y="7256"/>
                    <a:pt x="6453" y="4105"/>
                    <a:pt x="5962" y="2205"/>
                  </a:cubicBezTo>
                  <a:cubicBezTo>
                    <a:pt x="5938" y="2102"/>
                    <a:pt x="5915" y="2007"/>
                    <a:pt x="5875" y="1904"/>
                  </a:cubicBezTo>
                  <a:cubicBezTo>
                    <a:pt x="5469" y="735"/>
                    <a:pt x="4371" y="1"/>
                    <a:pt x="3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TextBox 43">
            <a:extLst>
              <a:ext uri="{FF2B5EF4-FFF2-40B4-BE49-F238E27FC236}">
                <a16:creationId xmlns:a16="http://schemas.microsoft.com/office/drawing/2014/main" id="{D37DFE90-A134-3608-F3F9-0E4BE05819B8}"/>
              </a:ext>
            </a:extLst>
          </p:cNvPr>
          <p:cNvSpPr txBox="1"/>
          <p:nvPr/>
        </p:nvSpPr>
        <p:spPr>
          <a:xfrm>
            <a:off x="723423" y="3138877"/>
            <a:ext cx="4820306" cy="523220"/>
          </a:xfrm>
          <a:prstGeom prst="rect">
            <a:avLst/>
          </a:prstGeom>
          <a:noFill/>
        </p:spPr>
        <p:txBody>
          <a:bodyPr wrap="square">
            <a:spAutoFit/>
          </a:bodyPr>
          <a:lstStyle/>
          <a:p>
            <a:r>
              <a:rPr lang="en-ZA" dirty="0">
                <a:latin typeface="Baloo 2" panose="020B0604020202020204" charset="0"/>
                <a:cs typeface="Baloo 2" panose="020B0604020202020204" charset="0"/>
              </a:rPr>
              <a:t>Zulu, N. and Nkuna, T. (2022) Data modelling of subsistence retail consumer purchase </a:t>
            </a:r>
            <a:r>
              <a:rPr lang="en-ZA" dirty="0" err="1">
                <a:latin typeface="Baloo 2" panose="020B0604020202020204" charset="0"/>
                <a:cs typeface="Baloo 2" panose="020B0604020202020204" charset="0"/>
              </a:rPr>
              <a:t>behavior</a:t>
            </a:r>
            <a:r>
              <a:rPr lang="en-ZA" dirty="0">
                <a:latin typeface="Baloo 2" panose="020B0604020202020204" charset="0"/>
                <a:cs typeface="Baloo 2" panose="020B0604020202020204" charset="0"/>
              </a:rPr>
              <a:t> in South Africa.</a:t>
            </a:r>
            <a:endParaRPr lang="en-ZA" b="0" i="0" dirty="0">
              <a:effectLst/>
              <a:latin typeface="Baloo 2" panose="020B0604020202020204" charset="0"/>
              <a:cs typeface="Baloo 2" panose="020B0604020202020204" charset="0"/>
            </a:endParaRPr>
          </a:p>
        </p:txBody>
      </p:sp>
      <p:sp>
        <p:nvSpPr>
          <p:cNvPr id="46" name="TextBox 45">
            <a:extLst>
              <a:ext uri="{FF2B5EF4-FFF2-40B4-BE49-F238E27FC236}">
                <a16:creationId xmlns:a16="http://schemas.microsoft.com/office/drawing/2014/main" id="{AB12CDCC-2D89-8AF3-DEB5-4C193FEF00BC}"/>
              </a:ext>
            </a:extLst>
          </p:cNvPr>
          <p:cNvSpPr txBox="1"/>
          <p:nvPr/>
        </p:nvSpPr>
        <p:spPr>
          <a:xfrm>
            <a:off x="723423" y="2758309"/>
            <a:ext cx="4820306" cy="307777"/>
          </a:xfrm>
          <a:prstGeom prst="rect">
            <a:avLst/>
          </a:prstGeom>
          <a:noFill/>
        </p:spPr>
        <p:txBody>
          <a:bodyPr wrap="square">
            <a:spAutoFit/>
          </a:bodyPr>
          <a:lstStyle/>
          <a:p>
            <a:pPr algn="l">
              <a:buNone/>
            </a:pPr>
            <a:r>
              <a:rPr lang="en-ZA" b="1" i="0" dirty="0">
                <a:effectLst/>
                <a:latin typeface="Poppins" panose="00000500000000000000" pitchFamily="2" charset="0"/>
                <a:cs typeface="Poppins" panose="00000500000000000000" pitchFamily="2" charset="0"/>
              </a:rPr>
              <a:t>References</a:t>
            </a:r>
          </a:p>
        </p:txBody>
      </p:sp>
    </p:spTree>
  </p:cSld>
  <p:clrMapOvr>
    <a:masterClrMapping/>
  </p:clrMapOvr>
</p:sld>
</file>

<file path=ppt/theme/theme1.xml><?xml version="1.0" encoding="utf-8"?>
<a:theme xmlns:a="http://schemas.openxmlformats.org/drawingml/2006/main" name="Social Networking Services (SNS) Pitch Deck">
  <a:themeElements>
    <a:clrScheme name="Simple Light">
      <a:dk1>
        <a:srgbClr val="191919"/>
      </a:dk1>
      <a:lt1>
        <a:srgbClr val="A4C2F4"/>
      </a:lt1>
      <a:dk2>
        <a:srgbClr val="59595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2001</Words>
  <Application>Microsoft Office PowerPoint</Application>
  <PresentationFormat>On-screen Show (16:9)</PresentationFormat>
  <Paragraphs>104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Raleway</vt:lpstr>
      <vt:lpstr>Baloo 2</vt:lpstr>
      <vt:lpstr>Arial</vt:lpstr>
      <vt:lpstr>Nunito Light</vt:lpstr>
      <vt:lpstr>Poppins</vt:lpstr>
      <vt:lpstr>Social Networking Services (SNS) Pitch Deck</vt:lpstr>
      <vt:lpstr>Discourse and Sentiment Mapping in Social Media Analytics</vt:lpstr>
      <vt:lpstr>Project Objective and Background</vt:lpstr>
      <vt:lpstr>Analytical Pipeline (Methodology)</vt:lpstr>
      <vt:lpstr>Exploratory Data Analysis</vt:lpstr>
      <vt:lpstr>Findings: Sentiment Analysis</vt:lpstr>
      <vt:lpstr>Findings: Topic Modeling</vt:lpstr>
      <vt:lpstr>Findings: Knowledge Mapping</vt:lpstr>
      <vt:lpstr>Recommendations</vt:lpstr>
      <vt:lpstr>Limitations and Future Research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Ayanda Mhlauli</dc:creator>
  <cp:lastModifiedBy>Ayanda Mhlauli</cp:lastModifiedBy>
  <cp:revision>4</cp:revision>
  <dcterms:modified xsi:type="dcterms:W3CDTF">2025-11-15T08:50:26Z</dcterms:modified>
</cp:coreProperties>
</file>