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6"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61"/>
    <p:restoredTop sz="94697"/>
  </p:normalViewPr>
  <p:slideViewPr>
    <p:cSldViewPr snapToGrid="0">
      <p:cViewPr>
        <p:scale>
          <a:sx n="110" d="100"/>
          <a:sy n="110" d="100"/>
        </p:scale>
        <p:origin x="1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8CF41-E8B9-4114-A7F5-FF8E8D6D9F88}" type="datetimeFigureOut">
              <a:rPr lang="en-ZA" smtClean="0"/>
              <a:t>2025/11/14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0FA9C-4CD9-4B6B-8B45-760C55F438B8}" type="slidenum">
              <a:rPr lang="en-ZA" smtClean="0"/>
              <a:t>‹#›</a:t>
            </a:fld>
            <a:endParaRPr lang="en-ZA"/>
          </a:p>
        </p:txBody>
      </p:sp>
    </p:spTree>
    <p:extLst>
      <p:ext uri="{BB962C8B-B14F-4D97-AF65-F5344CB8AC3E}">
        <p14:creationId xmlns:p14="http://schemas.microsoft.com/office/powerpoint/2010/main" val="60203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Good day, everyone. Our research investigates whether online search trends, specifically Google Search Volume Index, can predict the movements of FirstRand’s stock price on the JSE. We focus on how retail investor behaviour has shifted toward online information, using Google Trends as a real-time proxy for public interest. Literature shows that surges in search activity often precede trading volume and price moves, which forms the foundation for our study</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2</a:t>
            </a:fld>
            <a:endParaRPr lang="en-ZA"/>
          </a:p>
        </p:txBody>
      </p:sp>
    </p:spTree>
    <p:extLst>
      <p:ext uri="{BB962C8B-B14F-4D97-AF65-F5344CB8AC3E}">
        <p14:creationId xmlns:p14="http://schemas.microsoft.com/office/powerpoint/2010/main" val="2728754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Numerous academic studies support this approach. For example, Takeda and Wakao found stronger effects in retail-heavy Japanese stocks, while Bui and Nguyen showed abnormal searches precede surges in trading volume in Vietnam. Da, Engelberg, and Gao linked Google search volumes to US equity returns. A broad review of 56 studies finds a positive relationship between search volume and market outcomes, suggesting these online patterns can offer meaningful signals to investors.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3</a:t>
            </a:fld>
            <a:endParaRPr lang="en-ZA"/>
          </a:p>
        </p:txBody>
      </p:sp>
    </p:spTree>
    <p:extLst>
      <p:ext uri="{BB962C8B-B14F-4D97-AF65-F5344CB8AC3E}">
        <p14:creationId xmlns:p14="http://schemas.microsoft.com/office/powerpoint/2010/main" val="4277596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We chose FirstRand for its market prominence, representing one of South Africa’s largest institutions with a big retail client base, mostly through FNB. Its size and visibility make it an ideal proxy for information-driven trading behaviour on the JSE, aligning closely with attention-driven trading literature. With the largest publicly owned stake, FirstRand provides robust data for testing predictive relationships.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4</a:t>
            </a:fld>
            <a:endParaRPr lang="en-ZA"/>
          </a:p>
        </p:txBody>
      </p:sp>
    </p:spTree>
    <p:extLst>
      <p:ext uri="{BB962C8B-B14F-4D97-AF65-F5344CB8AC3E}">
        <p14:creationId xmlns:p14="http://schemas.microsoft.com/office/powerpoint/2010/main" val="1263075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Moving to our approach, we started by ensuring the data’s validity through stationarity testing using Augmented Dickey-Fuller tests. Stationarity was essential to prevent spurious results, so we transformed non-stationary series using differencing and calculated daily log returns for accuracy. These data preparation steps are common in behavioural finance, following Gujarati and Da et al.</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5</a:t>
            </a:fld>
            <a:endParaRPr lang="en-ZA"/>
          </a:p>
        </p:txBody>
      </p:sp>
    </p:spTree>
    <p:extLst>
      <p:ext uri="{BB962C8B-B14F-4D97-AF65-F5344CB8AC3E}">
        <p14:creationId xmlns:p14="http://schemas.microsoft.com/office/powerpoint/2010/main" val="955436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Our results showed initial non-stationarity in both keyword searches and stock prices, but stationarity was achieved after differencing. Weekly Google searches for FirstRand and FNB consistently spiked around major news events, such as earnings releases or interest rate announcements, indicating that investor attention rises sharply during periods of heightened market activity or volatility.</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6</a:t>
            </a:fld>
            <a:endParaRPr lang="en-ZA"/>
          </a:p>
        </p:txBody>
      </p:sp>
    </p:spTree>
    <p:extLst>
      <p:ext uri="{BB962C8B-B14F-4D97-AF65-F5344CB8AC3E}">
        <p14:creationId xmlns:p14="http://schemas.microsoft.com/office/powerpoint/2010/main" val="795922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Our analysis found a positive but statistically weak relationship between search activity and weekly returns. Essentially, investors tend to search more when trading activity increases, rather than before. The Granger causality test did not find strong evidence that GSVI causes price changes or vice versa, suggesting investor attention typically trails behind market moves in this context.</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7</a:t>
            </a:fld>
            <a:endParaRPr lang="en-ZA"/>
          </a:p>
        </p:txBody>
      </p:sp>
    </p:spTree>
    <p:extLst>
      <p:ext uri="{BB962C8B-B14F-4D97-AF65-F5344CB8AC3E}">
        <p14:creationId xmlns:p14="http://schemas.microsoft.com/office/powerpoint/2010/main" val="2285584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Our analysis found a positive but statistically weak relationship between search activity and weekly returns. Essentially, investors tend to search more when trading activity increases, rather than before. The Granger causality test did not find strong evidence that GSVI causes price changes or vice versa, suggesting investor attention typically trails behind market moves in this context.</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8</a:t>
            </a:fld>
            <a:endParaRPr lang="en-ZA"/>
          </a:p>
        </p:txBody>
      </p:sp>
    </p:spTree>
    <p:extLst>
      <p:ext uri="{BB962C8B-B14F-4D97-AF65-F5344CB8AC3E}">
        <p14:creationId xmlns:p14="http://schemas.microsoft.com/office/powerpoint/2010/main" val="1771582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Our analysis found a positive but statistically weak relationship between search activity and weekly returns. Essentially, investors tend to search more when trading activity increases, rather than before. The Granger causality test did not find strong evidence that GSVI causes price changes or vice versa, suggesting investor attention typically trails behind market moves in this context.</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9</a:t>
            </a:fld>
            <a:endParaRPr lang="en-ZA"/>
          </a:p>
        </p:txBody>
      </p:sp>
    </p:spTree>
    <p:extLst>
      <p:ext uri="{BB962C8B-B14F-4D97-AF65-F5344CB8AC3E}">
        <p14:creationId xmlns:p14="http://schemas.microsoft.com/office/powerpoint/2010/main" val="4289730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To strengthen our analysis, we applied machine learning models: KNN, Random Forest, Gradient Boosting, and </a:t>
            </a:r>
            <a:r>
              <a:rPr lang="en-ZA" sz="1200" b="0" i="0" kern="1200" dirty="0" err="1">
                <a:solidFill>
                  <a:schemeClr val="tx1"/>
                </a:solidFill>
                <a:effectLst/>
                <a:latin typeface="+mn-lt"/>
                <a:ea typeface="+mn-ea"/>
                <a:cs typeface="+mn-cs"/>
              </a:rPr>
              <a:t>XGBoost</a:t>
            </a:r>
            <a:r>
              <a:rPr lang="en-ZA" sz="1200" b="0" i="0" kern="1200" dirty="0">
                <a:solidFill>
                  <a:schemeClr val="tx1"/>
                </a:solidFill>
                <a:effectLst/>
                <a:latin typeface="+mn-lt"/>
                <a:ea typeface="+mn-ea"/>
                <a:cs typeface="+mn-cs"/>
              </a:rPr>
              <a:t>. These cover a spectrum from pattern-matching to sophisticated ensemble techniques. </a:t>
            </a:r>
            <a:r>
              <a:rPr lang="en-ZA" sz="1200" b="0" i="0" kern="1200" dirty="0" err="1">
                <a:solidFill>
                  <a:schemeClr val="tx1"/>
                </a:solidFill>
                <a:effectLst/>
                <a:latin typeface="+mn-lt"/>
                <a:ea typeface="+mn-ea"/>
                <a:cs typeface="+mn-cs"/>
              </a:rPr>
              <a:t>XGBoost</a:t>
            </a:r>
            <a:r>
              <a:rPr lang="en-ZA" sz="1200" b="0" i="0" kern="1200" dirty="0">
                <a:solidFill>
                  <a:schemeClr val="tx1"/>
                </a:solidFill>
                <a:effectLst/>
                <a:latin typeface="+mn-lt"/>
                <a:ea typeface="+mn-ea"/>
                <a:cs typeface="+mn-cs"/>
              </a:rPr>
              <a:t>, for example, blends speed, accuracy, and efficiency, making it well-suited for financial forecasting, while Random Forest can handle complex non-linearity but risks overfitting on small datasets.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10</a:t>
            </a:fld>
            <a:endParaRPr lang="en-ZA"/>
          </a:p>
        </p:txBody>
      </p:sp>
    </p:spTree>
    <p:extLst>
      <p:ext uri="{BB962C8B-B14F-4D97-AF65-F5344CB8AC3E}">
        <p14:creationId xmlns:p14="http://schemas.microsoft.com/office/powerpoint/2010/main" val="3336101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In testing, </a:t>
            </a:r>
            <a:r>
              <a:rPr lang="en-ZA" sz="1200" b="0" i="0" kern="1200" dirty="0" err="1">
                <a:solidFill>
                  <a:schemeClr val="tx1"/>
                </a:solidFill>
                <a:effectLst/>
                <a:latin typeface="+mn-lt"/>
                <a:ea typeface="+mn-ea"/>
                <a:cs typeface="+mn-cs"/>
              </a:rPr>
              <a:t>XGBoost</a:t>
            </a:r>
            <a:r>
              <a:rPr lang="en-ZA" sz="1200" b="0" i="0" kern="1200" dirty="0">
                <a:solidFill>
                  <a:schemeClr val="tx1"/>
                </a:solidFill>
                <a:effectLst/>
                <a:latin typeface="+mn-lt"/>
                <a:ea typeface="+mn-ea"/>
                <a:cs typeface="+mn-cs"/>
              </a:rPr>
              <a:t> was our top performer, with accuracy improving from 57% to over 71% after optimizing lag features. We compared models using RMSE, MAE, and R metrics to gauge their predictive power and error rates. Classification accuracy rose with feature engineering, but some error persisted due to low search volumes and the short timeframe available for analysis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11</a:t>
            </a:fld>
            <a:endParaRPr lang="en-ZA"/>
          </a:p>
        </p:txBody>
      </p:sp>
    </p:spTree>
    <p:extLst>
      <p:ext uri="{BB962C8B-B14F-4D97-AF65-F5344CB8AC3E}">
        <p14:creationId xmlns:p14="http://schemas.microsoft.com/office/powerpoint/2010/main" val="1980291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To conclude, Google Trends does provide predictive signals, most evident at 7–14 day lags. Directional accuracy and feature importance support the hypothesis, although macroeconomic factors and the South African market’s unique characteristics limit predictive strength. Our model achieved moderate explanatory power but still faced notable prediction errors.</a:t>
            </a:r>
            <a:br>
              <a:rPr lang="en-ZA" sz="1200" b="0" i="0" kern="1200" dirty="0">
                <a:solidFill>
                  <a:schemeClr val="tx1"/>
                </a:solidFill>
                <a:effectLst/>
                <a:latin typeface="+mn-lt"/>
                <a:ea typeface="+mn-ea"/>
                <a:cs typeface="+mn-cs"/>
              </a:rPr>
            </a:br>
            <a:br>
              <a:rPr lang="en-ZA" sz="1200" b="0" i="0" kern="1200" dirty="0">
                <a:solidFill>
                  <a:schemeClr val="tx1"/>
                </a:solidFill>
                <a:effectLst/>
                <a:latin typeface="+mn-lt"/>
                <a:ea typeface="+mn-ea"/>
                <a:cs typeface="+mn-cs"/>
              </a:rPr>
            </a:br>
            <a:r>
              <a:rPr lang="en-ZA" sz="1200" b="0" i="0" kern="1200" dirty="0">
                <a:solidFill>
                  <a:schemeClr val="tx1"/>
                </a:solidFill>
                <a:effectLst/>
                <a:latin typeface="+mn-lt"/>
                <a:ea typeface="+mn-ea"/>
                <a:cs typeface="+mn-cs"/>
              </a:rPr>
              <a:t>We acknowledge key research limitations: a limited one-year timeframe, moderate explanatory power, and external market factors outside our dataset. Low search volumes in South Africa further constrain the robustness of our results. More extensive analysis would offer stronger conclusions.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14</a:t>
            </a:fld>
            <a:endParaRPr lang="en-ZA"/>
          </a:p>
        </p:txBody>
      </p:sp>
    </p:spTree>
    <p:extLst>
      <p:ext uri="{BB962C8B-B14F-4D97-AF65-F5344CB8AC3E}">
        <p14:creationId xmlns:p14="http://schemas.microsoft.com/office/powerpoint/2010/main" val="3659095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Our core advice is for investors to use Google Trends only as a supplementary signal, focusing on lag periods of 7–14 days for the best results. It’s essential to combine these insights with technical analysis and fundamental research. Validation across more stocks and longer periods is necessary before using these tools in live trading.</a:t>
            </a:r>
            <a:br>
              <a:rPr lang="en-ZA" sz="1200" b="0" i="0" kern="1200" dirty="0">
                <a:solidFill>
                  <a:schemeClr val="tx1"/>
                </a:solidFill>
                <a:effectLst/>
                <a:latin typeface="+mn-lt"/>
                <a:ea typeface="+mn-ea"/>
                <a:cs typeface="+mn-cs"/>
              </a:rPr>
            </a:br>
            <a:br>
              <a:rPr lang="en-ZA" sz="1200" b="0" i="0" kern="1200" dirty="0">
                <a:solidFill>
                  <a:schemeClr val="tx1"/>
                </a:solidFill>
                <a:effectLst/>
                <a:latin typeface="+mn-lt"/>
                <a:ea typeface="+mn-ea"/>
                <a:cs typeface="+mn-cs"/>
              </a:rPr>
            </a:br>
            <a:r>
              <a:rPr lang="en-ZA" sz="1200" b="0" i="0" kern="1200" dirty="0">
                <a:solidFill>
                  <a:schemeClr val="tx1"/>
                </a:solidFill>
                <a:effectLst/>
                <a:latin typeface="+mn-lt"/>
                <a:ea typeface="+mn-ea"/>
                <a:cs typeface="+mn-cs"/>
              </a:rPr>
              <a:t>We see major value in extending this research. Future work should include multi-year datasets, a wider variety of JSE stocks, and integrations with sentiment analysis and macroeconomic data. Real-time simulation and </a:t>
            </a:r>
            <a:r>
              <a:rPr lang="en-ZA" sz="1200" b="0" i="0" kern="1200" dirty="0" err="1">
                <a:solidFill>
                  <a:schemeClr val="tx1"/>
                </a:solidFill>
                <a:effectLst/>
                <a:latin typeface="+mn-lt"/>
                <a:ea typeface="+mn-ea"/>
                <a:cs typeface="+mn-cs"/>
              </a:rPr>
              <a:t>backtesting</a:t>
            </a:r>
            <a:r>
              <a:rPr lang="en-ZA" sz="1200" b="0" i="0" kern="1200" dirty="0">
                <a:solidFill>
                  <a:schemeClr val="tx1"/>
                </a:solidFill>
                <a:effectLst/>
                <a:latin typeface="+mn-lt"/>
                <a:ea typeface="+mn-ea"/>
                <a:cs typeface="+mn-cs"/>
              </a:rPr>
              <a:t> are needed to confirm the practical value of these signals as Google’s dominance in search is itself an evolving factor.</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15</a:t>
            </a:fld>
            <a:endParaRPr lang="en-ZA"/>
          </a:p>
        </p:txBody>
      </p:sp>
    </p:spTree>
    <p:extLst>
      <p:ext uri="{BB962C8B-B14F-4D97-AF65-F5344CB8AC3E}">
        <p14:creationId xmlns:p14="http://schemas.microsoft.com/office/powerpoint/2010/main" val="2053439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sz="1200" b="0" i="0" kern="1200" dirty="0">
                <a:solidFill>
                  <a:schemeClr val="tx1"/>
                </a:solidFill>
                <a:effectLst/>
                <a:latin typeface="+mn-lt"/>
                <a:ea typeface="+mn-ea"/>
                <a:cs typeface="+mn-cs"/>
              </a:rPr>
              <a:t>Thank you for your attention. We are committed to rigorous and transparent financial analytics and welcome any questions</a:t>
            </a:r>
            <a:endParaRPr lang="en-ZA" dirty="0"/>
          </a:p>
        </p:txBody>
      </p:sp>
      <p:sp>
        <p:nvSpPr>
          <p:cNvPr id="4" name="Slide Number Placeholder 3"/>
          <p:cNvSpPr>
            <a:spLocks noGrp="1"/>
          </p:cNvSpPr>
          <p:nvPr>
            <p:ph type="sldNum" sz="quarter" idx="5"/>
          </p:nvPr>
        </p:nvSpPr>
        <p:spPr/>
        <p:txBody>
          <a:bodyPr/>
          <a:lstStyle/>
          <a:p>
            <a:fld id="{4BA0FA9C-4CD9-4B6B-8B45-760C55F438B8}" type="slidenum">
              <a:rPr lang="en-ZA" smtClean="0"/>
              <a:t>16</a:t>
            </a:fld>
            <a:endParaRPr lang="en-ZA"/>
          </a:p>
        </p:txBody>
      </p:sp>
    </p:spTree>
    <p:extLst>
      <p:ext uri="{BB962C8B-B14F-4D97-AF65-F5344CB8AC3E}">
        <p14:creationId xmlns:p14="http://schemas.microsoft.com/office/powerpoint/2010/main" val="390672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11/14/2025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11/14/2025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11/14/2025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11/14/2025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C3912-727D-9FCD-1534-1D2AC8837532}"/>
              </a:ext>
            </a:extLst>
          </p:cNvPr>
          <p:cNvSpPr>
            <a:spLocks noGrp="1"/>
          </p:cNvSpPr>
          <p:nvPr>
            <p:ph type="ctrTitle"/>
          </p:nvPr>
        </p:nvSpPr>
        <p:spPr>
          <a:xfrm>
            <a:off x="1593703" y="4095514"/>
            <a:ext cx="8991600" cy="1264762"/>
          </a:xfrm>
        </p:spPr>
        <p:txBody>
          <a:bodyPr>
            <a:normAutofit fontScale="90000"/>
          </a:bodyPr>
          <a:lstStyle/>
          <a:p>
            <a:br>
              <a:rPr lang="en-GB" sz="3200" cap="none" dirty="0">
                <a:solidFill>
                  <a:schemeClr val="dk1"/>
                </a:solidFill>
                <a:latin typeface="Calibri"/>
                <a:ea typeface="Calibri"/>
                <a:cs typeface="Calibri"/>
                <a:sym typeface="Calibri"/>
              </a:rPr>
            </a:br>
            <a:r>
              <a:rPr lang="en-GB" sz="3200" cap="none" dirty="0">
                <a:solidFill>
                  <a:schemeClr val="dk1"/>
                </a:solidFill>
                <a:latin typeface="Calibri"/>
                <a:ea typeface="Calibri"/>
                <a:cs typeface="Calibri"/>
                <a:sym typeface="Calibri"/>
              </a:rPr>
              <a:t>Assignment 1: Google Trends and Stock price fluctuations</a:t>
            </a:r>
            <a:br>
              <a:rPr lang="en-GB" sz="2400" cap="none" dirty="0">
                <a:solidFill>
                  <a:schemeClr val="dk1"/>
                </a:solidFill>
                <a:latin typeface="Calibri"/>
                <a:ea typeface="Calibri"/>
                <a:cs typeface="Calibri"/>
                <a:sym typeface="Calibri"/>
              </a:rPr>
            </a:br>
            <a:endParaRPr lang="en-US" sz="3200" dirty="0"/>
          </a:p>
        </p:txBody>
      </p:sp>
      <p:sp>
        <p:nvSpPr>
          <p:cNvPr id="3" name="Subtitle 2">
            <a:extLst>
              <a:ext uri="{FF2B5EF4-FFF2-40B4-BE49-F238E27FC236}">
                <a16:creationId xmlns:a16="http://schemas.microsoft.com/office/drawing/2014/main" id="{011D175C-B70C-BFC4-FE96-3C97DD905588}"/>
              </a:ext>
            </a:extLst>
          </p:cNvPr>
          <p:cNvSpPr>
            <a:spLocks noGrp="1"/>
          </p:cNvSpPr>
          <p:nvPr>
            <p:ph type="subTitle" idx="1"/>
          </p:nvPr>
        </p:nvSpPr>
        <p:spPr>
          <a:xfrm>
            <a:off x="2261419" y="5503177"/>
            <a:ext cx="7669162" cy="1264762"/>
          </a:xfrm>
        </p:spPr>
        <p:txBody>
          <a:bodyPr>
            <a:normAutofit/>
          </a:bodyPr>
          <a:lstStyle/>
          <a:p>
            <a:r>
              <a:rPr lang="en-GB" sz="1800" b="1" dirty="0">
                <a:solidFill>
                  <a:schemeClr val="dk1"/>
                </a:solidFill>
                <a:latin typeface="Calibri"/>
                <a:ea typeface="Calibri"/>
                <a:cs typeface="Calibri"/>
                <a:sym typeface="Calibri"/>
              </a:rPr>
              <a:t>Anesu Mukuvari 2020135568</a:t>
            </a:r>
            <a:r>
              <a:rPr lang="en-GB" sz="1800" dirty="0">
                <a:solidFill>
                  <a:schemeClr val="dk1"/>
                </a:solidFill>
                <a:latin typeface="Calibri"/>
                <a:ea typeface="Calibri"/>
                <a:cs typeface="Calibri"/>
                <a:sym typeface="Calibri"/>
              </a:rPr>
              <a:t>, </a:t>
            </a:r>
            <a:r>
              <a:rPr lang="en-GB" sz="1800" b="1" dirty="0">
                <a:solidFill>
                  <a:schemeClr val="dk1"/>
                </a:solidFill>
                <a:latin typeface="Calibri"/>
                <a:ea typeface="Calibri"/>
                <a:cs typeface="Calibri"/>
                <a:sym typeface="Calibri"/>
              </a:rPr>
              <a:t>Ayanda Mhlauli 2021442765</a:t>
            </a:r>
          </a:p>
          <a:p>
            <a:pPr lvl="0">
              <a:spcBef>
                <a:spcPts val="0"/>
              </a:spcBef>
            </a:pPr>
            <a:r>
              <a:rPr lang="en-GB" sz="1800" dirty="0">
                <a:solidFill>
                  <a:schemeClr val="dk1"/>
                </a:solidFill>
                <a:latin typeface="Calibri"/>
                <a:ea typeface="Calibri"/>
                <a:cs typeface="Calibri"/>
                <a:sym typeface="Calibri"/>
              </a:rPr>
              <a:t>Group 4</a:t>
            </a:r>
            <a:endParaRPr lang="en-GB" sz="1100" dirty="0"/>
          </a:p>
          <a:p>
            <a:pPr lvl="0">
              <a:spcBef>
                <a:spcPts val="0"/>
              </a:spcBef>
            </a:pPr>
            <a:r>
              <a:rPr lang="en-GB" sz="1800" b="1" dirty="0">
                <a:solidFill>
                  <a:schemeClr val="dk1"/>
                </a:solidFill>
                <a:latin typeface="Calibri"/>
                <a:ea typeface="Calibri"/>
                <a:cs typeface="Calibri"/>
                <a:sym typeface="Calibri"/>
              </a:rPr>
              <a:t>Honours in Business and Financial Analytics EDAB6800</a:t>
            </a:r>
          </a:p>
          <a:p>
            <a:pPr marL="0" marR="0" lvl="0" indent="0" algn="ctr" defTabSz="914400" rtl="0" eaLnBrk="1" fontAlgn="auto" latinLnBrk="0" hangingPunct="1">
              <a:lnSpc>
                <a:spcPct val="100000"/>
              </a:lnSpc>
              <a:spcBef>
                <a:spcPts val="0"/>
              </a:spcBef>
              <a:spcAft>
                <a:spcPts val="0"/>
              </a:spcAft>
              <a:buClr>
                <a:srgbClr val="9BAFB5"/>
              </a:buClr>
              <a:buSzTx/>
              <a:buFont typeface="Arial" panose="020B0604020202020204" pitchFamily="34" charset="0"/>
              <a:buNone/>
              <a:tabLst/>
              <a:defRPr/>
            </a:pPr>
            <a:r>
              <a:rPr kumimoji="0" lang="en-GB" sz="1800" b="0" i="0" u="none" strike="noStrike" kern="1200" cap="none" spc="0" normalizeH="0" baseline="0" noProof="0" dirty="0">
                <a:ln>
                  <a:noFill/>
                </a:ln>
                <a:solidFill>
                  <a:srgbClr val="000000"/>
                </a:solidFill>
                <a:effectLst/>
                <a:uLnTx/>
                <a:uFillTx/>
                <a:latin typeface="Calibri"/>
                <a:ea typeface="Calibri"/>
                <a:cs typeface="Calibri"/>
                <a:sym typeface="Calibri"/>
              </a:rPr>
              <a:t>ASSESSOR: Dr </a:t>
            </a:r>
            <a:r>
              <a:rPr kumimoji="0" lang="en-GB" sz="1800" b="0" i="0" u="none" strike="noStrike" kern="1200" cap="none" spc="0" normalizeH="0" baseline="0" noProof="0" dirty="0" err="1">
                <a:ln>
                  <a:noFill/>
                </a:ln>
                <a:solidFill>
                  <a:srgbClr val="000000"/>
                </a:solidFill>
                <a:effectLst/>
                <a:uLnTx/>
                <a:uFillTx/>
                <a:latin typeface="Calibri"/>
                <a:ea typeface="Calibri"/>
                <a:cs typeface="Calibri"/>
                <a:sym typeface="Calibri"/>
              </a:rPr>
              <a:t>Herkulaas</a:t>
            </a:r>
            <a:r>
              <a:rPr kumimoji="0" lang="en-GB" sz="1800" b="0" i="0" u="none" strike="noStrike" kern="1200" cap="none" spc="0" normalizeH="0" baseline="0" noProof="0" dirty="0">
                <a:ln>
                  <a:noFill/>
                </a:ln>
                <a:solidFill>
                  <a:srgbClr val="000000"/>
                </a:solidFill>
                <a:effectLst/>
                <a:uLnTx/>
                <a:uFillTx/>
                <a:latin typeface="Calibri"/>
                <a:ea typeface="Calibri"/>
                <a:cs typeface="Calibri"/>
                <a:sym typeface="Calibri"/>
              </a:rPr>
              <a:t> </a:t>
            </a:r>
            <a:r>
              <a:rPr kumimoji="0" lang="en-GB" sz="1800" b="0" i="0" u="none" strike="noStrike" kern="1200" cap="none" spc="0" normalizeH="0" baseline="0" noProof="0" dirty="0" err="1">
                <a:ln>
                  <a:noFill/>
                </a:ln>
                <a:solidFill>
                  <a:srgbClr val="000000"/>
                </a:solidFill>
                <a:effectLst/>
                <a:uLnTx/>
                <a:uFillTx/>
                <a:latin typeface="Calibri"/>
                <a:ea typeface="Calibri"/>
                <a:cs typeface="Calibri"/>
                <a:sym typeface="Calibri"/>
              </a:rPr>
              <a:t>MvE</a:t>
            </a:r>
            <a:r>
              <a:rPr kumimoji="0" lang="en-GB" sz="1800" b="0" i="0" u="none" strike="noStrike" kern="1200" cap="none" spc="0" normalizeH="0" baseline="0" noProof="0" dirty="0">
                <a:ln>
                  <a:noFill/>
                </a:ln>
                <a:solidFill>
                  <a:srgbClr val="000000"/>
                </a:solidFill>
                <a:effectLst/>
                <a:uLnTx/>
                <a:uFillTx/>
                <a:latin typeface="Calibri"/>
                <a:ea typeface="Calibri"/>
                <a:cs typeface="Calibri"/>
                <a:sym typeface="Calibri"/>
              </a:rPr>
              <a:t> Combrink, Dr Nyashadzashe </a:t>
            </a:r>
            <a:r>
              <a:rPr kumimoji="0" lang="en-GB" sz="1800" b="0" i="0" u="none" strike="noStrike" kern="1200" cap="none" spc="0" normalizeH="0" baseline="0" noProof="0" dirty="0" err="1">
                <a:ln>
                  <a:noFill/>
                </a:ln>
                <a:solidFill>
                  <a:srgbClr val="000000"/>
                </a:solidFill>
                <a:effectLst/>
                <a:uLnTx/>
                <a:uFillTx/>
                <a:latin typeface="Calibri"/>
                <a:ea typeface="Calibri"/>
                <a:cs typeface="Calibri"/>
                <a:sym typeface="Calibri"/>
              </a:rPr>
              <a:t>Tamuka</a:t>
            </a:r>
            <a:r>
              <a:rPr kumimoji="0" lang="en-GB" sz="1800" b="0" i="0" u="none" strike="noStrike" kern="1200" cap="none" spc="0" normalizeH="0" baseline="0" noProof="0" dirty="0">
                <a:ln>
                  <a:noFill/>
                </a:ln>
                <a:solidFill>
                  <a:srgbClr val="000000"/>
                </a:solidFill>
                <a:effectLst/>
                <a:uLnTx/>
                <a:uFillTx/>
                <a:latin typeface="Calibri"/>
                <a:ea typeface="Calibri"/>
                <a:cs typeface="Calibri"/>
                <a:sym typeface="Calibri"/>
              </a:rPr>
              <a:t>, V </a:t>
            </a:r>
            <a:r>
              <a:rPr kumimoji="0" lang="en-GB" sz="1800" b="0" i="0" u="none" strike="noStrike" kern="1200" cap="none" spc="0" normalizeH="0" baseline="0" noProof="0" dirty="0" err="1">
                <a:ln>
                  <a:noFill/>
                </a:ln>
                <a:solidFill>
                  <a:srgbClr val="000000"/>
                </a:solidFill>
                <a:effectLst/>
                <a:uLnTx/>
                <a:uFillTx/>
                <a:latin typeface="Calibri"/>
                <a:ea typeface="Calibri"/>
                <a:cs typeface="Calibri"/>
                <a:sym typeface="Calibri"/>
              </a:rPr>
              <a:t>Oelofse</a:t>
            </a:r>
            <a:endParaRPr kumimoji="0" lang="en-GB" sz="18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sp>
        <p:nvSpPr>
          <p:cNvPr id="15" name="Rectangle 14">
            <a:extLst>
              <a:ext uri="{FF2B5EF4-FFF2-40B4-BE49-F238E27FC236}">
                <a16:creationId xmlns:a16="http://schemas.microsoft.com/office/drawing/2014/main" id="{0F974576-6F9E-4B11-8273-A9F0AE188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7032" y="640555"/>
            <a:ext cx="9498768" cy="33120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FECC3EF-DDFD-4B14-B98F-B6E732810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0700" y="806112"/>
            <a:ext cx="9171432" cy="29809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132;p25" descr="A black background with letters&#10;&#10;AI-generated content may be incorrect.">
            <a:extLst>
              <a:ext uri="{FF2B5EF4-FFF2-40B4-BE49-F238E27FC236}">
                <a16:creationId xmlns:a16="http://schemas.microsoft.com/office/drawing/2014/main" id="{C45470C2-6CAB-D2A9-80CC-3FFF3BCF3D16}"/>
              </a:ext>
            </a:extLst>
          </p:cNvPr>
          <p:cNvPicPr preferRelativeResize="0"/>
          <p:nvPr/>
        </p:nvPicPr>
        <p:blipFill rotWithShape="1">
          <a:blip r:embed="rId2"/>
          <a:stretch/>
        </p:blipFill>
        <p:spPr>
          <a:xfrm>
            <a:off x="1965878" y="1114570"/>
            <a:ext cx="2338237" cy="2338237"/>
          </a:xfrm>
          <a:prstGeom prst="rect">
            <a:avLst/>
          </a:prstGeom>
          <a:noFill/>
        </p:spPr>
      </p:pic>
      <p:pic>
        <p:nvPicPr>
          <p:cNvPr id="10" name="Google Shape;133;p25" descr="A logo of a company&#10;&#10;AI-generated content may be incorrect.">
            <a:extLst>
              <a:ext uri="{FF2B5EF4-FFF2-40B4-BE49-F238E27FC236}">
                <a16:creationId xmlns:a16="http://schemas.microsoft.com/office/drawing/2014/main" id="{77BC2859-8174-3122-F284-221453C16977}"/>
              </a:ext>
            </a:extLst>
          </p:cNvPr>
          <p:cNvPicPr preferRelativeResize="0"/>
          <p:nvPr/>
        </p:nvPicPr>
        <p:blipFill rotWithShape="1">
          <a:blip r:embed="rId3"/>
          <a:stretch/>
        </p:blipFill>
        <p:spPr>
          <a:xfrm>
            <a:off x="4920385" y="1114570"/>
            <a:ext cx="2338237" cy="2338237"/>
          </a:xfrm>
          <a:prstGeom prst="rect">
            <a:avLst/>
          </a:prstGeom>
          <a:noFill/>
        </p:spPr>
      </p:pic>
      <p:pic>
        <p:nvPicPr>
          <p:cNvPr id="8" name="Google Shape;134;p25" descr="A black and white logo with a lion in a circle&#10;&#10;AI-generated content may be incorrect.">
            <a:extLst>
              <a:ext uri="{FF2B5EF4-FFF2-40B4-BE49-F238E27FC236}">
                <a16:creationId xmlns:a16="http://schemas.microsoft.com/office/drawing/2014/main" id="{0D586C0F-4EE9-8326-8632-431F4AD85B9F}"/>
              </a:ext>
            </a:extLst>
          </p:cNvPr>
          <p:cNvPicPr preferRelativeResize="0"/>
          <p:nvPr/>
        </p:nvPicPr>
        <p:blipFill rotWithShape="1">
          <a:blip r:embed="rId4"/>
          <a:srcRect t="15264" b="15257"/>
          <a:stretch/>
        </p:blipFill>
        <p:spPr>
          <a:xfrm>
            <a:off x="7727622" y="1602302"/>
            <a:ext cx="2632777" cy="1362773"/>
          </a:xfrm>
          <a:prstGeom prst="rect">
            <a:avLst/>
          </a:prstGeom>
          <a:noFill/>
        </p:spPr>
      </p:pic>
      <p:sp>
        <p:nvSpPr>
          <p:cNvPr id="4" name="TextBox 3">
            <a:extLst>
              <a:ext uri="{FF2B5EF4-FFF2-40B4-BE49-F238E27FC236}">
                <a16:creationId xmlns:a16="http://schemas.microsoft.com/office/drawing/2014/main" id="{70779C91-1C07-49F1-8175-F1A2539FC359}"/>
              </a:ext>
            </a:extLst>
          </p:cNvPr>
          <p:cNvSpPr txBox="1"/>
          <p:nvPr/>
        </p:nvSpPr>
        <p:spPr>
          <a:xfrm>
            <a:off x="0" y="6488668"/>
            <a:ext cx="955964" cy="369332"/>
          </a:xfrm>
          <a:prstGeom prst="rect">
            <a:avLst/>
          </a:prstGeom>
          <a:noFill/>
        </p:spPr>
        <p:txBody>
          <a:bodyPr wrap="square" rtlCol="0">
            <a:spAutoFit/>
          </a:bodyPr>
          <a:lstStyle/>
          <a:p>
            <a:r>
              <a:rPr lang="en-US" dirty="0">
                <a:solidFill>
                  <a:schemeClr val="bg1"/>
                </a:solidFill>
              </a:rPr>
              <a:t>1 of 16</a:t>
            </a:r>
          </a:p>
        </p:txBody>
      </p:sp>
    </p:spTree>
    <p:extLst>
      <p:ext uri="{BB962C8B-B14F-4D97-AF65-F5344CB8AC3E}">
        <p14:creationId xmlns:p14="http://schemas.microsoft.com/office/powerpoint/2010/main" val="1393979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E060-E7A0-A671-5D66-E9C2B5222B4C}"/>
              </a:ext>
            </a:extLst>
          </p:cNvPr>
          <p:cNvSpPr>
            <a:spLocks noGrp="1"/>
          </p:cNvSpPr>
          <p:nvPr>
            <p:ph type="title"/>
          </p:nvPr>
        </p:nvSpPr>
        <p:spPr/>
        <p:txBody>
          <a:bodyPr/>
          <a:lstStyle/>
          <a:p>
            <a:r>
              <a:rPr lang="en-US" dirty="0"/>
              <a:t>Introduction and Background </a:t>
            </a:r>
          </a:p>
        </p:txBody>
      </p:sp>
      <p:sp>
        <p:nvSpPr>
          <p:cNvPr id="3" name="Content Placeholder 2">
            <a:extLst>
              <a:ext uri="{FF2B5EF4-FFF2-40B4-BE49-F238E27FC236}">
                <a16:creationId xmlns:a16="http://schemas.microsoft.com/office/drawing/2014/main" id="{51861095-D01D-E58D-0472-559305DC87BB}"/>
              </a:ext>
            </a:extLst>
          </p:cNvPr>
          <p:cNvSpPr>
            <a:spLocks noGrp="1"/>
          </p:cNvSpPr>
          <p:nvPr>
            <p:ph idx="1"/>
          </p:nvPr>
        </p:nvSpPr>
        <p:spPr/>
        <p:txBody>
          <a:bodyPr/>
          <a:lstStyle/>
          <a:p>
            <a:r>
              <a:rPr lang="en-ZA" dirty="0"/>
              <a:t>Investor behaviour has shifted to online information-seeking, especially retail investors (Barber &amp; Odean, 2008).</a:t>
            </a:r>
          </a:p>
          <a:p>
            <a:pPr marL="0" indent="0">
              <a:buNone/>
            </a:pPr>
            <a:endParaRPr lang="en-ZA" dirty="0"/>
          </a:p>
          <a:p>
            <a:r>
              <a:rPr lang="en-ZA" dirty="0"/>
              <a:t>Google Trends provides real-time proxy for public interest (Da, Engelberg &amp; Gao, 2011).</a:t>
            </a:r>
          </a:p>
          <a:p>
            <a:pPr marL="0" indent="0">
              <a:buNone/>
            </a:pPr>
            <a:endParaRPr lang="en-ZA" dirty="0"/>
          </a:p>
          <a:p>
            <a:r>
              <a:rPr lang="en-ZA" dirty="0"/>
              <a:t>Spikes in search activity often precede trading volume and price movements (Bui &amp; Nguyen, 2019).</a:t>
            </a:r>
          </a:p>
          <a:p>
            <a:pPr marL="0" indent="0">
              <a:buNone/>
            </a:pPr>
            <a:endParaRPr lang="en-ZA" dirty="0"/>
          </a:p>
          <a:p>
            <a:r>
              <a:rPr lang="en-ZA" dirty="0"/>
              <a:t>Study investigates whether Google Search Volume Index (GSVI) can predict FirstRand stock movements on JSE.</a:t>
            </a:r>
            <a:endParaRPr lang="en-US" dirty="0"/>
          </a:p>
        </p:txBody>
      </p:sp>
      <p:sp>
        <p:nvSpPr>
          <p:cNvPr id="5" name="TextBox 4">
            <a:extLst>
              <a:ext uri="{FF2B5EF4-FFF2-40B4-BE49-F238E27FC236}">
                <a16:creationId xmlns:a16="http://schemas.microsoft.com/office/drawing/2014/main" id="{08214D75-B476-95B5-49A7-E556AC878A1A}"/>
              </a:ext>
            </a:extLst>
          </p:cNvPr>
          <p:cNvSpPr txBox="1"/>
          <p:nvPr/>
        </p:nvSpPr>
        <p:spPr>
          <a:xfrm>
            <a:off x="0" y="6488668"/>
            <a:ext cx="843501" cy="369332"/>
          </a:xfrm>
          <a:prstGeom prst="rect">
            <a:avLst/>
          </a:prstGeom>
          <a:noFill/>
        </p:spPr>
        <p:txBody>
          <a:bodyPr wrap="none" rtlCol="0">
            <a:spAutoFit/>
          </a:bodyPr>
          <a:lstStyle/>
          <a:p>
            <a:r>
              <a:rPr lang="en-US" dirty="0"/>
              <a:t>2 of 16</a:t>
            </a:r>
          </a:p>
        </p:txBody>
      </p:sp>
    </p:spTree>
    <p:extLst>
      <p:ext uri="{BB962C8B-B14F-4D97-AF65-F5344CB8AC3E}">
        <p14:creationId xmlns:p14="http://schemas.microsoft.com/office/powerpoint/2010/main" val="2441600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7A2C-06CC-2944-D75A-1C78256BA9F5}"/>
              </a:ext>
            </a:extLst>
          </p:cNvPr>
          <p:cNvSpPr>
            <a:spLocks noGrp="1"/>
          </p:cNvSpPr>
          <p:nvPr>
            <p:ph type="title"/>
          </p:nvPr>
        </p:nvSpPr>
        <p:spPr/>
        <p:txBody>
          <a:bodyPr>
            <a:normAutofit fontScale="90000"/>
          </a:bodyPr>
          <a:lstStyle/>
          <a:p>
            <a:r>
              <a:rPr lang="en-US" dirty="0"/>
              <a:t>Is This Possible</a:t>
            </a:r>
            <a:br>
              <a:rPr lang="en-US" dirty="0"/>
            </a:br>
            <a:r>
              <a:rPr lang="en-US" dirty="0"/>
              <a:t>(Evidence From literature)</a:t>
            </a:r>
          </a:p>
        </p:txBody>
      </p:sp>
      <p:sp>
        <p:nvSpPr>
          <p:cNvPr id="3" name="Content Placeholder 2">
            <a:extLst>
              <a:ext uri="{FF2B5EF4-FFF2-40B4-BE49-F238E27FC236}">
                <a16:creationId xmlns:a16="http://schemas.microsoft.com/office/drawing/2014/main" id="{1130DD6A-41DC-130F-9AB0-07078D7F4B1A}"/>
              </a:ext>
            </a:extLst>
          </p:cNvPr>
          <p:cNvSpPr>
            <a:spLocks noGrp="1"/>
          </p:cNvSpPr>
          <p:nvPr>
            <p:ph idx="1"/>
          </p:nvPr>
        </p:nvSpPr>
        <p:spPr/>
        <p:txBody>
          <a:bodyPr>
            <a:normAutofit lnSpcReduction="10000"/>
          </a:bodyPr>
          <a:lstStyle/>
          <a:p>
            <a:r>
              <a:rPr lang="en-US" dirty="0"/>
              <a:t>Takeda and Wakao (2014) – GSVI effects stronger in retail-heavy Japanese stocks.</a:t>
            </a:r>
          </a:p>
          <a:p>
            <a:endParaRPr lang="en-US" dirty="0"/>
          </a:p>
          <a:p>
            <a:r>
              <a:rPr lang="en-US" dirty="0"/>
              <a:t>Bui and Nguyen (2019) – Abnormal searches precede trading volume surges (Vietnam).</a:t>
            </a:r>
          </a:p>
          <a:p>
            <a:endParaRPr lang="en-US" dirty="0"/>
          </a:p>
          <a:p>
            <a:r>
              <a:rPr lang="en-US" dirty="0"/>
              <a:t>Da, Engelberg and Gao (2011) – Google search volume predicts US equity returns.</a:t>
            </a:r>
          </a:p>
          <a:p>
            <a:endParaRPr lang="en-US" dirty="0"/>
          </a:p>
          <a:p>
            <a:r>
              <a:rPr lang="en-US" dirty="0"/>
              <a:t>Ayala et al (2020) – GSVI positively related to volatility and trading volume (the review used 56 studies).</a:t>
            </a:r>
          </a:p>
          <a:p>
            <a:endParaRPr lang="en-US" dirty="0"/>
          </a:p>
          <a:p>
            <a:r>
              <a:rPr lang="en-US" dirty="0"/>
              <a:t>Joseph, Babajide and Chen (2011) – Search spikes drive short-term price pressures.</a:t>
            </a:r>
          </a:p>
          <a:p>
            <a:endParaRPr lang="en-US" dirty="0"/>
          </a:p>
          <a:p>
            <a:endParaRPr lang="en-US" dirty="0"/>
          </a:p>
          <a:p>
            <a:endParaRPr lang="en-US" dirty="0"/>
          </a:p>
          <a:p>
            <a:pPr marL="0" indent="0">
              <a:buNone/>
            </a:pPr>
            <a:endParaRPr lang="en-US" dirty="0"/>
          </a:p>
        </p:txBody>
      </p:sp>
      <p:sp>
        <p:nvSpPr>
          <p:cNvPr id="4" name="Text Placeholder 3">
            <a:extLst>
              <a:ext uri="{FF2B5EF4-FFF2-40B4-BE49-F238E27FC236}">
                <a16:creationId xmlns:a16="http://schemas.microsoft.com/office/drawing/2014/main" id="{5E9727A8-8B09-54A6-215F-23FBC41C6F46}"/>
              </a:ext>
            </a:extLst>
          </p:cNvPr>
          <p:cNvSpPr>
            <a:spLocks noGrp="1"/>
          </p:cNvSpPr>
          <p:nvPr>
            <p:ph type="body" sz="half" idx="2"/>
          </p:nvPr>
        </p:nvSpPr>
        <p:spPr/>
        <p:txBody>
          <a:bodyPr/>
          <a:lstStyle/>
          <a:p>
            <a:endParaRPr lang="en-US" dirty="0"/>
          </a:p>
        </p:txBody>
      </p:sp>
      <p:pic>
        <p:nvPicPr>
          <p:cNvPr id="11" name="Google Shape;151;p27" descr="A map of the world&#10;&#10;AI-generated content may be incorrect.">
            <a:extLst>
              <a:ext uri="{FF2B5EF4-FFF2-40B4-BE49-F238E27FC236}">
                <a16:creationId xmlns:a16="http://schemas.microsoft.com/office/drawing/2014/main" id="{C0B9E208-1B65-11DA-5656-29921319C383}"/>
              </a:ext>
            </a:extLst>
          </p:cNvPr>
          <p:cNvPicPr preferRelativeResize="0"/>
          <p:nvPr/>
        </p:nvPicPr>
        <p:blipFill rotWithShape="1">
          <a:blip r:embed="rId3">
            <a:alphaModFix/>
          </a:blip>
          <a:srcRect/>
          <a:stretch/>
        </p:blipFill>
        <p:spPr>
          <a:xfrm>
            <a:off x="444064" y="3712616"/>
            <a:ext cx="5207871" cy="1868640"/>
          </a:xfrm>
          <a:prstGeom prst="rect">
            <a:avLst/>
          </a:prstGeom>
          <a:noFill/>
          <a:ln>
            <a:noFill/>
          </a:ln>
        </p:spPr>
      </p:pic>
      <p:sp>
        <p:nvSpPr>
          <p:cNvPr id="5" name="TextBox 4">
            <a:extLst>
              <a:ext uri="{FF2B5EF4-FFF2-40B4-BE49-F238E27FC236}">
                <a16:creationId xmlns:a16="http://schemas.microsoft.com/office/drawing/2014/main" id="{1BE36C02-B16E-3849-32A0-2C2D1416728D}"/>
              </a:ext>
            </a:extLst>
          </p:cNvPr>
          <p:cNvSpPr txBox="1"/>
          <p:nvPr/>
        </p:nvSpPr>
        <p:spPr>
          <a:xfrm>
            <a:off x="0" y="6488668"/>
            <a:ext cx="843501" cy="369332"/>
          </a:xfrm>
          <a:prstGeom prst="rect">
            <a:avLst/>
          </a:prstGeom>
          <a:noFill/>
        </p:spPr>
        <p:txBody>
          <a:bodyPr wrap="none" rtlCol="0">
            <a:spAutoFit/>
          </a:bodyPr>
          <a:lstStyle/>
          <a:p>
            <a:r>
              <a:rPr lang="en-US" dirty="0"/>
              <a:t>3 of 17</a:t>
            </a:r>
          </a:p>
        </p:txBody>
      </p:sp>
    </p:spTree>
    <p:extLst>
      <p:ext uri="{BB962C8B-B14F-4D97-AF65-F5344CB8AC3E}">
        <p14:creationId xmlns:p14="http://schemas.microsoft.com/office/powerpoint/2010/main" val="2910398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FB0E-C20B-3127-8167-163E6465B4AA}"/>
              </a:ext>
            </a:extLst>
          </p:cNvPr>
          <p:cNvSpPr>
            <a:spLocks noGrp="1"/>
          </p:cNvSpPr>
          <p:nvPr>
            <p:ph type="title"/>
          </p:nvPr>
        </p:nvSpPr>
        <p:spPr/>
        <p:txBody>
          <a:bodyPr/>
          <a:lstStyle/>
          <a:p>
            <a:r>
              <a:rPr lang="en-US" dirty="0"/>
              <a:t>Why </a:t>
            </a:r>
            <a:r>
              <a:rPr lang="en-US" dirty="0" err="1"/>
              <a:t>firstrand</a:t>
            </a:r>
            <a:r>
              <a:rPr lang="en-US" dirty="0"/>
              <a:t>?</a:t>
            </a:r>
          </a:p>
        </p:txBody>
      </p:sp>
      <p:sp>
        <p:nvSpPr>
          <p:cNvPr id="3" name="Content Placeholder 2">
            <a:extLst>
              <a:ext uri="{FF2B5EF4-FFF2-40B4-BE49-F238E27FC236}">
                <a16:creationId xmlns:a16="http://schemas.microsoft.com/office/drawing/2014/main" id="{C4C119E9-0280-8866-8E0A-651E694A2723}"/>
              </a:ext>
            </a:extLst>
          </p:cNvPr>
          <p:cNvSpPr>
            <a:spLocks noGrp="1"/>
          </p:cNvSpPr>
          <p:nvPr>
            <p:ph idx="1"/>
          </p:nvPr>
        </p:nvSpPr>
        <p:spPr/>
        <p:txBody>
          <a:bodyPr>
            <a:normAutofit lnSpcReduction="10000"/>
          </a:bodyPr>
          <a:lstStyle/>
          <a:p>
            <a:r>
              <a:rPr lang="en-US" b="1" dirty="0"/>
              <a:t>Market Significance </a:t>
            </a:r>
            <a:r>
              <a:rPr lang="en-US" dirty="0"/>
              <a:t>– One of South Africa’s largest financial institutions. </a:t>
            </a:r>
          </a:p>
          <a:p>
            <a:endParaRPr lang="en-US" dirty="0"/>
          </a:p>
          <a:p>
            <a:r>
              <a:rPr lang="en-US" b="1" dirty="0"/>
              <a:t>Retail Investor Visibility </a:t>
            </a:r>
            <a:r>
              <a:rPr lang="en-US" dirty="0"/>
              <a:t>– Large retail customer base via FNB.</a:t>
            </a:r>
          </a:p>
          <a:p>
            <a:endParaRPr lang="en-US" dirty="0"/>
          </a:p>
          <a:p>
            <a:r>
              <a:rPr lang="en-US" b="1" dirty="0"/>
              <a:t>Consistent with Literature </a:t>
            </a:r>
            <a:r>
              <a:rPr lang="en-US" dirty="0"/>
              <a:t>–  Attention-driven trading strong in retail-heavy stocks.</a:t>
            </a:r>
          </a:p>
          <a:p>
            <a:endParaRPr lang="en-US" dirty="0"/>
          </a:p>
          <a:p>
            <a:r>
              <a:rPr lang="en-US" b="1" dirty="0"/>
              <a:t>Information-Seeking Proxy </a:t>
            </a:r>
            <a:r>
              <a:rPr lang="en-US" dirty="0"/>
              <a:t>– Financial firms frequently used to test investor behavior.</a:t>
            </a:r>
          </a:p>
          <a:p>
            <a:endParaRPr lang="en-US" dirty="0"/>
          </a:p>
          <a:p>
            <a:r>
              <a:rPr lang="en-US" b="1" dirty="0"/>
              <a:t>Market Share </a:t>
            </a:r>
            <a:r>
              <a:rPr lang="en-US" dirty="0"/>
              <a:t>– Has the Largest publicly owned stake.</a:t>
            </a:r>
          </a:p>
        </p:txBody>
      </p:sp>
      <p:sp>
        <p:nvSpPr>
          <p:cNvPr id="4" name="Text Placeholder 3">
            <a:extLst>
              <a:ext uri="{FF2B5EF4-FFF2-40B4-BE49-F238E27FC236}">
                <a16:creationId xmlns:a16="http://schemas.microsoft.com/office/drawing/2014/main" id="{BB03E9BA-764E-340D-1CE8-4CCF01EB21BD}"/>
              </a:ext>
            </a:extLst>
          </p:cNvPr>
          <p:cNvSpPr>
            <a:spLocks noGrp="1"/>
          </p:cNvSpPr>
          <p:nvPr>
            <p:ph type="body" sz="half" idx="2"/>
          </p:nvPr>
        </p:nvSpPr>
        <p:spPr/>
        <p:txBody>
          <a:bodyPr/>
          <a:lstStyle/>
          <a:p>
            <a:endParaRPr lang="en-US" dirty="0"/>
          </a:p>
        </p:txBody>
      </p:sp>
      <p:pic>
        <p:nvPicPr>
          <p:cNvPr id="5" name="Google Shape;134;p25" descr="A black and white logo with a lion in a circle&#10;&#10;AI-generated content may be incorrect.">
            <a:extLst>
              <a:ext uri="{FF2B5EF4-FFF2-40B4-BE49-F238E27FC236}">
                <a16:creationId xmlns:a16="http://schemas.microsoft.com/office/drawing/2014/main" id="{90AECD3D-E432-74FA-4CD0-9A456E412358}"/>
              </a:ext>
            </a:extLst>
          </p:cNvPr>
          <p:cNvPicPr preferRelativeResize="0"/>
          <p:nvPr/>
        </p:nvPicPr>
        <p:blipFill rotWithShape="1">
          <a:blip r:embed="rId3"/>
          <a:srcRect t="15264" b="15257"/>
          <a:stretch/>
        </p:blipFill>
        <p:spPr>
          <a:xfrm>
            <a:off x="1696559" y="3965549"/>
            <a:ext cx="2632777" cy="1362773"/>
          </a:xfrm>
          <a:prstGeom prst="rect">
            <a:avLst/>
          </a:prstGeom>
          <a:noFill/>
        </p:spPr>
      </p:pic>
      <p:sp>
        <p:nvSpPr>
          <p:cNvPr id="7" name="TextBox 6">
            <a:extLst>
              <a:ext uri="{FF2B5EF4-FFF2-40B4-BE49-F238E27FC236}">
                <a16:creationId xmlns:a16="http://schemas.microsoft.com/office/drawing/2014/main" id="{F9C05C73-F321-A323-0C31-117828F09B11}"/>
              </a:ext>
            </a:extLst>
          </p:cNvPr>
          <p:cNvSpPr txBox="1"/>
          <p:nvPr/>
        </p:nvSpPr>
        <p:spPr>
          <a:xfrm>
            <a:off x="0" y="6488668"/>
            <a:ext cx="843501" cy="369332"/>
          </a:xfrm>
          <a:prstGeom prst="rect">
            <a:avLst/>
          </a:prstGeom>
          <a:noFill/>
        </p:spPr>
        <p:txBody>
          <a:bodyPr wrap="none" rtlCol="0">
            <a:spAutoFit/>
          </a:bodyPr>
          <a:lstStyle/>
          <a:p>
            <a:r>
              <a:rPr lang="en-US" dirty="0"/>
              <a:t>4 of 16</a:t>
            </a:r>
          </a:p>
        </p:txBody>
      </p:sp>
    </p:spTree>
    <p:extLst>
      <p:ext uri="{BB962C8B-B14F-4D97-AF65-F5344CB8AC3E}">
        <p14:creationId xmlns:p14="http://schemas.microsoft.com/office/powerpoint/2010/main" val="3301068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735F1-003B-719F-248A-AB2B2E4958FC}"/>
              </a:ext>
            </a:extLst>
          </p:cNvPr>
          <p:cNvSpPr>
            <a:spLocks noGrp="1"/>
          </p:cNvSpPr>
          <p:nvPr>
            <p:ph type="title"/>
          </p:nvPr>
        </p:nvSpPr>
        <p:spPr/>
        <p:txBody>
          <a:bodyPr/>
          <a:lstStyle/>
          <a:p>
            <a:r>
              <a:rPr lang="en-US" dirty="0"/>
              <a:t>Methodology</a:t>
            </a:r>
            <a:br>
              <a:rPr lang="en-US" dirty="0"/>
            </a:br>
            <a:r>
              <a:rPr lang="en-US" dirty="0"/>
              <a:t>(Time Series Analysis) </a:t>
            </a:r>
          </a:p>
        </p:txBody>
      </p:sp>
      <p:sp>
        <p:nvSpPr>
          <p:cNvPr id="3" name="Content Placeholder 2">
            <a:extLst>
              <a:ext uri="{FF2B5EF4-FFF2-40B4-BE49-F238E27FC236}">
                <a16:creationId xmlns:a16="http://schemas.microsoft.com/office/drawing/2014/main" id="{35AD6F6D-3E88-4E1C-E490-615B54588E31}"/>
              </a:ext>
            </a:extLst>
          </p:cNvPr>
          <p:cNvSpPr>
            <a:spLocks noGrp="1"/>
          </p:cNvSpPr>
          <p:nvPr>
            <p:ph sz="half" idx="1"/>
          </p:nvPr>
        </p:nvSpPr>
        <p:spPr/>
        <p:txBody>
          <a:bodyPr/>
          <a:lstStyle/>
          <a:p>
            <a:r>
              <a:rPr lang="en-US" dirty="0"/>
              <a:t>Stationarity Testing : </a:t>
            </a:r>
          </a:p>
          <a:p>
            <a:pPr marL="0" indent="0">
              <a:buNone/>
            </a:pPr>
            <a:r>
              <a:rPr lang="en-US" dirty="0"/>
              <a:t>         - We </a:t>
            </a:r>
            <a:r>
              <a:rPr lang="en-ZA" dirty="0"/>
              <a:t>Applied Augmented Dickey-Fuller (ADF) tests to confirm stationarity.</a:t>
            </a:r>
          </a:p>
          <a:p>
            <a:pPr marL="0" indent="0">
              <a:buNone/>
            </a:pPr>
            <a:r>
              <a:rPr lang="en-ZA" dirty="0"/>
              <a:t>         - Differenced non-stationary series to achieve stationarity.</a:t>
            </a:r>
            <a:endParaRPr lang="en-US" dirty="0"/>
          </a:p>
        </p:txBody>
      </p:sp>
      <p:sp>
        <p:nvSpPr>
          <p:cNvPr id="4" name="Content Placeholder 3">
            <a:extLst>
              <a:ext uri="{FF2B5EF4-FFF2-40B4-BE49-F238E27FC236}">
                <a16:creationId xmlns:a16="http://schemas.microsoft.com/office/drawing/2014/main" id="{F89AD893-4B7A-8478-D532-CB92C01CB035}"/>
              </a:ext>
            </a:extLst>
          </p:cNvPr>
          <p:cNvSpPr>
            <a:spLocks noGrp="1"/>
          </p:cNvSpPr>
          <p:nvPr>
            <p:ph sz="half" idx="2"/>
          </p:nvPr>
        </p:nvSpPr>
        <p:spPr/>
        <p:txBody>
          <a:bodyPr/>
          <a:lstStyle/>
          <a:p>
            <a:r>
              <a:rPr lang="en-ZA" dirty="0"/>
              <a:t>Transformations : </a:t>
            </a:r>
          </a:p>
          <a:p>
            <a:pPr marL="0" indent="0">
              <a:buNone/>
            </a:pPr>
            <a:r>
              <a:rPr lang="en-ZA" dirty="0"/>
              <a:t>             - Daily log returns calculated for stock prices.</a:t>
            </a:r>
            <a:endParaRPr lang="en-US" dirty="0"/>
          </a:p>
        </p:txBody>
      </p:sp>
      <p:sp>
        <p:nvSpPr>
          <p:cNvPr id="8" name="TextBox 7">
            <a:extLst>
              <a:ext uri="{FF2B5EF4-FFF2-40B4-BE49-F238E27FC236}">
                <a16:creationId xmlns:a16="http://schemas.microsoft.com/office/drawing/2014/main" id="{F418CEE7-4AEF-DF56-A003-D6BFD81C9792}"/>
              </a:ext>
            </a:extLst>
          </p:cNvPr>
          <p:cNvSpPr txBox="1"/>
          <p:nvPr/>
        </p:nvSpPr>
        <p:spPr>
          <a:xfrm>
            <a:off x="4470400" y="5979886"/>
            <a:ext cx="184731" cy="369332"/>
          </a:xfrm>
          <a:prstGeom prst="rect">
            <a:avLst/>
          </a:prstGeom>
          <a:noFill/>
        </p:spPr>
        <p:txBody>
          <a:bodyPr wrap="none" rtlCol="0">
            <a:spAutoFit/>
          </a:bodyPr>
          <a:lstStyle/>
          <a:p>
            <a:endParaRPr lang="en-US"/>
          </a:p>
        </p:txBody>
      </p:sp>
      <p:sp>
        <p:nvSpPr>
          <p:cNvPr id="9" name="Rectangle 1">
            <a:extLst>
              <a:ext uri="{FF2B5EF4-FFF2-40B4-BE49-F238E27FC236}">
                <a16:creationId xmlns:a16="http://schemas.microsoft.com/office/drawing/2014/main" id="{F2799FB7-A1E9-705E-6492-3046D93F0E76}"/>
              </a:ext>
            </a:extLst>
          </p:cNvPr>
          <p:cNvSpPr>
            <a:spLocks noChangeArrowheads="1"/>
          </p:cNvSpPr>
          <p:nvPr/>
        </p:nvSpPr>
        <p:spPr bwMode="auto">
          <a:xfrm>
            <a:off x="609600" y="54936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rPr>
              <a:t>Justification:</a:t>
            </a:r>
            <a:r>
              <a:rPr kumimoji="0" lang="en-US" altLang="en-US" sz="1800" b="0" i="0" u="none" strike="noStrike" cap="none" normalizeH="0" baseline="0" dirty="0">
                <a:ln>
                  <a:noFill/>
                </a:ln>
                <a:solidFill>
                  <a:srgbClr val="000000"/>
                </a:solidFill>
                <a:effectLst/>
                <a:latin typeface="-webkit-standard"/>
              </a:rPr>
              <a:t> Stationarity prevents spurious regressions; daily aggregation effective (Gujarati, 2003; Da et al., 2011)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B1755C9-4EC4-8938-DDD6-177AADCB4435}"/>
              </a:ext>
            </a:extLst>
          </p:cNvPr>
          <p:cNvSpPr txBox="1"/>
          <p:nvPr/>
        </p:nvSpPr>
        <p:spPr>
          <a:xfrm>
            <a:off x="0" y="6488668"/>
            <a:ext cx="843501" cy="369332"/>
          </a:xfrm>
          <a:prstGeom prst="rect">
            <a:avLst/>
          </a:prstGeom>
          <a:noFill/>
        </p:spPr>
        <p:txBody>
          <a:bodyPr wrap="none" rtlCol="0">
            <a:spAutoFit/>
          </a:bodyPr>
          <a:lstStyle/>
          <a:p>
            <a:r>
              <a:rPr lang="en-US" dirty="0"/>
              <a:t>5 of 16</a:t>
            </a:r>
          </a:p>
        </p:txBody>
      </p:sp>
    </p:spTree>
    <p:extLst>
      <p:ext uri="{BB962C8B-B14F-4D97-AF65-F5344CB8AC3E}">
        <p14:creationId xmlns:p14="http://schemas.microsoft.com/office/powerpoint/2010/main" val="336581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4CCE-0BD7-0D06-A1B2-EBDDFAFEEE45}"/>
              </a:ext>
            </a:extLst>
          </p:cNvPr>
          <p:cNvSpPr>
            <a:spLocks noGrp="1"/>
          </p:cNvSpPr>
          <p:nvPr>
            <p:ph type="title"/>
          </p:nvPr>
        </p:nvSpPr>
        <p:spPr>
          <a:xfrm>
            <a:off x="804672" y="964692"/>
            <a:ext cx="3066937" cy="1188720"/>
          </a:xfrm>
        </p:spPr>
        <p:txBody>
          <a:bodyPr>
            <a:normAutofit/>
          </a:bodyPr>
          <a:lstStyle/>
          <a:p>
            <a:r>
              <a:rPr lang="en-US" dirty="0"/>
              <a:t>Results and Insights</a:t>
            </a:r>
          </a:p>
        </p:txBody>
      </p:sp>
      <p:sp>
        <p:nvSpPr>
          <p:cNvPr id="9" name="Content Placeholder 8">
            <a:extLst>
              <a:ext uri="{FF2B5EF4-FFF2-40B4-BE49-F238E27FC236}">
                <a16:creationId xmlns:a16="http://schemas.microsoft.com/office/drawing/2014/main" id="{B96B3C2E-377D-E136-F591-A33EFC903216}"/>
              </a:ext>
            </a:extLst>
          </p:cNvPr>
          <p:cNvSpPr>
            <a:spLocks noGrp="1"/>
          </p:cNvSpPr>
          <p:nvPr>
            <p:ph idx="1"/>
          </p:nvPr>
        </p:nvSpPr>
        <p:spPr>
          <a:xfrm>
            <a:off x="803244" y="2465614"/>
            <a:ext cx="3063765" cy="3984172"/>
          </a:xfrm>
        </p:spPr>
        <p:txBody>
          <a:bodyPr>
            <a:normAutofit fontScale="92500" lnSpcReduction="20000"/>
          </a:bodyPr>
          <a:lstStyle/>
          <a:p>
            <a:r>
              <a:rPr lang="en-ZA" dirty="0"/>
              <a:t>ADF tests confirmed non-stationarity in levels of keywords and stock price.</a:t>
            </a:r>
          </a:p>
          <a:p>
            <a:r>
              <a:rPr lang="en-ZA" dirty="0"/>
              <a:t>Stationarity achieved for both variables after first differencing.</a:t>
            </a:r>
          </a:p>
          <a:p>
            <a:r>
              <a:rPr lang="en-GB" dirty="0">
                <a:solidFill>
                  <a:schemeClr val="dk1"/>
                </a:solidFill>
              </a:rPr>
              <a:t>Weekly Google search activity for “FirstRand” and “FNB” showed spikes around major</a:t>
            </a:r>
            <a:r>
              <a:rPr lang="en-GB" b="1" dirty="0">
                <a:solidFill>
                  <a:schemeClr val="dk1"/>
                </a:solidFill>
              </a:rPr>
              <a:t> </a:t>
            </a:r>
            <a:r>
              <a:rPr lang="en-GB" dirty="0">
                <a:solidFill>
                  <a:schemeClr val="dk1"/>
                </a:solidFill>
              </a:rPr>
              <a:t>market events (such as interest rate announcements, earnings releases).</a:t>
            </a:r>
          </a:p>
          <a:p>
            <a:r>
              <a:rPr lang="en-GB" dirty="0">
                <a:solidFill>
                  <a:schemeClr val="dk1"/>
                </a:solidFill>
              </a:rPr>
              <a:t>Suggests investor attention rises during periods of heightened financial news or volatility.</a:t>
            </a:r>
            <a:endParaRPr lang="en-US" dirty="0"/>
          </a:p>
        </p:txBody>
      </p:sp>
      <p:sp>
        <p:nvSpPr>
          <p:cNvPr id="12" name="Rectangle 11">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80;p30" title="Unknown.png">
            <a:extLst>
              <a:ext uri="{FF2B5EF4-FFF2-40B4-BE49-F238E27FC236}">
                <a16:creationId xmlns:a16="http://schemas.microsoft.com/office/drawing/2014/main" id="{DEDF7577-D6CB-66BA-9516-859FF61ED2FC}"/>
              </a:ext>
            </a:extLst>
          </p:cNvPr>
          <p:cNvPicPr preferRelativeResize="0">
            <a:picLocks/>
          </p:cNvPicPr>
          <p:nvPr/>
        </p:nvPicPr>
        <p:blipFill>
          <a:blip r:embed="rId3"/>
          <a:stretch>
            <a:fillRect/>
          </a:stretch>
        </p:blipFill>
        <p:spPr>
          <a:xfrm>
            <a:off x="4823366" y="1946260"/>
            <a:ext cx="6227064" cy="2973421"/>
          </a:xfrm>
          <a:prstGeom prst="rect">
            <a:avLst/>
          </a:prstGeom>
          <a:noFill/>
        </p:spPr>
      </p:pic>
      <p:sp>
        <p:nvSpPr>
          <p:cNvPr id="3" name="TextBox 2">
            <a:extLst>
              <a:ext uri="{FF2B5EF4-FFF2-40B4-BE49-F238E27FC236}">
                <a16:creationId xmlns:a16="http://schemas.microsoft.com/office/drawing/2014/main" id="{6BFCD5D7-F9B7-77E7-2EC0-92FE4066E93D}"/>
              </a:ext>
            </a:extLst>
          </p:cNvPr>
          <p:cNvSpPr txBox="1"/>
          <p:nvPr/>
        </p:nvSpPr>
        <p:spPr>
          <a:xfrm>
            <a:off x="0" y="6449786"/>
            <a:ext cx="843501" cy="369332"/>
          </a:xfrm>
          <a:prstGeom prst="rect">
            <a:avLst/>
          </a:prstGeom>
          <a:noFill/>
        </p:spPr>
        <p:txBody>
          <a:bodyPr wrap="none" rtlCol="0">
            <a:spAutoFit/>
          </a:bodyPr>
          <a:lstStyle/>
          <a:p>
            <a:r>
              <a:rPr lang="en-US" dirty="0"/>
              <a:t>6 of 16</a:t>
            </a:r>
          </a:p>
        </p:txBody>
      </p:sp>
    </p:spTree>
    <p:extLst>
      <p:ext uri="{BB962C8B-B14F-4D97-AF65-F5344CB8AC3E}">
        <p14:creationId xmlns:p14="http://schemas.microsoft.com/office/powerpoint/2010/main" val="2672585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00D7E0-1A79-CC30-6788-2E1AD292853A}"/>
              </a:ext>
            </a:extLst>
          </p:cNvPr>
          <p:cNvSpPr>
            <a:spLocks noGrp="1"/>
          </p:cNvSpPr>
          <p:nvPr>
            <p:ph type="body" idx="1"/>
          </p:nvPr>
        </p:nvSpPr>
        <p:spPr/>
        <p:txBody>
          <a:bodyPr/>
          <a:lstStyle/>
          <a:p>
            <a:r>
              <a:rPr lang="en-US" dirty="0"/>
              <a:t>Regression Analysis</a:t>
            </a:r>
          </a:p>
        </p:txBody>
      </p:sp>
      <p:sp>
        <p:nvSpPr>
          <p:cNvPr id="3" name="Content Placeholder 2">
            <a:extLst>
              <a:ext uri="{FF2B5EF4-FFF2-40B4-BE49-F238E27FC236}">
                <a16:creationId xmlns:a16="http://schemas.microsoft.com/office/drawing/2014/main" id="{73073E67-9687-440E-420B-14456580EDA8}"/>
              </a:ext>
            </a:extLst>
          </p:cNvPr>
          <p:cNvSpPr>
            <a:spLocks noGrp="1"/>
          </p:cNvSpPr>
          <p:nvPr>
            <p:ph sz="half" idx="2"/>
          </p:nvPr>
        </p:nvSpPr>
        <p:spPr/>
        <p:txBody>
          <a:bodyPr/>
          <a:lstStyle/>
          <a:p>
            <a:r>
              <a:rPr lang="en-GB" dirty="0">
                <a:solidFill>
                  <a:schemeClr val="dk1"/>
                </a:solidFill>
              </a:rPr>
              <a:t>The equation tested if the GSVI has an impact on stock closing prices.</a:t>
            </a:r>
          </a:p>
          <a:p>
            <a:r>
              <a:rPr lang="en-GB" dirty="0">
                <a:solidFill>
                  <a:schemeClr val="dk1"/>
                </a:solidFill>
              </a:rPr>
              <a:t>Tried to identify predictive links between the GSVI and the movement of the stock closing prices.</a:t>
            </a:r>
            <a:endParaRPr lang="en-US" dirty="0"/>
          </a:p>
        </p:txBody>
      </p:sp>
      <p:sp>
        <p:nvSpPr>
          <p:cNvPr id="4" name="Content Placeholder 3">
            <a:extLst>
              <a:ext uri="{FF2B5EF4-FFF2-40B4-BE49-F238E27FC236}">
                <a16:creationId xmlns:a16="http://schemas.microsoft.com/office/drawing/2014/main" id="{36325302-4346-86FF-0052-F25E1F19741C}"/>
              </a:ext>
            </a:extLst>
          </p:cNvPr>
          <p:cNvSpPr>
            <a:spLocks noGrp="1"/>
          </p:cNvSpPr>
          <p:nvPr>
            <p:ph sz="quarter" idx="4"/>
          </p:nvPr>
        </p:nvSpPr>
        <p:spPr/>
        <p:txBody>
          <a:bodyPr/>
          <a:lstStyle/>
          <a:p>
            <a:r>
              <a:rPr lang="en-GB" dirty="0">
                <a:solidFill>
                  <a:schemeClr val="dk1"/>
                </a:solidFill>
              </a:rPr>
              <a:t>Examined lead–lag dynamics between GSVI  and stock performance.</a:t>
            </a:r>
          </a:p>
          <a:p>
            <a:r>
              <a:rPr lang="en-GB" dirty="0">
                <a:solidFill>
                  <a:schemeClr val="dk1"/>
                </a:solidFill>
              </a:rPr>
              <a:t>Key question: </a:t>
            </a:r>
            <a:r>
              <a:rPr lang="en-GB" i="1" dirty="0">
                <a:solidFill>
                  <a:schemeClr val="dk1"/>
                </a:solidFill>
              </a:rPr>
              <a:t>Does investor attention predict stock changes, or react to them?</a:t>
            </a:r>
          </a:p>
          <a:p>
            <a:endParaRPr lang="en-US" dirty="0"/>
          </a:p>
        </p:txBody>
      </p:sp>
      <p:sp>
        <p:nvSpPr>
          <p:cNvPr id="5" name="Text Placeholder 4">
            <a:extLst>
              <a:ext uri="{FF2B5EF4-FFF2-40B4-BE49-F238E27FC236}">
                <a16:creationId xmlns:a16="http://schemas.microsoft.com/office/drawing/2014/main" id="{396887AB-62FC-317C-C349-EC863D4811AC}"/>
              </a:ext>
            </a:extLst>
          </p:cNvPr>
          <p:cNvSpPr>
            <a:spLocks noGrp="1"/>
          </p:cNvSpPr>
          <p:nvPr>
            <p:ph type="body" sz="quarter" idx="13"/>
          </p:nvPr>
        </p:nvSpPr>
        <p:spPr/>
        <p:txBody>
          <a:bodyPr/>
          <a:lstStyle/>
          <a:p>
            <a:r>
              <a:rPr lang="en-US" dirty="0"/>
              <a:t>Granger Causality Test</a:t>
            </a:r>
          </a:p>
        </p:txBody>
      </p:sp>
      <p:sp>
        <p:nvSpPr>
          <p:cNvPr id="6" name="Title 5">
            <a:extLst>
              <a:ext uri="{FF2B5EF4-FFF2-40B4-BE49-F238E27FC236}">
                <a16:creationId xmlns:a16="http://schemas.microsoft.com/office/drawing/2014/main" id="{93426137-4D42-05D5-648D-3EE87A6A65AE}"/>
              </a:ext>
            </a:extLst>
          </p:cNvPr>
          <p:cNvSpPr>
            <a:spLocks noGrp="1"/>
          </p:cNvSpPr>
          <p:nvPr>
            <p:ph type="title"/>
          </p:nvPr>
        </p:nvSpPr>
        <p:spPr/>
        <p:txBody>
          <a:bodyPr/>
          <a:lstStyle/>
          <a:p>
            <a:r>
              <a:rPr lang="en-US" dirty="0"/>
              <a:t>Methodology </a:t>
            </a:r>
            <a:br>
              <a:rPr lang="en-US" dirty="0"/>
            </a:br>
            <a:r>
              <a:rPr lang="en-US" dirty="0"/>
              <a:t>(Statistical Approach)</a:t>
            </a:r>
          </a:p>
        </p:txBody>
      </p:sp>
      <p:sp>
        <p:nvSpPr>
          <p:cNvPr id="8" name="TextBox 7">
            <a:extLst>
              <a:ext uri="{FF2B5EF4-FFF2-40B4-BE49-F238E27FC236}">
                <a16:creationId xmlns:a16="http://schemas.microsoft.com/office/drawing/2014/main" id="{8308F4F9-5ECE-CA24-A8B4-D7F59D42E1EB}"/>
              </a:ext>
            </a:extLst>
          </p:cNvPr>
          <p:cNvSpPr txBox="1"/>
          <p:nvPr/>
        </p:nvSpPr>
        <p:spPr>
          <a:xfrm>
            <a:off x="2513240" y="5540871"/>
            <a:ext cx="8078560" cy="704873"/>
          </a:xfrm>
          <a:prstGeom prst="rect">
            <a:avLst/>
          </a:prstGeom>
          <a:noFill/>
        </p:spPr>
        <p:txBody>
          <a:bodyPr wrap="square">
            <a:spAutoFit/>
          </a:bodyPr>
          <a:lstStyle/>
          <a:p>
            <a:pPr marL="615950" lvl="1" algn="l" rtl="0">
              <a:lnSpc>
                <a:spcPct val="115000"/>
              </a:lnSpc>
              <a:spcBef>
                <a:spcPts val="0"/>
              </a:spcBef>
              <a:spcAft>
                <a:spcPts val="0"/>
              </a:spcAft>
              <a:buClr>
                <a:schemeClr val="dk1"/>
              </a:buClr>
              <a:buSzPts val="1100"/>
            </a:pPr>
            <a:r>
              <a:rPr lang="en-GB" sz="1800" b="1" dirty="0">
                <a:solidFill>
                  <a:schemeClr val="dk1"/>
                </a:solidFill>
              </a:rPr>
              <a:t>Justification</a:t>
            </a:r>
            <a:r>
              <a:rPr lang="en-GB" sz="1800" dirty="0">
                <a:solidFill>
                  <a:schemeClr val="dk1"/>
                </a:solidFill>
              </a:rPr>
              <a:t>: These approaches have been commonly used in behavioural finance literature (Da et al., 2011; Bui &amp; Nguyen, 2019).</a:t>
            </a:r>
          </a:p>
        </p:txBody>
      </p:sp>
      <p:sp>
        <p:nvSpPr>
          <p:cNvPr id="7" name="TextBox 6">
            <a:extLst>
              <a:ext uri="{FF2B5EF4-FFF2-40B4-BE49-F238E27FC236}">
                <a16:creationId xmlns:a16="http://schemas.microsoft.com/office/drawing/2014/main" id="{6A7430E0-C32C-AB73-C0F6-3A42ECC0BFD0}"/>
              </a:ext>
            </a:extLst>
          </p:cNvPr>
          <p:cNvSpPr txBox="1"/>
          <p:nvPr/>
        </p:nvSpPr>
        <p:spPr>
          <a:xfrm>
            <a:off x="0" y="6488668"/>
            <a:ext cx="843501" cy="369332"/>
          </a:xfrm>
          <a:prstGeom prst="rect">
            <a:avLst/>
          </a:prstGeom>
          <a:noFill/>
        </p:spPr>
        <p:txBody>
          <a:bodyPr wrap="none" rtlCol="0">
            <a:spAutoFit/>
          </a:bodyPr>
          <a:lstStyle/>
          <a:p>
            <a:r>
              <a:rPr lang="en-US" dirty="0"/>
              <a:t>7 of 16</a:t>
            </a:r>
          </a:p>
        </p:txBody>
      </p:sp>
    </p:spTree>
    <p:extLst>
      <p:ext uri="{BB962C8B-B14F-4D97-AF65-F5344CB8AC3E}">
        <p14:creationId xmlns:p14="http://schemas.microsoft.com/office/powerpoint/2010/main" val="1256016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DCA398B-8CB4-4C0C-89C6-A8AB6F78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D6B446-E780-718F-4C29-17D2C7402A94}"/>
              </a:ext>
            </a:extLst>
          </p:cNvPr>
          <p:cNvSpPr>
            <a:spLocks noGrp="1"/>
          </p:cNvSpPr>
          <p:nvPr>
            <p:ph type="title"/>
          </p:nvPr>
        </p:nvSpPr>
        <p:spPr>
          <a:xfrm>
            <a:off x="804672" y="1290025"/>
            <a:ext cx="4475892" cy="1188720"/>
          </a:xfrm>
          <a:solidFill>
            <a:srgbClr val="FFFFFF"/>
          </a:solidFill>
          <a:ln>
            <a:solidFill>
              <a:srgbClr val="404040"/>
            </a:solidFill>
          </a:ln>
        </p:spPr>
        <p:txBody>
          <a:bodyPr vert="horz" lIns="182880" tIns="182880" rIns="182880" bIns="182880" rtlCol="0" anchor="ctr">
            <a:normAutofit/>
          </a:bodyPr>
          <a:lstStyle/>
          <a:p>
            <a:r>
              <a:rPr lang="en-US" sz="2800"/>
              <a:t>Regression Findings</a:t>
            </a:r>
          </a:p>
        </p:txBody>
      </p:sp>
      <p:sp>
        <p:nvSpPr>
          <p:cNvPr id="4" name="Text Placeholder 3">
            <a:extLst>
              <a:ext uri="{FF2B5EF4-FFF2-40B4-BE49-F238E27FC236}">
                <a16:creationId xmlns:a16="http://schemas.microsoft.com/office/drawing/2014/main" id="{F9F981D1-180B-133D-3F5B-35B0EB4864FE}"/>
              </a:ext>
            </a:extLst>
          </p:cNvPr>
          <p:cNvSpPr>
            <a:spLocks noGrp="1"/>
          </p:cNvSpPr>
          <p:nvPr>
            <p:ph type="body" sz="half" idx="2"/>
          </p:nvPr>
        </p:nvSpPr>
        <p:spPr>
          <a:xfrm>
            <a:off x="804672" y="2858703"/>
            <a:ext cx="4475892" cy="3042547"/>
          </a:xfrm>
        </p:spPr>
        <p:txBody>
          <a:bodyPr vert="horz" lIns="91440" tIns="45720" rIns="91440" bIns="45720" rtlCol="0">
            <a:normAutofit/>
          </a:bodyPr>
          <a:lstStyle/>
          <a:p>
            <a:pPr marL="285750" indent="-285750" algn="l">
              <a:buFont typeface="Arial" panose="020B0604020202020204" pitchFamily="34" charset="0"/>
              <a:buChar char="•"/>
            </a:pPr>
            <a:r>
              <a:rPr lang="en-GB" sz="1800" dirty="0">
                <a:solidFill>
                  <a:schemeClr val="dk1"/>
                </a:solidFill>
              </a:rPr>
              <a:t>Positive but statistically weak relationship between Google search activity and weekly returns.</a:t>
            </a:r>
          </a:p>
          <a:p>
            <a:pPr marL="285750" indent="-285750" algn="l">
              <a:buFont typeface="Arial" panose="020B0604020202020204" pitchFamily="34" charset="0"/>
              <a:buChar char="•"/>
            </a:pPr>
            <a:r>
              <a:rPr lang="en-GB" sz="1800" dirty="0">
                <a:solidFill>
                  <a:schemeClr val="dk1"/>
                </a:solidFill>
              </a:rPr>
              <a:t>Interpretation: investors tend to search more when trading activity increases, not necessarily before </a:t>
            </a:r>
            <a:r>
              <a:rPr lang="en-GB" sz="1800">
                <a:solidFill>
                  <a:schemeClr val="dk1"/>
                </a:solidFill>
              </a:rPr>
              <a:t>returns change.</a:t>
            </a:r>
            <a:endParaRPr lang="en-US" sz="1800" dirty="0"/>
          </a:p>
        </p:txBody>
      </p:sp>
      <p:sp>
        <p:nvSpPr>
          <p:cNvPr id="12" name="Rectangle 11">
            <a:extLst>
              <a:ext uri="{FF2B5EF4-FFF2-40B4-BE49-F238E27FC236}">
                <a16:creationId xmlns:a16="http://schemas.microsoft.com/office/drawing/2014/main" id="{9E8345C6-0280-4226-BD83-7333BA6C3A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9823778-D290-4538-B146-1F73C3755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843"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198;p32" title="Unknown-2.png">
            <a:extLst>
              <a:ext uri="{FF2B5EF4-FFF2-40B4-BE49-F238E27FC236}">
                <a16:creationId xmlns:a16="http://schemas.microsoft.com/office/drawing/2014/main" id="{057D7328-CD37-DA09-B81D-2A1FF518252F}"/>
              </a:ext>
            </a:extLst>
          </p:cNvPr>
          <p:cNvPicPr preferRelativeResize="0">
            <a:picLocks noGrp="1"/>
          </p:cNvPicPr>
          <p:nvPr>
            <p:ph type="pic" idx="1"/>
          </p:nvPr>
        </p:nvPicPr>
        <p:blipFill>
          <a:blip r:embed="rId3"/>
          <a:srcRect l="5344" r="10100" b="-1"/>
          <a:stretch>
            <a:fillRect/>
          </a:stretch>
        </p:blipFill>
        <p:spPr>
          <a:xfrm>
            <a:off x="7208520" y="1126397"/>
            <a:ext cx="3867912" cy="4288536"/>
          </a:xfrm>
          <a:prstGeom prst="rect">
            <a:avLst/>
          </a:prstGeom>
          <a:noFill/>
          <a:ln w="31750">
            <a:noFill/>
          </a:ln>
        </p:spPr>
      </p:pic>
      <p:sp>
        <p:nvSpPr>
          <p:cNvPr id="3" name="TextBox 2">
            <a:extLst>
              <a:ext uri="{FF2B5EF4-FFF2-40B4-BE49-F238E27FC236}">
                <a16:creationId xmlns:a16="http://schemas.microsoft.com/office/drawing/2014/main" id="{DCA90190-FF6C-95BF-4042-CE8295BABF57}"/>
              </a:ext>
            </a:extLst>
          </p:cNvPr>
          <p:cNvSpPr txBox="1"/>
          <p:nvPr/>
        </p:nvSpPr>
        <p:spPr>
          <a:xfrm>
            <a:off x="0" y="6488668"/>
            <a:ext cx="843501" cy="369332"/>
          </a:xfrm>
          <a:prstGeom prst="rect">
            <a:avLst/>
          </a:prstGeom>
          <a:noFill/>
        </p:spPr>
        <p:txBody>
          <a:bodyPr wrap="none" rtlCol="0">
            <a:spAutoFit/>
          </a:bodyPr>
          <a:lstStyle/>
          <a:p>
            <a:r>
              <a:rPr lang="en-US" dirty="0"/>
              <a:t>8 of 16</a:t>
            </a:r>
          </a:p>
        </p:txBody>
      </p:sp>
    </p:spTree>
    <p:extLst>
      <p:ext uri="{BB962C8B-B14F-4D97-AF65-F5344CB8AC3E}">
        <p14:creationId xmlns:p14="http://schemas.microsoft.com/office/powerpoint/2010/main" val="300956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B3555FF-6D32-F24C-915F-D549B35D2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2FF21-CD1E-DDBB-22D7-2F477559FD9C}"/>
              </a:ext>
            </a:extLst>
          </p:cNvPr>
          <p:cNvSpPr>
            <a:spLocks noGrp="1"/>
          </p:cNvSpPr>
          <p:nvPr>
            <p:ph type="title"/>
          </p:nvPr>
        </p:nvSpPr>
        <p:spPr>
          <a:xfrm>
            <a:off x="834511" y="150753"/>
            <a:ext cx="2286000" cy="3652552"/>
          </a:xfrm>
          <a:prstGeom prst="flowChartDocument">
            <a:avLst/>
          </a:prstGeom>
          <a:solidFill>
            <a:schemeClr val="accent2"/>
          </a:solidFill>
          <a:ln>
            <a:noFill/>
          </a:ln>
        </p:spPr>
        <p:txBody>
          <a:bodyPr vert="horz" lIns="182880" tIns="182880" rIns="182880" bIns="182880" rtlCol="0" anchor="ctr">
            <a:normAutofit/>
          </a:bodyPr>
          <a:lstStyle/>
          <a:p>
            <a:r>
              <a:rPr lang="en-US" sz="2000" dirty="0">
                <a:solidFill>
                  <a:srgbClr val="FFFFFF"/>
                </a:solidFill>
              </a:rPr>
              <a:t>Granger Causality Findings</a:t>
            </a:r>
          </a:p>
        </p:txBody>
      </p:sp>
      <p:sp>
        <p:nvSpPr>
          <p:cNvPr id="18" name="Flowchart: Document 17">
            <a:extLst>
              <a:ext uri="{FF2B5EF4-FFF2-40B4-BE49-F238E27FC236}">
                <a16:creationId xmlns:a16="http://schemas.microsoft.com/office/drawing/2014/main" id="{1E14715B-2E40-4760-AE23-026845A30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19" y="2121408"/>
            <a:ext cx="2615184" cy="2615184"/>
          </a:xfrm>
          <a:prstGeom prst="flowChartDocument">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D08429-4C7A-4C37-848C-C1613E31D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78017" y="640080"/>
            <a:ext cx="7662672"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D8F4B2B-96EA-4C0F-84D3-5728F7CF0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7181" y="802767"/>
            <a:ext cx="7324344" cy="49377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9" descr="A screenshot of a table&#10;&#10;AI-generated content may be incorrect.">
            <a:extLst>
              <a:ext uri="{FF2B5EF4-FFF2-40B4-BE49-F238E27FC236}">
                <a16:creationId xmlns:a16="http://schemas.microsoft.com/office/drawing/2014/main" id="{91F3AD4E-24B5-45F9-0B1E-67EE6BFAB7A6}"/>
              </a:ext>
            </a:extLst>
          </p:cNvPr>
          <p:cNvPicPr>
            <a:picLocks noGrp="1" noChangeAspect="1"/>
          </p:cNvPicPr>
          <p:nvPr>
            <p:ph type="pic" idx="1"/>
          </p:nvPr>
        </p:nvPicPr>
        <p:blipFill>
          <a:blip r:embed="rId3"/>
          <a:stretch>
            <a:fillRect/>
          </a:stretch>
        </p:blipFill>
        <p:spPr>
          <a:xfrm>
            <a:off x="3829756" y="919448"/>
            <a:ext cx="8362244" cy="4704397"/>
          </a:xfrm>
        </p:spPr>
      </p:pic>
      <p:sp>
        <p:nvSpPr>
          <p:cNvPr id="12" name="TextBox 11">
            <a:extLst>
              <a:ext uri="{FF2B5EF4-FFF2-40B4-BE49-F238E27FC236}">
                <a16:creationId xmlns:a16="http://schemas.microsoft.com/office/drawing/2014/main" id="{AD766225-D861-4D22-4840-9DA1C4712CC9}"/>
              </a:ext>
            </a:extLst>
          </p:cNvPr>
          <p:cNvSpPr txBox="1"/>
          <p:nvPr/>
        </p:nvSpPr>
        <p:spPr>
          <a:xfrm>
            <a:off x="443812" y="2255983"/>
            <a:ext cx="3055452" cy="2031325"/>
          </a:xfrm>
          <a:prstGeom prst="rect">
            <a:avLst/>
          </a:prstGeom>
          <a:noFill/>
        </p:spPr>
        <p:txBody>
          <a:bodyPr wrap="none" rtlCol="0">
            <a:spAutoFit/>
          </a:bodyPr>
          <a:lstStyle/>
          <a:p>
            <a:pPr marL="285750" indent="-285750">
              <a:buFont typeface="Arial" panose="020B0604020202020204" pitchFamily="34" charset="0"/>
              <a:buChar char="•"/>
            </a:pPr>
            <a:r>
              <a:rPr lang="en-ZA" dirty="0"/>
              <a:t>No strong evidence that </a:t>
            </a:r>
          </a:p>
          <a:p>
            <a:r>
              <a:rPr lang="en-ZA" dirty="0"/>
              <a:t>GSVI Granger-causes returns.</a:t>
            </a:r>
          </a:p>
          <a:p>
            <a:endParaRPr lang="en-ZA" dirty="0"/>
          </a:p>
          <a:p>
            <a:pPr marL="285750" indent="-285750">
              <a:buFont typeface="Arial" panose="020B0604020202020204" pitchFamily="34" charset="0"/>
              <a:buChar char="•"/>
            </a:pPr>
            <a:r>
              <a:rPr lang="en-ZA" dirty="0"/>
              <a:t>Little evidence that returns</a:t>
            </a:r>
          </a:p>
          <a:p>
            <a:r>
              <a:rPr lang="en-ZA" dirty="0"/>
              <a:t> Granger-cause search volume.</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12FA3190-69C5-D25F-4DC5-A16968F23DFD}"/>
              </a:ext>
            </a:extLst>
          </p:cNvPr>
          <p:cNvSpPr txBox="1"/>
          <p:nvPr/>
        </p:nvSpPr>
        <p:spPr>
          <a:xfrm>
            <a:off x="1333382" y="6182582"/>
            <a:ext cx="9525236" cy="369332"/>
          </a:xfrm>
          <a:prstGeom prst="rect">
            <a:avLst/>
          </a:prstGeom>
          <a:noFill/>
        </p:spPr>
        <p:txBody>
          <a:bodyPr wrap="none" rtlCol="0">
            <a:spAutoFit/>
          </a:bodyPr>
          <a:lstStyle/>
          <a:p>
            <a:r>
              <a:rPr lang="en-ZA" b="1" dirty="0"/>
              <a:t>Implications:</a:t>
            </a:r>
            <a:r>
              <a:rPr lang="en-ZA" dirty="0"/>
              <a:t> Attention tends to lag behind price activity; consistent with emerging market findings</a:t>
            </a:r>
            <a:endParaRPr lang="en-US" dirty="0"/>
          </a:p>
        </p:txBody>
      </p:sp>
      <p:sp>
        <p:nvSpPr>
          <p:cNvPr id="3" name="TextBox 2">
            <a:extLst>
              <a:ext uri="{FF2B5EF4-FFF2-40B4-BE49-F238E27FC236}">
                <a16:creationId xmlns:a16="http://schemas.microsoft.com/office/drawing/2014/main" id="{F44ED3A2-55A6-4EA1-F78B-7763D50A24B0}"/>
              </a:ext>
            </a:extLst>
          </p:cNvPr>
          <p:cNvSpPr txBox="1"/>
          <p:nvPr/>
        </p:nvSpPr>
        <p:spPr>
          <a:xfrm>
            <a:off x="0" y="6495210"/>
            <a:ext cx="843501" cy="369332"/>
          </a:xfrm>
          <a:prstGeom prst="rect">
            <a:avLst/>
          </a:prstGeom>
          <a:noFill/>
        </p:spPr>
        <p:txBody>
          <a:bodyPr wrap="none" rtlCol="0">
            <a:spAutoFit/>
          </a:bodyPr>
          <a:lstStyle/>
          <a:p>
            <a:r>
              <a:rPr lang="en-US" dirty="0"/>
              <a:t>9 of 16</a:t>
            </a:r>
          </a:p>
        </p:txBody>
      </p:sp>
    </p:spTree>
    <p:extLst>
      <p:ext uri="{BB962C8B-B14F-4D97-AF65-F5344CB8AC3E}">
        <p14:creationId xmlns:p14="http://schemas.microsoft.com/office/powerpoint/2010/main" val="3233569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E932-5DA3-8663-1154-88FE8A5B20F8}"/>
              </a:ext>
            </a:extLst>
          </p:cNvPr>
          <p:cNvSpPr>
            <a:spLocks noGrp="1"/>
          </p:cNvSpPr>
          <p:nvPr>
            <p:ph type="title"/>
          </p:nvPr>
        </p:nvSpPr>
        <p:spPr/>
        <p:txBody>
          <a:bodyPr/>
          <a:lstStyle/>
          <a:p>
            <a:r>
              <a:rPr lang="en-US" dirty="0"/>
              <a:t>Methodology</a:t>
            </a:r>
            <a:br>
              <a:rPr lang="en-US" dirty="0"/>
            </a:br>
            <a:r>
              <a:rPr lang="en-US" dirty="0"/>
              <a:t>(Machine learning approach)</a:t>
            </a:r>
          </a:p>
        </p:txBody>
      </p:sp>
      <p:graphicFrame>
        <p:nvGraphicFramePr>
          <p:cNvPr id="4" name="Content Placeholder 3">
            <a:extLst>
              <a:ext uri="{FF2B5EF4-FFF2-40B4-BE49-F238E27FC236}">
                <a16:creationId xmlns:a16="http://schemas.microsoft.com/office/drawing/2014/main" id="{FD47A9CD-3BBA-5649-5F92-E7F33E64A190}"/>
              </a:ext>
            </a:extLst>
          </p:cNvPr>
          <p:cNvGraphicFramePr>
            <a:graphicFrameLocks noGrp="1"/>
          </p:cNvGraphicFramePr>
          <p:nvPr>
            <p:ph idx="1"/>
            <p:extLst>
              <p:ext uri="{D42A27DB-BD31-4B8C-83A1-F6EECF244321}">
                <p14:modId xmlns:p14="http://schemas.microsoft.com/office/powerpoint/2010/main" val="70942025"/>
              </p:ext>
            </p:extLst>
          </p:nvPr>
        </p:nvGraphicFramePr>
        <p:xfrm>
          <a:off x="497303" y="2638424"/>
          <a:ext cx="11259268" cy="3178900"/>
        </p:xfrm>
        <a:graphic>
          <a:graphicData uri="http://schemas.openxmlformats.org/drawingml/2006/table">
            <a:tbl>
              <a:tblPr firstRow="1" bandRow="1">
                <a:tableStyleId>{21E4AEA4-8DFA-4A89-87EB-49C32662AFE0}</a:tableStyleId>
              </a:tblPr>
              <a:tblGrid>
                <a:gridCol w="2814817">
                  <a:extLst>
                    <a:ext uri="{9D8B030D-6E8A-4147-A177-3AD203B41FA5}">
                      <a16:colId xmlns:a16="http://schemas.microsoft.com/office/drawing/2014/main" val="1413550894"/>
                    </a:ext>
                  </a:extLst>
                </a:gridCol>
                <a:gridCol w="2814817">
                  <a:extLst>
                    <a:ext uri="{9D8B030D-6E8A-4147-A177-3AD203B41FA5}">
                      <a16:colId xmlns:a16="http://schemas.microsoft.com/office/drawing/2014/main" val="3757700185"/>
                    </a:ext>
                  </a:extLst>
                </a:gridCol>
                <a:gridCol w="2814817">
                  <a:extLst>
                    <a:ext uri="{9D8B030D-6E8A-4147-A177-3AD203B41FA5}">
                      <a16:colId xmlns:a16="http://schemas.microsoft.com/office/drawing/2014/main" val="1735914959"/>
                    </a:ext>
                  </a:extLst>
                </a:gridCol>
                <a:gridCol w="2814817">
                  <a:extLst>
                    <a:ext uri="{9D8B030D-6E8A-4147-A177-3AD203B41FA5}">
                      <a16:colId xmlns:a16="http://schemas.microsoft.com/office/drawing/2014/main" val="290178549"/>
                    </a:ext>
                  </a:extLst>
                </a:gridCol>
              </a:tblGrid>
              <a:tr h="491450">
                <a:tc>
                  <a:txBody>
                    <a:bodyPr/>
                    <a:lstStyle/>
                    <a:p>
                      <a:r>
                        <a:rPr lang="en-US" dirty="0">
                          <a:solidFill>
                            <a:schemeClr val="tx1"/>
                          </a:solidFill>
                        </a:rPr>
                        <a:t>MODEL</a:t>
                      </a:r>
                    </a:p>
                  </a:txBody>
                  <a:tcPr/>
                </a:tc>
                <a:tc>
                  <a:txBody>
                    <a:bodyPr/>
                    <a:lstStyle/>
                    <a:p>
                      <a:r>
                        <a:rPr lang="en-US" dirty="0">
                          <a:solidFill>
                            <a:schemeClr val="tx1"/>
                          </a:solidFill>
                        </a:rPr>
                        <a:t>HOW IT WORKS</a:t>
                      </a:r>
                    </a:p>
                  </a:txBody>
                  <a:tcPr/>
                </a:tc>
                <a:tc>
                  <a:txBody>
                    <a:bodyPr/>
                    <a:lstStyle/>
                    <a:p>
                      <a:r>
                        <a:rPr lang="en-US" dirty="0">
                          <a:solidFill>
                            <a:schemeClr val="tx1"/>
                          </a:solidFill>
                        </a:rPr>
                        <a:t>STRENGTHS</a:t>
                      </a:r>
                    </a:p>
                  </a:txBody>
                  <a:tcPr/>
                </a:tc>
                <a:tc>
                  <a:txBody>
                    <a:bodyPr/>
                    <a:lstStyle/>
                    <a:p>
                      <a:r>
                        <a:rPr lang="en-US" dirty="0">
                          <a:solidFill>
                            <a:schemeClr val="tx1"/>
                          </a:solidFill>
                        </a:rPr>
                        <a:t>WEAKNESSES</a:t>
                      </a:r>
                    </a:p>
                  </a:txBody>
                  <a:tcPr/>
                </a:tc>
                <a:extLst>
                  <a:ext uri="{0D108BD9-81ED-4DB2-BD59-A6C34878D82A}">
                    <a16:rowId xmlns:a16="http://schemas.microsoft.com/office/drawing/2014/main" val="2605850964"/>
                  </a:ext>
                </a:extLst>
              </a:tr>
              <a:tr h="761234">
                <a:tc>
                  <a:txBody>
                    <a:bodyPr/>
                    <a:lstStyle/>
                    <a:p>
                      <a:r>
                        <a:rPr lang="en-US" b="1" dirty="0"/>
                        <a:t>KNN</a:t>
                      </a:r>
                    </a:p>
                  </a:txBody>
                  <a:tcPr/>
                </a:tc>
                <a:tc>
                  <a:txBody>
                    <a:bodyPr/>
                    <a:lstStyle/>
                    <a:p>
                      <a:r>
                        <a:rPr lang="en-ZA" sz="1800" b="0" i="0" u="none" strike="noStrike" kern="1200" dirty="0">
                          <a:solidFill>
                            <a:schemeClr val="dk1"/>
                          </a:solidFill>
                          <a:effectLst/>
                          <a:latin typeface="+mn-lt"/>
                          <a:ea typeface="+mn-ea"/>
                          <a:cs typeface="+mn-cs"/>
                        </a:rPr>
                        <a:t>Pattern matching using nearest neighbours</a:t>
                      </a:r>
                      <a:endParaRPr lang="en-US" dirty="0"/>
                    </a:p>
                  </a:txBody>
                  <a:tcPr/>
                </a:tc>
                <a:tc>
                  <a:txBody>
                    <a:bodyPr/>
                    <a:lstStyle/>
                    <a:p>
                      <a:r>
                        <a:rPr lang="en-ZA" sz="1800" b="0" i="0" u="none" strike="noStrike" kern="1200" dirty="0">
                          <a:solidFill>
                            <a:schemeClr val="dk1"/>
                          </a:solidFill>
                          <a:effectLst/>
                          <a:latin typeface="+mn-lt"/>
                          <a:ea typeface="+mn-ea"/>
                          <a:cs typeface="+mn-cs"/>
                        </a:rPr>
                        <a:t>Simple, non-parametric</a:t>
                      </a:r>
                      <a:endParaRPr lang="en-US" dirty="0"/>
                    </a:p>
                  </a:txBody>
                  <a:tcPr/>
                </a:tc>
                <a:tc>
                  <a:txBody>
                    <a:bodyPr/>
                    <a:lstStyle/>
                    <a:p>
                      <a:r>
                        <a:rPr lang="en-ZA" sz="1800" b="0" i="0" u="none" strike="noStrike" kern="1200" dirty="0">
                          <a:solidFill>
                            <a:schemeClr val="dk1"/>
                          </a:solidFill>
                          <a:effectLst/>
                          <a:latin typeface="+mn-lt"/>
                          <a:ea typeface="+mn-ea"/>
                          <a:cs typeface="+mn-cs"/>
                        </a:rPr>
                        <a:t>Sensitive to noise</a:t>
                      </a:r>
                      <a:endParaRPr lang="en-US" dirty="0"/>
                    </a:p>
                  </a:txBody>
                  <a:tcPr/>
                </a:tc>
                <a:extLst>
                  <a:ext uri="{0D108BD9-81ED-4DB2-BD59-A6C34878D82A}">
                    <a16:rowId xmlns:a16="http://schemas.microsoft.com/office/drawing/2014/main" val="2736979233"/>
                  </a:ext>
                </a:extLst>
              </a:tr>
              <a:tr h="491450">
                <a:tc>
                  <a:txBody>
                    <a:bodyPr/>
                    <a:lstStyle/>
                    <a:p>
                      <a:r>
                        <a:rPr lang="en-US" b="1" dirty="0"/>
                        <a:t>RANDOM FOREST</a:t>
                      </a:r>
                    </a:p>
                  </a:txBody>
                  <a:tcPr/>
                </a:tc>
                <a:tc>
                  <a:txBody>
                    <a:bodyPr/>
                    <a:lstStyle/>
                    <a:p>
                      <a:r>
                        <a:rPr lang="en-ZA" sz="1800" b="0" i="0" u="none" strike="noStrike" kern="1200" dirty="0">
                          <a:solidFill>
                            <a:schemeClr val="dk1"/>
                          </a:solidFill>
                          <a:effectLst/>
                          <a:latin typeface="+mn-lt"/>
                          <a:ea typeface="+mn-ea"/>
                          <a:cs typeface="+mn-cs"/>
                        </a:rPr>
                        <a:t>Ensemble of decision trees</a:t>
                      </a:r>
                      <a:endParaRPr lang="en-US" dirty="0"/>
                    </a:p>
                  </a:txBody>
                  <a:tcPr/>
                </a:tc>
                <a:tc>
                  <a:txBody>
                    <a:bodyPr/>
                    <a:lstStyle/>
                    <a:p>
                      <a:r>
                        <a:rPr lang="en-ZA" sz="1800" b="0" i="0" u="none" strike="noStrike" kern="1200" dirty="0">
                          <a:solidFill>
                            <a:schemeClr val="dk1"/>
                          </a:solidFill>
                          <a:effectLst/>
                          <a:latin typeface="+mn-lt"/>
                          <a:ea typeface="+mn-ea"/>
                          <a:cs typeface="+mn-cs"/>
                        </a:rPr>
                        <a:t>Handles non-linearity well</a:t>
                      </a:r>
                      <a:endParaRPr lang="en-US" dirty="0"/>
                    </a:p>
                  </a:txBody>
                  <a:tcPr/>
                </a:tc>
                <a:tc>
                  <a:txBody>
                    <a:bodyPr/>
                    <a:lstStyle/>
                    <a:p>
                      <a:r>
                        <a:rPr lang="en-ZA" sz="1800" b="0" i="0" u="none" strike="noStrike" kern="1200" dirty="0">
                          <a:solidFill>
                            <a:schemeClr val="dk1"/>
                          </a:solidFill>
                          <a:effectLst/>
                          <a:latin typeface="+mn-lt"/>
                          <a:ea typeface="+mn-ea"/>
                          <a:cs typeface="+mn-cs"/>
                        </a:rPr>
                        <a:t>Can overfit on small data</a:t>
                      </a:r>
                      <a:endParaRPr lang="en-US" dirty="0"/>
                    </a:p>
                  </a:txBody>
                  <a:tcPr/>
                </a:tc>
                <a:extLst>
                  <a:ext uri="{0D108BD9-81ED-4DB2-BD59-A6C34878D82A}">
                    <a16:rowId xmlns:a16="http://schemas.microsoft.com/office/drawing/2014/main" val="4222234087"/>
                  </a:ext>
                </a:extLst>
              </a:tr>
              <a:tr h="673532">
                <a:tc>
                  <a:txBody>
                    <a:bodyPr/>
                    <a:lstStyle/>
                    <a:p>
                      <a:r>
                        <a:rPr lang="en-US" b="1" dirty="0"/>
                        <a:t>GRADIENT BOOSTING</a:t>
                      </a:r>
                    </a:p>
                  </a:txBody>
                  <a:tcPr/>
                </a:tc>
                <a:tc>
                  <a:txBody>
                    <a:bodyPr/>
                    <a:lstStyle/>
                    <a:p>
                      <a:r>
                        <a:rPr lang="en-ZA" sz="1800" b="0" i="0" u="none" strike="noStrike" kern="1200" dirty="0">
                          <a:solidFill>
                            <a:schemeClr val="dk1"/>
                          </a:solidFill>
                          <a:effectLst/>
                          <a:latin typeface="+mn-lt"/>
                          <a:ea typeface="+mn-ea"/>
                          <a:cs typeface="+mn-cs"/>
                        </a:rPr>
                        <a:t>Sequential tree building</a:t>
                      </a:r>
                      <a:endParaRPr lang="en-US" dirty="0"/>
                    </a:p>
                  </a:txBody>
                  <a:tcPr/>
                </a:tc>
                <a:tc>
                  <a:txBody>
                    <a:bodyPr/>
                    <a:lstStyle/>
                    <a:p>
                      <a:r>
                        <a:rPr lang="en-ZA" sz="1800" b="0" i="0" u="none" strike="noStrike" kern="1200" dirty="0">
                          <a:solidFill>
                            <a:schemeClr val="dk1"/>
                          </a:solidFill>
                          <a:effectLst/>
                          <a:latin typeface="+mn-lt"/>
                          <a:ea typeface="+mn-ea"/>
                          <a:cs typeface="+mn-cs"/>
                        </a:rPr>
                        <a:t>High accuracy potential</a:t>
                      </a:r>
                      <a:endParaRPr lang="en-US" dirty="0"/>
                    </a:p>
                  </a:txBody>
                  <a:tcPr/>
                </a:tc>
                <a:tc>
                  <a:txBody>
                    <a:bodyPr/>
                    <a:lstStyle/>
                    <a:p>
                      <a:r>
                        <a:rPr lang="en-ZA" sz="1800" b="0" i="0" u="none" strike="noStrike" kern="1200" dirty="0">
                          <a:solidFill>
                            <a:schemeClr val="dk1"/>
                          </a:solidFill>
                          <a:effectLst/>
                          <a:latin typeface="+mn-lt"/>
                          <a:ea typeface="+mn-ea"/>
                          <a:cs typeface="+mn-cs"/>
                        </a:rPr>
                        <a:t>Computationally intensive</a:t>
                      </a:r>
                      <a:endParaRPr lang="en-US" dirty="0"/>
                    </a:p>
                  </a:txBody>
                  <a:tcPr/>
                </a:tc>
                <a:extLst>
                  <a:ext uri="{0D108BD9-81ED-4DB2-BD59-A6C34878D82A}">
                    <a16:rowId xmlns:a16="http://schemas.microsoft.com/office/drawing/2014/main" val="4267274510"/>
                  </a:ext>
                </a:extLst>
              </a:tr>
              <a:tr h="761234">
                <a:tc>
                  <a:txBody>
                    <a:bodyPr/>
                    <a:lstStyle/>
                    <a:p>
                      <a:r>
                        <a:rPr lang="en-US" b="1" dirty="0"/>
                        <a:t>XGBOOST</a:t>
                      </a:r>
                    </a:p>
                  </a:txBody>
                  <a:tcPr/>
                </a:tc>
                <a:tc>
                  <a:txBody>
                    <a:bodyPr/>
                    <a:lstStyle/>
                    <a:p>
                      <a:r>
                        <a:rPr lang="en-ZA" sz="1800" b="0" i="0" u="none" strike="noStrike" kern="1200" dirty="0">
                          <a:solidFill>
                            <a:schemeClr val="dk1"/>
                          </a:solidFill>
                          <a:effectLst/>
                          <a:latin typeface="+mn-lt"/>
                          <a:ea typeface="+mn-ea"/>
                          <a:cs typeface="+mn-cs"/>
                        </a:rPr>
                        <a:t>Optimized gradient boosting</a:t>
                      </a:r>
                      <a:endParaRPr lang="en-US" dirty="0"/>
                    </a:p>
                  </a:txBody>
                  <a:tcPr/>
                </a:tc>
                <a:tc>
                  <a:txBody>
                    <a:bodyPr/>
                    <a:lstStyle/>
                    <a:p>
                      <a:r>
                        <a:rPr lang="en-ZA" sz="1800" b="0" i="0" u="none" strike="noStrike" kern="1200" dirty="0">
                          <a:solidFill>
                            <a:schemeClr val="dk1"/>
                          </a:solidFill>
                          <a:effectLst/>
                          <a:latin typeface="+mn-lt"/>
                          <a:ea typeface="+mn-ea"/>
                          <a:cs typeface="+mn-cs"/>
                        </a:rPr>
                        <a:t>Fast, efficient, robust</a:t>
                      </a:r>
                      <a:endParaRPr lang="en-US" dirty="0"/>
                    </a:p>
                  </a:txBody>
                  <a:tcPr/>
                </a:tc>
                <a:tc>
                  <a:txBody>
                    <a:bodyPr/>
                    <a:lstStyle/>
                    <a:p>
                      <a:r>
                        <a:rPr lang="en-ZA" sz="1800" b="0" i="0" u="none" strike="noStrike" kern="1200" dirty="0">
                          <a:solidFill>
                            <a:schemeClr val="dk1"/>
                          </a:solidFill>
                          <a:effectLst/>
                          <a:latin typeface="+mn-lt"/>
                          <a:ea typeface="+mn-ea"/>
                          <a:cs typeface="+mn-cs"/>
                        </a:rPr>
                        <a:t>Requires parameter tuning</a:t>
                      </a:r>
                      <a:endParaRPr lang="en-US" dirty="0"/>
                    </a:p>
                  </a:txBody>
                  <a:tcPr/>
                </a:tc>
                <a:extLst>
                  <a:ext uri="{0D108BD9-81ED-4DB2-BD59-A6C34878D82A}">
                    <a16:rowId xmlns:a16="http://schemas.microsoft.com/office/drawing/2014/main" val="655337623"/>
                  </a:ext>
                </a:extLst>
              </a:tr>
            </a:tbl>
          </a:graphicData>
        </a:graphic>
      </p:graphicFrame>
      <p:sp>
        <p:nvSpPr>
          <p:cNvPr id="3" name="TextBox 2">
            <a:extLst>
              <a:ext uri="{FF2B5EF4-FFF2-40B4-BE49-F238E27FC236}">
                <a16:creationId xmlns:a16="http://schemas.microsoft.com/office/drawing/2014/main" id="{146C9150-8E03-018A-3FBF-4DFDD3D63D3F}"/>
              </a:ext>
            </a:extLst>
          </p:cNvPr>
          <p:cNvSpPr txBox="1"/>
          <p:nvPr/>
        </p:nvSpPr>
        <p:spPr>
          <a:xfrm>
            <a:off x="0" y="6488668"/>
            <a:ext cx="958917" cy="369332"/>
          </a:xfrm>
          <a:prstGeom prst="rect">
            <a:avLst/>
          </a:prstGeom>
          <a:noFill/>
        </p:spPr>
        <p:txBody>
          <a:bodyPr wrap="none" rtlCol="0">
            <a:spAutoFit/>
          </a:bodyPr>
          <a:lstStyle/>
          <a:p>
            <a:r>
              <a:rPr lang="en-US" dirty="0"/>
              <a:t>10 of 16</a:t>
            </a:r>
          </a:p>
        </p:txBody>
      </p:sp>
    </p:spTree>
    <p:extLst>
      <p:ext uri="{BB962C8B-B14F-4D97-AF65-F5344CB8AC3E}">
        <p14:creationId xmlns:p14="http://schemas.microsoft.com/office/powerpoint/2010/main" val="1107403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193E-686B-33F6-E383-B7EFFBD7B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193A8-CC94-7D42-127D-0FC9A45140E0}"/>
              </a:ext>
            </a:extLst>
          </p:cNvPr>
          <p:cNvSpPr>
            <a:spLocks noGrp="1"/>
          </p:cNvSpPr>
          <p:nvPr>
            <p:ph type="title"/>
          </p:nvPr>
        </p:nvSpPr>
        <p:spPr/>
        <p:txBody>
          <a:bodyPr/>
          <a:lstStyle/>
          <a:p>
            <a:r>
              <a:rPr lang="en-US" dirty="0"/>
              <a:t>Methodology</a:t>
            </a:r>
            <a:br>
              <a:rPr lang="en-US" dirty="0"/>
            </a:br>
            <a:r>
              <a:rPr lang="en-US" dirty="0"/>
              <a:t>(REGRESSION PERFOMANCE METRICS)</a:t>
            </a:r>
          </a:p>
        </p:txBody>
      </p:sp>
      <p:graphicFrame>
        <p:nvGraphicFramePr>
          <p:cNvPr id="8" name="Content Placeholder 7">
            <a:extLst>
              <a:ext uri="{FF2B5EF4-FFF2-40B4-BE49-F238E27FC236}">
                <a16:creationId xmlns:a16="http://schemas.microsoft.com/office/drawing/2014/main" id="{40DACEEE-95CD-46CD-FBF5-5CEBF552F160}"/>
              </a:ext>
            </a:extLst>
          </p:cNvPr>
          <p:cNvGraphicFramePr>
            <a:graphicFrameLocks noGrp="1"/>
          </p:cNvGraphicFramePr>
          <p:nvPr>
            <p:ph idx="1"/>
            <p:extLst>
              <p:ext uri="{D42A27DB-BD31-4B8C-83A1-F6EECF244321}">
                <p14:modId xmlns:p14="http://schemas.microsoft.com/office/powerpoint/2010/main" val="1149118355"/>
              </p:ext>
            </p:extLst>
          </p:nvPr>
        </p:nvGraphicFramePr>
        <p:xfrm>
          <a:off x="194190" y="2654467"/>
          <a:ext cx="11803619" cy="3070496"/>
        </p:xfrm>
        <a:graphic>
          <a:graphicData uri="http://schemas.openxmlformats.org/drawingml/2006/table">
            <a:tbl>
              <a:tblPr firstRow="1" bandRow="1">
                <a:tableStyleId>{21E4AEA4-8DFA-4A89-87EB-49C32662AFE0}</a:tableStyleId>
              </a:tblPr>
              <a:tblGrid>
                <a:gridCol w="1780674">
                  <a:extLst>
                    <a:ext uri="{9D8B030D-6E8A-4147-A177-3AD203B41FA5}">
                      <a16:colId xmlns:a16="http://schemas.microsoft.com/office/drawing/2014/main" val="1624930127"/>
                    </a:ext>
                  </a:extLst>
                </a:gridCol>
                <a:gridCol w="1767287">
                  <a:extLst>
                    <a:ext uri="{9D8B030D-6E8A-4147-A177-3AD203B41FA5}">
                      <a16:colId xmlns:a16="http://schemas.microsoft.com/office/drawing/2014/main" val="1047850214"/>
                    </a:ext>
                  </a:extLst>
                </a:gridCol>
                <a:gridCol w="1375943">
                  <a:extLst>
                    <a:ext uri="{9D8B030D-6E8A-4147-A177-3AD203B41FA5}">
                      <a16:colId xmlns:a16="http://schemas.microsoft.com/office/drawing/2014/main" val="3967809942"/>
                    </a:ext>
                  </a:extLst>
                </a:gridCol>
                <a:gridCol w="1375943">
                  <a:extLst>
                    <a:ext uri="{9D8B030D-6E8A-4147-A177-3AD203B41FA5}">
                      <a16:colId xmlns:a16="http://schemas.microsoft.com/office/drawing/2014/main" val="2076382350"/>
                    </a:ext>
                  </a:extLst>
                </a:gridCol>
                <a:gridCol w="1375943">
                  <a:extLst>
                    <a:ext uri="{9D8B030D-6E8A-4147-A177-3AD203B41FA5}">
                      <a16:colId xmlns:a16="http://schemas.microsoft.com/office/drawing/2014/main" val="482706356"/>
                    </a:ext>
                  </a:extLst>
                </a:gridCol>
                <a:gridCol w="1375943">
                  <a:extLst>
                    <a:ext uri="{9D8B030D-6E8A-4147-A177-3AD203B41FA5}">
                      <a16:colId xmlns:a16="http://schemas.microsoft.com/office/drawing/2014/main" val="3007200527"/>
                    </a:ext>
                  </a:extLst>
                </a:gridCol>
                <a:gridCol w="1375943">
                  <a:extLst>
                    <a:ext uri="{9D8B030D-6E8A-4147-A177-3AD203B41FA5}">
                      <a16:colId xmlns:a16="http://schemas.microsoft.com/office/drawing/2014/main" val="3263714516"/>
                    </a:ext>
                  </a:extLst>
                </a:gridCol>
                <a:gridCol w="1375943">
                  <a:extLst>
                    <a:ext uri="{9D8B030D-6E8A-4147-A177-3AD203B41FA5}">
                      <a16:colId xmlns:a16="http://schemas.microsoft.com/office/drawing/2014/main" val="3971664877"/>
                    </a:ext>
                  </a:extLst>
                </a:gridCol>
              </a:tblGrid>
              <a:tr h="582843">
                <a:tc>
                  <a:txBody>
                    <a:bodyPr/>
                    <a:lstStyle/>
                    <a:p>
                      <a:pPr marL="0" lvl="0" indent="0" algn="ctr" rtl="0">
                        <a:spcBef>
                          <a:spcPts val="0"/>
                        </a:spcBef>
                        <a:spcAft>
                          <a:spcPts val="0"/>
                        </a:spcAft>
                        <a:buNone/>
                      </a:pPr>
                      <a:r>
                        <a:rPr lang="en-GB" sz="1800" b="1">
                          <a:solidFill>
                            <a:schemeClr val="dk1"/>
                          </a:solidFill>
                        </a:rPr>
                        <a:t>Model</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Train RMSE</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Test RMSE</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Train MAE</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Test MAE</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Test MAPE (%)</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Train R²</a:t>
                      </a:r>
                      <a:endParaRPr sz="1800" b="1">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b="1">
                          <a:solidFill>
                            <a:schemeClr val="dk1"/>
                          </a:solidFill>
                        </a:rPr>
                        <a:t>Test R²</a:t>
                      </a:r>
                      <a:endParaRPr sz="1800" b="1">
                        <a:solidFill>
                          <a:schemeClr val="dk1"/>
                        </a:solidFill>
                      </a:endParaRPr>
                    </a:p>
                  </a:txBody>
                  <a:tcPr marL="66675" marR="66675" marT="66675" marB="66675"/>
                </a:tc>
                <a:extLst>
                  <a:ext uri="{0D108BD9-81ED-4DB2-BD59-A6C34878D82A}">
                    <a16:rowId xmlns:a16="http://schemas.microsoft.com/office/drawing/2014/main" val="3401400646"/>
                  </a:ext>
                </a:extLst>
              </a:tr>
              <a:tr h="530188">
                <a:tc>
                  <a:txBody>
                    <a:bodyPr/>
                    <a:lstStyle/>
                    <a:p>
                      <a:pPr marL="0" lvl="0" indent="0" algn="ctr" rtl="0">
                        <a:lnSpc>
                          <a:spcPct val="115000"/>
                        </a:lnSpc>
                        <a:spcBef>
                          <a:spcPts val="0"/>
                        </a:spcBef>
                        <a:spcAft>
                          <a:spcPts val="0"/>
                        </a:spcAft>
                        <a:buNone/>
                      </a:pPr>
                      <a:r>
                        <a:rPr lang="en-GB" sz="1800" b="1">
                          <a:solidFill>
                            <a:schemeClr val="dk1"/>
                          </a:solidFill>
                        </a:rPr>
                        <a:t>KNN</a:t>
                      </a:r>
                      <a:endParaRPr sz="1800" b="1">
                        <a:solidFill>
                          <a:schemeClr val="dk1"/>
                        </a:solidFill>
                      </a:endParaRPr>
                    </a:p>
                  </a:txBody>
                  <a:tcPr marL="66675" marR="66675" marT="66675" marB="66675" anchor="ctr"/>
                </a:tc>
                <a:tc>
                  <a:txBody>
                    <a:bodyPr/>
                    <a:lstStyle/>
                    <a:p>
                      <a:pPr marL="0" lvl="0" indent="0" algn="r" rtl="0">
                        <a:lnSpc>
                          <a:spcPct val="115000"/>
                        </a:lnSpc>
                        <a:spcBef>
                          <a:spcPts val="0"/>
                        </a:spcBef>
                        <a:spcAft>
                          <a:spcPts val="0"/>
                        </a:spcAft>
                        <a:buNone/>
                      </a:pPr>
                      <a:r>
                        <a:rPr lang="en-GB" sz="1800" dirty="0">
                          <a:solidFill>
                            <a:schemeClr val="dk1"/>
                          </a:solidFill>
                        </a:rPr>
                        <a:t>0.0000</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100.8229</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0.0000</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75.4716</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118.5576</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1.0000</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-0.0770</a:t>
                      </a:r>
                      <a:endParaRPr sz="1800">
                        <a:solidFill>
                          <a:schemeClr val="dk1"/>
                        </a:solidFill>
                      </a:endParaRPr>
                    </a:p>
                  </a:txBody>
                  <a:tcPr marL="66675" marR="66675" marT="66675" marB="66675"/>
                </a:tc>
                <a:extLst>
                  <a:ext uri="{0D108BD9-81ED-4DB2-BD59-A6C34878D82A}">
                    <a16:rowId xmlns:a16="http://schemas.microsoft.com/office/drawing/2014/main" val="1797021065"/>
                  </a:ext>
                </a:extLst>
              </a:tr>
              <a:tr h="530188">
                <a:tc>
                  <a:txBody>
                    <a:bodyPr/>
                    <a:lstStyle/>
                    <a:p>
                      <a:pPr marL="0" lvl="0" indent="0" algn="ctr" rtl="0">
                        <a:lnSpc>
                          <a:spcPct val="115000"/>
                        </a:lnSpc>
                        <a:spcBef>
                          <a:spcPts val="0"/>
                        </a:spcBef>
                        <a:spcAft>
                          <a:spcPts val="0"/>
                        </a:spcAft>
                        <a:buNone/>
                      </a:pPr>
                      <a:r>
                        <a:rPr lang="en-GB" sz="1800" b="1" dirty="0">
                          <a:solidFill>
                            <a:schemeClr val="dk1"/>
                          </a:solidFill>
                        </a:rPr>
                        <a:t>Random Forest</a:t>
                      </a:r>
                      <a:endParaRPr sz="1800" b="1" dirty="0">
                        <a:solidFill>
                          <a:schemeClr val="dk1"/>
                        </a:solidFill>
                      </a:endParaRPr>
                    </a:p>
                  </a:txBody>
                  <a:tcPr marL="66675" marR="66675" marT="66675" marB="66675" anchor="ctr"/>
                </a:tc>
                <a:tc>
                  <a:txBody>
                    <a:bodyPr/>
                    <a:lstStyle/>
                    <a:p>
                      <a:pPr marL="0" lvl="0" indent="0" algn="r" rtl="0">
                        <a:lnSpc>
                          <a:spcPct val="115000"/>
                        </a:lnSpc>
                        <a:spcBef>
                          <a:spcPts val="0"/>
                        </a:spcBef>
                        <a:spcAft>
                          <a:spcPts val="0"/>
                        </a:spcAft>
                        <a:buNone/>
                      </a:pPr>
                      <a:r>
                        <a:rPr lang="en-GB" sz="1800">
                          <a:solidFill>
                            <a:schemeClr val="dk1"/>
                          </a:solidFill>
                        </a:rPr>
                        <a:t>86.1928</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96.4263</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65.0821</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73.2154</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109.5739</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0.2639</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0.0149</a:t>
                      </a:r>
                      <a:endParaRPr sz="1800">
                        <a:solidFill>
                          <a:schemeClr val="dk1"/>
                        </a:solidFill>
                      </a:endParaRPr>
                    </a:p>
                  </a:txBody>
                  <a:tcPr marL="66675" marR="66675" marT="66675" marB="66675"/>
                </a:tc>
                <a:extLst>
                  <a:ext uri="{0D108BD9-81ED-4DB2-BD59-A6C34878D82A}">
                    <a16:rowId xmlns:a16="http://schemas.microsoft.com/office/drawing/2014/main" val="1652093908"/>
                  </a:ext>
                </a:extLst>
              </a:tr>
              <a:tr h="530188">
                <a:tc>
                  <a:txBody>
                    <a:bodyPr/>
                    <a:lstStyle/>
                    <a:p>
                      <a:pPr marL="0" lvl="0" indent="0" algn="ctr" rtl="0">
                        <a:lnSpc>
                          <a:spcPct val="115000"/>
                        </a:lnSpc>
                        <a:spcBef>
                          <a:spcPts val="0"/>
                        </a:spcBef>
                        <a:spcAft>
                          <a:spcPts val="0"/>
                        </a:spcAft>
                        <a:buNone/>
                      </a:pPr>
                      <a:r>
                        <a:rPr lang="en-GB" sz="1800" b="1">
                          <a:solidFill>
                            <a:schemeClr val="dk1"/>
                          </a:solidFill>
                        </a:rPr>
                        <a:t>XGBoost</a:t>
                      </a:r>
                      <a:endParaRPr sz="1800" b="1">
                        <a:solidFill>
                          <a:schemeClr val="dk1"/>
                        </a:solidFill>
                      </a:endParaRPr>
                    </a:p>
                  </a:txBody>
                  <a:tcPr marL="66675" marR="66675" marT="66675" marB="66675" anchor="ctr"/>
                </a:tc>
                <a:tc>
                  <a:txBody>
                    <a:bodyPr/>
                    <a:lstStyle/>
                    <a:p>
                      <a:pPr marL="0" lvl="0" indent="0" algn="r" rtl="0">
                        <a:lnSpc>
                          <a:spcPct val="115000"/>
                        </a:lnSpc>
                        <a:spcBef>
                          <a:spcPts val="0"/>
                        </a:spcBef>
                        <a:spcAft>
                          <a:spcPts val="0"/>
                        </a:spcAft>
                        <a:buNone/>
                      </a:pPr>
                      <a:r>
                        <a:rPr lang="en-GB" sz="1800">
                          <a:solidFill>
                            <a:schemeClr val="dk1"/>
                          </a:solidFill>
                        </a:rPr>
                        <a:t>73.4267</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94.5012</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56.7928</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73.7905</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135.6214</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0.4658</a:t>
                      </a:r>
                      <a:endParaRPr sz="180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a:solidFill>
                            <a:schemeClr val="dk1"/>
                          </a:solidFill>
                        </a:rPr>
                        <a:t>0.0538</a:t>
                      </a:r>
                      <a:endParaRPr sz="1800">
                        <a:solidFill>
                          <a:schemeClr val="dk1"/>
                        </a:solidFill>
                      </a:endParaRPr>
                    </a:p>
                  </a:txBody>
                  <a:tcPr marL="66675" marR="66675" marT="66675" marB="66675"/>
                </a:tc>
                <a:extLst>
                  <a:ext uri="{0D108BD9-81ED-4DB2-BD59-A6C34878D82A}">
                    <a16:rowId xmlns:a16="http://schemas.microsoft.com/office/drawing/2014/main" val="2547541558"/>
                  </a:ext>
                </a:extLst>
              </a:tr>
              <a:tr h="530188">
                <a:tc>
                  <a:txBody>
                    <a:bodyPr/>
                    <a:lstStyle/>
                    <a:p>
                      <a:pPr marL="0" lvl="0" indent="0" algn="ctr" rtl="0">
                        <a:lnSpc>
                          <a:spcPct val="115000"/>
                        </a:lnSpc>
                        <a:spcBef>
                          <a:spcPts val="0"/>
                        </a:spcBef>
                        <a:spcAft>
                          <a:spcPts val="0"/>
                        </a:spcAft>
                        <a:buNone/>
                      </a:pPr>
                      <a:r>
                        <a:rPr lang="en-GB" sz="1800" b="1" dirty="0">
                          <a:solidFill>
                            <a:schemeClr val="dk1"/>
                          </a:solidFill>
                        </a:rPr>
                        <a:t>Gradient Boosting</a:t>
                      </a:r>
                      <a:endParaRPr sz="1800" b="1" dirty="0">
                        <a:solidFill>
                          <a:schemeClr val="dk1"/>
                        </a:solidFill>
                      </a:endParaRPr>
                    </a:p>
                  </a:txBody>
                  <a:tcPr marL="66675" marR="66675" marT="66675" marB="66675" anchor="ctr"/>
                </a:tc>
                <a:tc>
                  <a:txBody>
                    <a:bodyPr/>
                    <a:lstStyle/>
                    <a:p>
                      <a:pPr marL="0" lvl="0" indent="0" algn="r" rtl="0">
                        <a:lnSpc>
                          <a:spcPct val="115000"/>
                        </a:lnSpc>
                        <a:spcBef>
                          <a:spcPts val="0"/>
                        </a:spcBef>
                        <a:spcAft>
                          <a:spcPts val="0"/>
                        </a:spcAft>
                        <a:buNone/>
                      </a:pPr>
                      <a:r>
                        <a:rPr lang="en-GB" sz="1800" dirty="0">
                          <a:solidFill>
                            <a:schemeClr val="dk1"/>
                          </a:solidFill>
                        </a:rPr>
                        <a:t>76.5292</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97.4054</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58.6658</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76.3615</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131.9190</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0.4197</a:t>
                      </a:r>
                      <a:endParaRPr sz="1800" dirty="0">
                        <a:solidFill>
                          <a:schemeClr val="dk1"/>
                        </a:solidFill>
                      </a:endParaRPr>
                    </a:p>
                  </a:txBody>
                  <a:tcPr marL="66675" marR="66675" marT="66675" marB="66675"/>
                </a:tc>
                <a:tc>
                  <a:txBody>
                    <a:bodyPr/>
                    <a:lstStyle/>
                    <a:p>
                      <a:pPr marL="0" lvl="0" indent="0" algn="r" rtl="0">
                        <a:lnSpc>
                          <a:spcPct val="115000"/>
                        </a:lnSpc>
                        <a:spcBef>
                          <a:spcPts val="0"/>
                        </a:spcBef>
                        <a:spcAft>
                          <a:spcPts val="0"/>
                        </a:spcAft>
                        <a:buNone/>
                      </a:pPr>
                      <a:r>
                        <a:rPr lang="en-GB" sz="1800" dirty="0">
                          <a:solidFill>
                            <a:schemeClr val="dk1"/>
                          </a:solidFill>
                        </a:rPr>
                        <a:t>-0.0052</a:t>
                      </a:r>
                      <a:endParaRPr sz="1800" dirty="0">
                        <a:solidFill>
                          <a:schemeClr val="dk1"/>
                        </a:solidFill>
                      </a:endParaRPr>
                    </a:p>
                  </a:txBody>
                  <a:tcPr marL="66675" marR="66675" marT="66675" marB="66675"/>
                </a:tc>
                <a:extLst>
                  <a:ext uri="{0D108BD9-81ED-4DB2-BD59-A6C34878D82A}">
                    <a16:rowId xmlns:a16="http://schemas.microsoft.com/office/drawing/2014/main" val="484480656"/>
                  </a:ext>
                </a:extLst>
              </a:tr>
            </a:tbl>
          </a:graphicData>
        </a:graphic>
      </p:graphicFrame>
      <p:sp>
        <p:nvSpPr>
          <p:cNvPr id="3" name="TextBox 2">
            <a:extLst>
              <a:ext uri="{FF2B5EF4-FFF2-40B4-BE49-F238E27FC236}">
                <a16:creationId xmlns:a16="http://schemas.microsoft.com/office/drawing/2014/main" id="{FD3D0C8B-634A-1B25-0A40-7937900E5E96}"/>
              </a:ext>
            </a:extLst>
          </p:cNvPr>
          <p:cNvSpPr txBox="1"/>
          <p:nvPr/>
        </p:nvSpPr>
        <p:spPr>
          <a:xfrm>
            <a:off x="0" y="6488668"/>
            <a:ext cx="958917" cy="369332"/>
          </a:xfrm>
          <a:prstGeom prst="rect">
            <a:avLst/>
          </a:prstGeom>
          <a:noFill/>
        </p:spPr>
        <p:txBody>
          <a:bodyPr wrap="none" rtlCol="0">
            <a:spAutoFit/>
          </a:bodyPr>
          <a:lstStyle/>
          <a:p>
            <a:r>
              <a:rPr lang="en-US" dirty="0"/>
              <a:t>11 of 16</a:t>
            </a:r>
          </a:p>
        </p:txBody>
      </p:sp>
    </p:spTree>
    <p:extLst>
      <p:ext uri="{BB962C8B-B14F-4D97-AF65-F5344CB8AC3E}">
        <p14:creationId xmlns:p14="http://schemas.microsoft.com/office/powerpoint/2010/main" val="3254553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0FC06A-D0B2-7D85-7B90-1B4F090CEFED}"/>
              </a:ext>
            </a:extLst>
          </p:cNvPr>
          <p:cNvSpPr>
            <a:spLocks noGrp="1"/>
          </p:cNvSpPr>
          <p:nvPr>
            <p:ph type="body" idx="1"/>
          </p:nvPr>
        </p:nvSpPr>
        <p:spPr>
          <a:xfrm>
            <a:off x="3348067" y="1881379"/>
            <a:ext cx="4270248" cy="704087"/>
          </a:xfrm>
        </p:spPr>
        <p:txBody>
          <a:bodyPr/>
          <a:lstStyle/>
          <a:p>
            <a:r>
              <a:rPr lang="en-US" dirty="0"/>
              <a:t>CLASSIFICATION PERFORMANCE </a:t>
            </a:r>
          </a:p>
        </p:txBody>
      </p:sp>
      <p:graphicFrame>
        <p:nvGraphicFramePr>
          <p:cNvPr id="8" name="Content Placeholder 7">
            <a:extLst>
              <a:ext uri="{FF2B5EF4-FFF2-40B4-BE49-F238E27FC236}">
                <a16:creationId xmlns:a16="http://schemas.microsoft.com/office/drawing/2014/main" id="{FDBDE744-A18B-6361-1D82-8F0F0B4485FC}"/>
              </a:ext>
            </a:extLst>
          </p:cNvPr>
          <p:cNvGraphicFramePr>
            <a:graphicFrameLocks noGrp="1"/>
          </p:cNvGraphicFramePr>
          <p:nvPr>
            <p:ph sz="half" idx="2"/>
            <p:extLst>
              <p:ext uri="{D42A27DB-BD31-4B8C-83A1-F6EECF244321}">
                <p14:modId xmlns:p14="http://schemas.microsoft.com/office/powerpoint/2010/main" val="2163317811"/>
              </p:ext>
            </p:extLst>
          </p:nvPr>
        </p:nvGraphicFramePr>
        <p:xfrm>
          <a:off x="481490" y="2665475"/>
          <a:ext cx="5458060" cy="3346584"/>
        </p:xfrm>
        <a:graphic>
          <a:graphicData uri="http://schemas.openxmlformats.org/drawingml/2006/table">
            <a:tbl>
              <a:tblPr firstRow="1" bandRow="1">
                <a:tableStyleId>{21E4AEA4-8DFA-4A89-87EB-49C32662AFE0}</a:tableStyleId>
              </a:tblPr>
              <a:tblGrid>
                <a:gridCol w="1091612">
                  <a:extLst>
                    <a:ext uri="{9D8B030D-6E8A-4147-A177-3AD203B41FA5}">
                      <a16:colId xmlns:a16="http://schemas.microsoft.com/office/drawing/2014/main" val="682975906"/>
                    </a:ext>
                  </a:extLst>
                </a:gridCol>
                <a:gridCol w="1091612">
                  <a:extLst>
                    <a:ext uri="{9D8B030D-6E8A-4147-A177-3AD203B41FA5}">
                      <a16:colId xmlns:a16="http://schemas.microsoft.com/office/drawing/2014/main" val="3320282051"/>
                    </a:ext>
                  </a:extLst>
                </a:gridCol>
                <a:gridCol w="1089138">
                  <a:extLst>
                    <a:ext uri="{9D8B030D-6E8A-4147-A177-3AD203B41FA5}">
                      <a16:colId xmlns:a16="http://schemas.microsoft.com/office/drawing/2014/main" val="3922921517"/>
                    </a:ext>
                  </a:extLst>
                </a:gridCol>
                <a:gridCol w="1094086">
                  <a:extLst>
                    <a:ext uri="{9D8B030D-6E8A-4147-A177-3AD203B41FA5}">
                      <a16:colId xmlns:a16="http://schemas.microsoft.com/office/drawing/2014/main" val="1738005778"/>
                    </a:ext>
                  </a:extLst>
                </a:gridCol>
                <a:gridCol w="1091612">
                  <a:extLst>
                    <a:ext uri="{9D8B030D-6E8A-4147-A177-3AD203B41FA5}">
                      <a16:colId xmlns:a16="http://schemas.microsoft.com/office/drawing/2014/main" val="407593432"/>
                    </a:ext>
                  </a:extLst>
                </a:gridCol>
              </a:tblGrid>
              <a:tr h="727304">
                <a:tc>
                  <a:txBody>
                    <a:bodyPr/>
                    <a:lstStyle/>
                    <a:p>
                      <a:r>
                        <a:rPr lang="en-US" sz="1600" dirty="0"/>
                        <a:t>MODEL</a:t>
                      </a:r>
                    </a:p>
                  </a:txBody>
                  <a:tcPr/>
                </a:tc>
                <a:tc>
                  <a:txBody>
                    <a:bodyPr/>
                    <a:lstStyle/>
                    <a:p>
                      <a:r>
                        <a:rPr lang="en-US" sz="1600" dirty="0"/>
                        <a:t>ACCURACY</a:t>
                      </a:r>
                    </a:p>
                  </a:txBody>
                  <a:tcPr/>
                </a:tc>
                <a:tc>
                  <a:txBody>
                    <a:bodyPr/>
                    <a:lstStyle/>
                    <a:p>
                      <a:r>
                        <a:rPr lang="en-US" sz="1600" dirty="0"/>
                        <a:t>PRECISION</a:t>
                      </a:r>
                    </a:p>
                  </a:txBody>
                  <a:tcPr/>
                </a:tc>
                <a:tc>
                  <a:txBody>
                    <a:bodyPr/>
                    <a:lstStyle/>
                    <a:p>
                      <a:r>
                        <a:rPr lang="en-US" sz="1600" dirty="0"/>
                        <a:t>RECALL</a:t>
                      </a:r>
                    </a:p>
                  </a:txBody>
                  <a:tcPr/>
                </a:tc>
                <a:tc>
                  <a:txBody>
                    <a:bodyPr/>
                    <a:lstStyle/>
                    <a:p>
                      <a:r>
                        <a:rPr lang="en-US" sz="1600" dirty="0"/>
                        <a:t>F1-SCORE</a:t>
                      </a:r>
                    </a:p>
                  </a:txBody>
                  <a:tcPr/>
                </a:tc>
                <a:extLst>
                  <a:ext uri="{0D108BD9-81ED-4DB2-BD59-A6C34878D82A}">
                    <a16:rowId xmlns:a16="http://schemas.microsoft.com/office/drawing/2014/main" val="3558212311"/>
                  </a:ext>
                </a:extLst>
              </a:tr>
              <a:tr h="582336">
                <a:tc>
                  <a:txBody>
                    <a:bodyPr/>
                    <a:lstStyle/>
                    <a:p>
                      <a:r>
                        <a:rPr lang="en-US" sz="1600" b="0" dirty="0" err="1"/>
                        <a:t>XGBoost</a:t>
                      </a:r>
                      <a:endParaRPr lang="en-US" sz="1600" b="0" dirty="0"/>
                    </a:p>
                  </a:txBody>
                  <a:tcPr/>
                </a:tc>
                <a:tc>
                  <a:txBody>
                    <a:bodyPr/>
                    <a:lstStyle/>
                    <a:p>
                      <a:r>
                        <a:rPr lang="en-US" sz="1600" b="0" dirty="0"/>
                        <a:t>57.14%</a:t>
                      </a:r>
                    </a:p>
                  </a:txBody>
                  <a:tcPr/>
                </a:tc>
                <a:tc>
                  <a:txBody>
                    <a:bodyPr/>
                    <a:lstStyle/>
                    <a:p>
                      <a:r>
                        <a:rPr lang="en-US" sz="1600" b="0" dirty="0"/>
                        <a:t>0.571</a:t>
                      </a:r>
                    </a:p>
                  </a:txBody>
                  <a:tcPr/>
                </a:tc>
                <a:tc>
                  <a:txBody>
                    <a:bodyPr/>
                    <a:lstStyle/>
                    <a:p>
                      <a:r>
                        <a:rPr lang="en-US" sz="1600" b="0" dirty="0"/>
                        <a:t>0.571</a:t>
                      </a:r>
                    </a:p>
                  </a:txBody>
                  <a:tcPr/>
                </a:tc>
                <a:tc>
                  <a:txBody>
                    <a:bodyPr/>
                    <a:lstStyle/>
                    <a:p>
                      <a:r>
                        <a:rPr lang="en-US" sz="1600" b="0" dirty="0"/>
                        <a:t>0.571</a:t>
                      </a:r>
                    </a:p>
                  </a:txBody>
                  <a:tcPr/>
                </a:tc>
                <a:extLst>
                  <a:ext uri="{0D108BD9-81ED-4DB2-BD59-A6C34878D82A}">
                    <a16:rowId xmlns:a16="http://schemas.microsoft.com/office/drawing/2014/main" val="1108480404"/>
                  </a:ext>
                </a:extLst>
              </a:tr>
              <a:tr h="582336">
                <a:tc>
                  <a:txBody>
                    <a:bodyPr/>
                    <a:lstStyle/>
                    <a:p>
                      <a:r>
                        <a:rPr lang="en-US" sz="1600" dirty="0"/>
                        <a:t>KNN</a:t>
                      </a:r>
                    </a:p>
                  </a:txBody>
                  <a:tcPr/>
                </a:tc>
                <a:tc>
                  <a:txBody>
                    <a:bodyPr/>
                    <a:lstStyle/>
                    <a:p>
                      <a:r>
                        <a:rPr lang="en-US" sz="1600" dirty="0"/>
                        <a:t>55.10%</a:t>
                      </a:r>
                    </a:p>
                  </a:txBody>
                  <a:tcPr/>
                </a:tc>
                <a:tc>
                  <a:txBody>
                    <a:bodyPr/>
                    <a:lstStyle/>
                    <a:p>
                      <a:r>
                        <a:rPr lang="en-US" sz="1600" dirty="0"/>
                        <a:t>0.559</a:t>
                      </a:r>
                    </a:p>
                  </a:txBody>
                  <a:tcPr/>
                </a:tc>
                <a:tc>
                  <a:txBody>
                    <a:bodyPr/>
                    <a:lstStyle/>
                    <a:p>
                      <a:r>
                        <a:rPr lang="en-US" sz="1600" dirty="0"/>
                        <a:t>0.551</a:t>
                      </a:r>
                    </a:p>
                  </a:txBody>
                  <a:tcPr/>
                </a:tc>
                <a:tc>
                  <a:txBody>
                    <a:bodyPr/>
                    <a:lstStyle/>
                    <a:p>
                      <a:r>
                        <a:rPr lang="en-US" sz="1600" dirty="0"/>
                        <a:t>0.484</a:t>
                      </a:r>
                    </a:p>
                  </a:txBody>
                  <a:tcPr/>
                </a:tc>
                <a:extLst>
                  <a:ext uri="{0D108BD9-81ED-4DB2-BD59-A6C34878D82A}">
                    <a16:rowId xmlns:a16="http://schemas.microsoft.com/office/drawing/2014/main" val="587790866"/>
                  </a:ext>
                </a:extLst>
              </a:tr>
              <a:tr h="727304">
                <a:tc>
                  <a:txBody>
                    <a:bodyPr/>
                    <a:lstStyle/>
                    <a:p>
                      <a:r>
                        <a:rPr lang="en-US" sz="1600" dirty="0"/>
                        <a:t>Random Forest</a:t>
                      </a:r>
                    </a:p>
                  </a:txBody>
                  <a:tcPr/>
                </a:tc>
                <a:tc>
                  <a:txBody>
                    <a:bodyPr/>
                    <a:lstStyle/>
                    <a:p>
                      <a:r>
                        <a:rPr lang="en-US" sz="1600" dirty="0"/>
                        <a:t>51.02%</a:t>
                      </a:r>
                    </a:p>
                  </a:txBody>
                  <a:tcPr/>
                </a:tc>
                <a:tc>
                  <a:txBody>
                    <a:bodyPr/>
                    <a:lstStyle/>
                    <a:p>
                      <a:r>
                        <a:rPr lang="en-US" sz="1600" dirty="0"/>
                        <a:t>0.513</a:t>
                      </a:r>
                    </a:p>
                  </a:txBody>
                  <a:tcPr/>
                </a:tc>
                <a:tc>
                  <a:txBody>
                    <a:bodyPr/>
                    <a:lstStyle/>
                    <a:p>
                      <a:r>
                        <a:rPr lang="en-US" sz="1600" dirty="0"/>
                        <a:t>0.510</a:t>
                      </a:r>
                    </a:p>
                  </a:txBody>
                  <a:tcPr/>
                </a:tc>
                <a:tc>
                  <a:txBody>
                    <a:bodyPr/>
                    <a:lstStyle/>
                    <a:p>
                      <a:r>
                        <a:rPr lang="en-US" sz="1600" dirty="0"/>
                        <a:t>0.511</a:t>
                      </a:r>
                    </a:p>
                  </a:txBody>
                  <a:tcPr/>
                </a:tc>
                <a:extLst>
                  <a:ext uri="{0D108BD9-81ED-4DB2-BD59-A6C34878D82A}">
                    <a16:rowId xmlns:a16="http://schemas.microsoft.com/office/drawing/2014/main" val="1506442715"/>
                  </a:ext>
                </a:extLst>
              </a:tr>
              <a:tr h="727304">
                <a:tc>
                  <a:txBody>
                    <a:bodyPr/>
                    <a:lstStyle/>
                    <a:p>
                      <a:r>
                        <a:rPr lang="en-US" sz="1600" dirty="0"/>
                        <a:t>Gradient Boosting</a:t>
                      </a:r>
                    </a:p>
                  </a:txBody>
                  <a:tcPr/>
                </a:tc>
                <a:tc>
                  <a:txBody>
                    <a:bodyPr/>
                    <a:lstStyle/>
                    <a:p>
                      <a:r>
                        <a:rPr lang="en-US" sz="1600" dirty="0"/>
                        <a:t>51.02%</a:t>
                      </a:r>
                    </a:p>
                  </a:txBody>
                  <a:tcPr/>
                </a:tc>
                <a:tc>
                  <a:txBody>
                    <a:bodyPr/>
                    <a:lstStyle/>
                    <a:p>
                      <a:r>
                        <a:rPr lang="en-US" sz="1600" dirty="0"/>
                        <a:t>0.526</a:t>
                      </a:r>
                    </a:p>
                  </a:txBody>
                  <a:tcPr/>
                </a:tc>
                <a:tc>
                  <a:txBody>
                    <a:bodyPr/>
                    <a:lstStyle/>
                    <a:p>
                      <a:r>
                        <a:rPr lang="en-US" sz="1600" dirty="0"/>
                        <a:t>0.510</a:t>
                      </a:r>
                    </a:p>
                  </a:txBody>
                  <a:tcPr/>
                </a:tc>
                <a:tc>
                  <a:txBody>
                    <a:bodyPr/>
                    <a:lstStyle/>
                    <a:p>
                      <a:r>
                        <a:rPr lang="en-US" sz="1600" dirty="0"/>
                        <a:t>0.496</a:t>
                      </a:r>
                    </a:p>
                  </a:txBody>
                  <a:tcPr/>
                </a:tc>
                <a:extLst>
                  <a:ext uri="{0D108BD9-81ED-4DB2-BD59-A6C34878D82A}">
                    <a16:rowId xmlns:a16="http://schemas.microsoft.com/office/drawing/2014/main" val="1535301600"/>
                  </a:ext>
                </a:extLst>
              </a:tr>
            </a:tbl>
          </a:graphicData>
        </a:graphic>
      </p:graphicFrame>
      <p:sp>
        <p:nvSpPr>
          <p:cNvPr id="6" name="Title 5">
            <a:extLst>
              <a:ext uri="{FF2B5EF4-FFF2-40B4-BE49-F238E27FC236}">
                <a16:creationId xmlns:a16="http://schemas.microsoft.com/office/drawing/2014/main" id="{380DBB9E-DB96-A16A-C96B-7825542658B7}"/>
              </a:ext>
            </a:extLst>
          </p:cNvPr>
          <p:cNvSpPr>
            <a:spLocks noGrp="1"/>
          </p:cNvSpPr>
          <p:nvPr>
            <p:ph type="title"/>
          </p:nvPr>
        </p:nvSpPr>
        <p:spPr/>
        <p:txBody>
          <a:bodyPr/>
          <a:lstStyle/>
          <a:p>
            <a:r>
              <a:rPr lang="en-US" dirty="0"/>
              <a:t>MACHINE LEARNING RESULTS </a:t>
            </a:r>
          </a:p>
        </p:txBody>
      </p:sp>
      <p:pic>
        <p:nvPicPr>
          <p:cNvPr id="7" name="Google Shape;226;p35">
            <a:extLst>
              <a:ext uri="{FF2B5EF4-FFF2-40B4-BE49-F238E27FC236}">
                <a16:creationId xmlns:a16="http://schemas.microsoft.com/office/drawing/2014/main" id="{C4304455-469C-F301-F9BE-E2231E93166B}"/>
              </a:ext>
            </a:extLst>
          </p:cNvPr>
          <p:cNvPicPr preferRelativeResize="0">
            <a:picLocks noGrp="1"/>
          </p:cNvPicPr>
          <p:nvPr>
            <p:ph sz="quarter" idx="4"/>
          </p:nvPr>
        </p:nvPicPr>
        <p:blipFill>
          <a:blip r:embed="rId2">
            <a:alphaModFix/>
          </a:blip>
          <a:stretch>
            <a:fillRect/>
          </a:stretch>
        </p:blipFill>
        <p:spPr>
          <a:xfrm>
            <a:off x="6252451" y="2585466"/>
            <a:ext cx="5458059" cy="3426593"/>
          </a:xfrm>
          <a:prstGeom prst="rect">
            <a:avLst/>
          </a:prstGeom>
          <a:noFill/>
          <a:ln>
            <a:noFill/>
          </a:ln>
        </p:spPr>
      </p:pic>
      <p:sp>
        <p:nvSpPr>
          <p:cNvPr id="9" name="TextBox 8">
            <a:extLst>
              <a:ext uri="{FF2B5EF4-FFF2-40B4-BE49-F238E27FC236}">
                <a16:creationId xmlns:a16="http://schemas.microsoft.com/office/drawing/2014/main" id="{F9CC9B9E-66B9-1A33-28FF-EEA7B4F9F072}"/>
              </a:ext>
            </a:extLst>
          </p:cNvPr>
          <p:cNvSpPr txBox="1"/>
          <p:nvPr/>
        </p:nvSpPr>
        <p:spPr>
          <a:xfrm>
            <a:off x="891977" y="6259447"/>
            <a:ext cx="10720948" cy="369332"/>
          </a:xfrm>
          <a:prstGeom prst="rect">
            <a:avLst/>
          </a:prstGeom>
          <a:noFill/>
        </p:spPr>
        <p:txBody>
          <a:bodyPr wrap="none" rtlCol="0">
            <a:spAutoFit/>
          </a:bodyPr>
          <a:lstStyle/>
          <a:p>
            <a:r>
              <a:rPr lang="en-ZA" b="1" dirty="0"/>
              <a:t>Best Performer:</a:t>
            </a:r>
            <a:r>
              <a:rPr lang="en-ZA" dirty="0"/>
              <a:t> </a:t>
            </a:r>
            <a:r>
              <a:rPr lang="en-ZA" dirty="0" err="1"/>
              <a:t>XGBoost</a:t>
            </a:r>
            <a:r>
              <a:rPr lang="en-ZA" dirty="0"/>
              <a:t> with 57.14% accuracy in initial tests, improving to 71.2% with optimized lag features</a:t>
            </a:r>
            <a:endParaRPr lang="en-US" dirty="0"/>
          </a:p>
        </p:txBody>
      </p:sp>
      <p:sp>
        <p:nvSpPr>
          <p:cNvPr id="3" name="TextBox 2">
            <a:extLst>
              <a:ext uri="{FF2B5EF4-FFF2-40B4-BE49-F238E27FC236}">
                <a16:creationId xmlns:a16="http://schemas.microsoft.com/office/drawing/2014/main" id="{1B7E9449-0E69-5A47-65BB-E506AF75B5E1}"/>
              </a:ext>
            </a:extLst>
          </p:cNvPr>
          <p:cNvSpPr txBox="1"/>
          <p:nvPr/>
        </p:nvSpPr>
        <p:spPr>
          <a:xfrm>
            <a:off x="0" y="6488668"/>
            <a:ext cx="958917" cy="369332"/>
          </a:xfrm>
          <a:prstGeom prst="rect">
            <a:avLst/>
          </a:prstGeom>
          <a:noFill/>
        </p:spPr>
        <p:txBody>
          <a:bodyPr wrap="none" rtlCol="0">
            <a:spAutoFit/>
          </a:bodyPr>
          <a:lstStyle/>
          <a:p>
            <a:r>
              <a:rPr lang="en-US" dirty="0"/>
              <a:t>12 of 16</a:t>
            </a:r>
          </a:p>
        </p:txBody>
      </p:sp>
    </p:spTree>
    <p:extLst>
      <p:ext uri="{BB962C8B-B14F-4D97-AF65-F5344CB8AC3E}">
        <p14:creationId xmlns:p14="http://schemas.microsoft.com/office/powerpoint/2010/main" val="248599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D9DA-8BEA-1795-801F-F0DB2AC546EC}"/>
              </a:ext>
            </a:extLst>
          </p:cNvPr>
          <p:cNvSpPr>
            <a:spLocks noGrp="1"/>
          </p:cNvSpPr>
          <p:nvPr>
            <p:ph type="title"/>
          </p:nvPr>
        </p:nvSpPr>
        <p:spPr>
          <a:xfrm>
            <a:off x="1598375" y="4622533"/>
            <a:ext cx="8991600" cy="1264762"/>
          </a:xfrm>
        </p:spPr>
        <p:txBody>
          <a:bodyPr vert="horz" lIns="274320" tIns="182880" rIns="274320" bIns="182880" rtlCol="0" anchor="ctr" anchorCtr="1">
            <a:normAutofit/>
          </a:bodyPr>
          <a:lstStyle/>
          <a:p>
            <a:r>
              <a:rPr lang="en-US" sz="3200" dirty="0"/>
              <a:t>Machine Learning Results</a:t>
            </a:r>
          </a:p>
        </p:txBody>
      </p:sp>
      <p:sp>
        <p:nvSpPr>
          <p:cNvPr id="12" name="Rectangle 11">
            <a:extLst>
              <a:ext uri="{FF2B5EF4-FFF2-40B4-BE49-F238E27FC236}">
                <a16:creationId xmlns:a16="http://schemas.microsoft.com/office/drawing/2014/main" id="{F7DD4F16-A929-482C-B168-387384254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40555"/>
            <a:ext cx="10911840" cy="33120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8C4A220-E978-44DF-B951-44ABBA04D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6" y="806112"/>
            <a:ext cx="10579608" cy="29809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oogle Shape;237;p36">
            <a:extLst>
              <a:ext uri="{FF2B5EF4-FFF2-40B4-BE49-F238E27FC236}">
                <a16:creationId xmlns:a16="http://schemas.microsoft.com/office/drawing/2014/main" id="{F331C2C4-72C0-949E-3818-EA847C23C946}"/>
              </a:ext>
            </a:extLst>
          </p:cNvPr>
          <p:cNvPicPr preferRelativeResize="0"/>
          <p:nvPr/>
        </p:nvPicPr>
        <p:blipFill>
          <a:blip r:embed="rId2"/>
          <a:srcRect l="2188" r="14907"/>
          <a:stretch>
            <a:fillRect/>
          </a:stretch>
        </p:blipFill>
        <p:spPr>
          <a:xfrm>
            <a:off x="957437" y="806111"/>
            <a:ext cx="3319242" cy="2980943"/>
          </a:xfrm>
          <a:prstGeom prst="rect">
            <a:avLst/>
          </a:prstGeom>
          <a:noFill/>
        </p:spPr>
      </p:pic>
      <p:pic>
        <p:nvPicPr>
          <p:cNvPr id="5" name="Google Shape;235;p36">
            <a:extLst>
              <a:ext uri="{FF2B5EF4-FFF2-40B4-BE49-F238E27FC236}">
                <a16:creationId xmlns:a16="http://schemas.microsoft.com/office/drawing/2014/main" id="{EB880CA3-1D54-1AD6-DABD-E33032500D44}"/>
              </a:ext>
            </a:extLst>
          </p:cNvPr>
          <p:cNvPicPr preferRelativeResize="0">
            <a:picLocks noGrp="1"/>
          </p:cNvPicPr>
          <p:nvPr>
            <p:ph sz="half" idx="1"/>
          </p:nvPr>
        </p:nvPicPr>
        <p:blipFill>
          <a:blip r:embed="rId3"/>
          <a:srcRect r="16761"/>
          <a:stretch>
            <a:fillRect/>
          </a:stretch>
        </p:blipFill>
        <p:spPr>
          <a:xfrm>
            <a:off x="4434554" y="806110"/>
            <a:ext cx="3319243" cy="2980943"/>
          </a:xfrm>
          <a:prstGeom prst="rect">
            <a:avLst/>
          </a:prstGeom>
          <a:noFill/>
        </p:spPr>
      </p:pic>
      <p:pic>
        <p:nvPicPr>
          <p:cNvPr id="6" name="Google Shape;236;p36">
            <a:extLst>
              <a:ext uri="{FF2B5EF4-FFF2-40B4-BE49-F238E27FC236}">
                <a16:creationId xmlns:a16="http://schemas.microsoft.com/office/drawing/2014/main" id="{7D398710-1280-C12D-6F92-34204487DDAA}"/>
              </a:ext>
            </a:extLst>
          </p:cNvPr>
          <p:cNvPicPr preferRelativeResize="0">
            <a:picLocks noGrp="1"/>
          </p:cNvPicPr>
          <p:nvPr>
            <p:ph sz="half" idx="2"/>
          </p:nvPr>
        </p:nvPicPr>
        <p:blipFill>
          <a:blip r:embed="rId4"/>
          <a:srcRect l="2858" r="14502" b="-4"/>
          <a:stretch>
            <a:fillRect/>
          </a:stretch>
        </p:blipFill>
        <p:spPr>
          <a:xfrm>
            <a:off x="7919913" y="806110"/>
            <a:ext cx="3301299" cy="2980943"/>
          </a:xfrm>
          <a:prstGeom prst="rect">
            <a:avLst/>
          </a:prstGeom>
          <a:noFill/>
        </p:spPr>
      </p:pic>
      <p:sp>
        <p:nvSpPr>
          <p:cNvPr id="3" name="TextBox 2">
            <a:extLst>
              <a:ext uri="{FF2B5EF4-FFF2-40B4-BE49-F238E27FC236}">
                <a16:creationId xmlns:a16="http://schemas.microsoft.com/office/drawing/2014/main" id="{65A562C3-C4E9-E6EA-E1CC-05C603933292}"/>
              </a:ext>
            </a:extLst>
          </p:cNvPr>
          <p:cNvSpPr txBox="1"/>
          <p:nvPr/>
        </p:nvSpPr>
        <p:spPr>
          <a:xfrm>
            <a:off x="0" y="6488668"/>
            <a:ext cx="958917" cy="369332"/>
          </a:xfrm>
          <a:prstGeom prst="rect">
            <a:avLst/>
          </a:prstGeom>
          <a:noFill/>
        </p:spPr>
        <p:txBody>
          <a:bodyPr wrap="none" rtlCol="0">
            <a:spAutoFit/>
          </a:bodyPr>
          <a:lstStyle/>
          <a:p>
            <a:r>
              <a:rPr lang="en-US" dirty="0"/>
              <a:t>13 of 16</a:t>
            </a:r>
          </a:p>
        </p:txBody>
      </p:sp>
      <p:sp>
        <p:nvSpPr>
          <p:cNvPr id="4" name="Rectangle: Rounded Corners 3">
            <a:extLst>
              <a:ext uri="{FF2B5EF4-FFF2-40B4-BE49-F238E27FC236}">
                <a16:creationId xmlns:a16="http://schemas.microsoft.com/office/drawing/2014/main" id="{AAED3ACC-6050-CC73-56F2-0A00C394D041}"/>
              </a:ext>
            </a:extLst>
          </p:cNvPr>
          <p:cNvSpPr/>
          <p:nvPr/>
        </p:nvSpPr>
        <p:spPr>
          <a:xfrm>
            <a:off x="1112520" y="967740"/>
            <a:ext cx="739140" cy="914400"/>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ZA"/>
          </a:p>
        </p:txBody>
      </p:sp>
      <p:sp>
        <p:nvSpPr>
          <p:cNvPr id="8" name="Rectangle: Rounded Corners 7">
            <a:extLst>
              <a:ext uri="{FF2B5EF4-FFF2-40B4-BE49-F238E27FC236}">
                <a16:creationId xmlns:a16="http://schemas.microsoft.com/office/drawing/2014/main" id="{2C5BD64A-6253-F7BD-3C84-BCBBD17E11E7}"/>
              </a:ext>
            </a:extLst>
          </p:cNvPr>
          <p:cNvSpPr/>
          <p:nvPr/>
        </p:nvSpPr>
        <p:spPr>
          <a:xfrm>
            <a:off x="4427920" y="967740"/>
            <a:ext cx="883220" cy="914400"/>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ZA"/>
          </a:p>
        </p:txBody>
      </p:sp>
      <p:sp>
        <p:nvSpPr>
          <p:cNvPr id="9" name="Rectangle: Rounded Corners 8">
            <a:extLst>
              <a:ext uri="{FF2B5EF4-FFF2-40B4-BE49-F238E27FC236}">
                <a16:creationId xmlns:a16="http://schemas.microsoft.com/office/drawing/2014/main" id="{03FF4D69-C14B-EB8D-BED7-A5A9E1BD9099}"/>
              </a:ext>
            </a:extLst>
          </p:cNvPr>
          <p:cNvSpPr/>
          <p:nvPr/>
        </p:nvSpPr>
        <p:spPr>
          <a:xfrm>
            <a:off x="7818820" y="967740"/>
            <a:ext cx="883220" cy="914400"/>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ZA"/>
          </a:p>
        </p:txBody>
      </p:sp>
    </p:spTree>
    <p:extLst>
      <p:ext uri="{BB962C8B-B14F-4D97-AF65-F5344CB8AC3E}">
        <p14:creationId xmlns:p14="http://schemas.microsoft.com/office/powerpoint/2010/main" val="2932273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C69F2D-4B2F-19E2-6CA1-3A1999C4C21F}"/>
              </a:ext>
            </a:extLst>
          </p:cNvPr>
          <p:cNvSpPr>
            <a:spLocks noGrp="1"/>
          </p:cNvSpPr>
          <p:nvPr>
            <p:ph type="body" idx="1"/>
          </p:nvPr>
        </p:nvSpPr>
        <p:spPr/>
        <p:txBody>
          <a:bodyPr/>
          <a:lstStyle/>
          <a:p>
            <a:r>
              <a:rPr lang="en-US" dirty="0"/>
              <a:t>Evidence supporting hypothesis</a:t>
            </a:r>
          </a:p>
        </p:txBody>
      </p:sp>
      <p:sp>
        <p:nvSpPr>
          <p:cNvPr id="3" name="Content Placeholder 2">
            <a:extLst>
              <a:ext uri="{FF2B5EF4-FFF2-40B4-BE49-F238E27FC236}">
                <a16:creationId xmlns:a16="http://schemas.microsoft.com/office/drawing/2014/main" id="{41EB15A9-D18B-E4EB-555F-83B77148E145}"/>
              </a:ext>
            </a:extLst>
          </p:cNvPr>
          <p:cNvSpPr>
            <a:spLocks noGrp="1"/>
          </p:cNvSpPr>
          <p:nvPr>
            <p:ph sz="half" idx="2"/>
          </p:nvPr>
        </p:nvSpPr>
        <p:spPr/>
        <p:txBody>
          <a:bodyPr>
            <a:normAutofit lnSpcReduction="10000"/>
          </a:bodyPr>
          <a:lstStyle/>
          <a:p>
            <a:r>
              <a:rPr lang="en-ZA" dirty="0"/>
              <a:t>Statistical significance in cross-correlation patterns.</a:t>
            </a:r>
          </a:p>
          <a:p>
            <a:r>
              <a:rPr lang="en-ZA" dirty="0"/>
              <a:t>71% directional accuracy in optimized models.</a:t>
            </a:r>
          </a:p>
          <a:p>
            <a:r>
              <a:rPr lang="en-ZA" dirty="0"/>
              <a:t>High feature importance for GSVI in ML models.</a:t>
            </a:r>
          </a:p>
          <a:p>
            <a:r>
              <a:rPr lang="en-ZA" dirty="0"/>
              <a:t>R² of 0.48 indicates moderate explanatory power.</a:t>
            </a:r>
          </a:p>
          <a:p>
            <a:endParaRPr lang="en-US" dirty="0"/>
          </a:p>
        </p:txBody>
      </p:sp>
      <p:sp>
        <p:nvSpPr>
          <p:cNvPr id="4" name="Content Placeholder 3">
            <a:extLst>
              <a:ext uri="{FF2B5EF4-FFF2-40B4-BE49-F238E27FC236}">
                <a16:creationId xmlns:a16="http://schemas.microsoft.com/office/drawing/2014/main" id="{C166B3E2-A2B9-9A6C-8EB1-A4A029C3880B}"/>
              </a:ext>
            </a:extLst>
          </p:cNvPr>
          <p:cNvSpPr>
            <a:spLocks noGrp="1"/>
          </p:cNvSpPr>
          <p:nvPr>
            <p:ph sz="quarter" idx="4"/>
          </p:nvPr>
        </p:nvSpPr>
        <p:spPr/>
        <p:txBody>
          <a:bodyPr>
            <a:normAutofit lnSpcReduction="10000"/>
          </a:bodyPr>
          <a:lstStyle/>
          <a:p>
            <a:r>
              <a:rPr lang="en-ZA" dirty="0"/>
              <a:t>MAPE approximately 39% - significant prediction error remains.</a:t>
            </a:r>
          </a:p>
          <a:p>
            <a:r>
              <a:rPr lang="en-ZA" dirty="0"/>
              <a:t>One-year timeframe may be insufficient.</a:t>
            </a:r>
          </a:p>
          <a:p>
            <a:r>
              <a:rPr lang="en-ZA" dirty="0"/>
              <a:t>External factors (macroeconomic events) not fully captured.</a:t>
            </a:r>
          </a:p>
          <a:p>
            <a:r>
              <a:rPr lang="en-ZA" dirty="0"/>
              <a:t>Low search volumes in South African context.</a:t>
            </a:r>
          </a:p>
          <a:p>
            <a:endParaRPr lang="en-ZA" dirty="0"/>
          </a:p>
          <a:p>
            <a:endParaRPr lang="en-ZA" dirty="0"/>
          </a:p>
          <a:p>
            <a:endParaRPr lang="en-ZA" dirty="0"/>
          </a:p>
          <a:p>
            <a:endParaRPr lang="en-US" dirty="0"/>
          </a:p>
        </p:txBody>
      </p:sp>
      <p:sp>
        <p:nvSpPr>
          <p:cNvPr id="5" name="Text Placeholder 4">
            <a:extLst>
              <a:ext uri="{FF2B5EF4-FFF2-40B4-BE49-F238E27FC236}">
                <a16:creationId xmlns:a16="http://schemas.microsoft.com/office/drawing/2014/main" id="{965EC9B1-724B-43C3-11B2-12B4CA9BC582}"/>
              </a:ext>
            </a:extLst>
          </p:cNvPr>
          <p:cNvSpPr>
            <a:spLocks noGrp="1"/>
          </p:cNvSpPr>
          <p:nvPr>
            <p:ph type="body" sz="quarter" idx="13"/>
          </p:nvPr>
        </p:nvSpPr>
        <p:spPr/>
        <p:txBody>
          <a:bodyPr/>
          <a:lstStyle/>
          <a:p>
            <a:r>
              <a:rPr lang="en-US" dirty="0"/>
              <a:t>limitations</a:t>
            </a:r>
          </a:p>
        </p:txBody>
      </p:sp>
      <p:sp>
        <p:nvSpPr>
          <p:cNvPr id="6" name="Title 5">
            <a:extLst>
              <a:ext uri="{FF2B5EF4-FFF2-40B4-BE49-F238E27FC236}">
                <a16:creationId xmlns:a16="http://schemas.microsoft.com/office/drawing/2014/main" id="{69FCA94E-C4AE-CF87-13FC-638E627377C9}"/>
              </a:ext>
            </a:extLst>
          </p:cNvPr>
          <p:cNvSpPr>
            <a:spLocks noGrp="1"/>
          </p:cNvSpPr>
          <p:nvPr>
            <p:ph type="title"/>
          </p:nvPr>
        </p:nvSpPr>
        <p:spPr/>
        <p:txBody>
          <a:bodyPr/>
          <a:lstStyle/>
          <a:p>
            <a:r>
              <a:rPr lang="en-US" dirty="0"/>
              <a:t>Research Question and Evidence</a:t>
            </a:r>
          </a:p>
        </p:txBody>
      </p:sp>
      <p:sp>
        <p:nvSpPr>
          <p:cNvPr id="8" name="TextBox 7">
            <a:extLst>
              <a:ext uri="{FF2B5EF4-FFF2-40B4-BE49-F238E27FC236}">
                <a16:creationId xmlns:a16="http://schemas.microsoft.com/office/drawing/2014/main" id="{2C2D4ECA-4617-216D-924B-CC434A6BCF3D}"/>
              </a:ext>
            </a:extLst>
          </p:cNvPr>
          <p:cNvSpPr txBox="1"/>
          <p:nvPr/>
        </p:nvSpPr>
        <p:spPr>
          <a:xfrm>
            <a:off x="1336530" y="6128085"/>
            <a:ext cx="10003572" cy="369332"/>
          </a:xfrm>
          <a:prstGeom prst="rect">
            <a:avLst/>
          </a:prstGeom>
          <a:noFill/>
        </p:spPr>
        <p:txBody>
          <a:bodyPr wrap="none" rtlCol="0">
            <a:spAutoFit/>
          </a:bodyPr>
          <a:lstStyle/>
          <a:p>
            <a:r>
              <a:rPr lang="en-ZA" b="1" dirty="0"/>
              <a:t>Conclusion:</a:t>
            </a:r>
            <a:r>
              <a:rPr lang="en-ZA" dirty="0"/>
              <a:t> Google Trends data contains predictive signals at 7-14 day lags, but relationship is moderate</a:t>
            </a:r>
            <a:endParaRPr lang="en-US" dirty="0"/>
          </a:p>
        </p:txBody>
      </p:sp>
      <p:sp>
        <p:nvSpPr>
          <p:cNvPr id="7" name="TextBox 6">
            <a:extLst>
              <a:ext uri="{FF2B5EF4-FFF2-40B4-BE49-F238E27FC236}">
                <a16:creationId xmlns:a16="http://schemas.microsoft.com/office/drawing/2014/main" id="{37B72EFF-B7A0-CEDA-5B39-3861D094F0AF}"/>
              </a:ext>
            </a:extLst>
          </p:cNvPr>
          <p:cNvSpPr txBox="1"/>
          <p:nvPr/>
        </p:nvSpPr>
        <p:spPr>
          <a:xfrm>
            <a:off x="0" y="6488668"/>
            <a:ext cx="958917" cy="369332"/>
          </a:xfrm>
          <a:prstGeom prst="rect">
            <a:avLst/>
          </a:prstGeom>
          <a:noFill/>
        </p:spPr>
        <p:txBody>
          <a:bodyPr wrap="none" rtlCol="0">
            <a:spAutoFit/>
          </a:bodyPr>
          <a:lstStyle/>
          <a:p>
            <a:r>
              <a:rPr lang="en-US" dirty="0"/>
              <a:t>14 of 16</a:t>
            </a:r>
          </a:p>
        </p:txBody>
      </p:sp>
    </p:spTree>
    <p:extLst>
      <p:ext uri="{BB962C8B-B14F-4D97-AF65-F5344CB8AC3E}">
        <p14:creationId xmlns:p14="http://schemas.microsoft.com/office/powerpoint/2010/main" val="3770938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9C5E3C-6DC0-D053-1A85-3381BACDA3EE}"/>
              </a:ext>
            </a:extLst>
          </p:cNvPr>
          <p:cNvSpPr>
            <a:spLocks noGrp="1"/>
          </p:cNvSpPr>
          <p:nvPr>
            <p:ph type="body" idx="1"/>
          </p:nvPr>
        </p:nvSpPr>
        <p:spPr/>
        <p:txBody>
          <a:bodyPr/>
          <a:lstStyle/>
          <a:p>
            <a:r>
              <a:rPr lang="en-US" dirty="0"/>
              <a:t>For Investors and traders</a:t>
            </a:r>
          </a:p>
        </p:txBody>
      </p:sp>
      <p:sp>
        <p:nvSpPr>
          <p:cNvPr id="3" name="Content Placeholder 2">
            <a:extLst>
              <a:ext uri="{FF2B5EF4-FFF2-40B4-BE49-F238E27FC236}">
                <a16:creationId xmlns:a16="http://schemas.microsoft.com/office/drawing/2014/main" id="{FA2D8214-3217-C28E-8238-9C1C421B353C}"/>
              </a:ext>
            </a:extLst>
          </p:cNvPr>
          <p:cNvSpPr>
            <a:spLocks noGrp="1"/>
          </p:cNvSpPr>
          <p:nvPr>
            <p:ph sz="half" idx="2"/>
          </p:nvPr>
        </p:nvSpPr>
        <p:spPr>
          <a:xfrm>
            <a:off x="1583436" y="3143250"/>
            <a:ext cx="4270248" cy="3562350"/>
          </a:xfrm>
        </p:spPr>
        <p:txBody>
          <a:bodyPr>
            <a:normAutofit/>
          </a:bodyPr>
          <a:lstStyle/>
          <a:p>
            <a:r>
              <a:rPr lang="en-ZA" dirty="0"/>
              <a:t>Use as supplementary indicator, not standalone signal.</a:t>
            </a:r>
          </a:p>
          <a:p>
            <a:r>
              <a:rPr lang="en-ZA" dirty="0"/>
              <a:t>Focus on 7-14 day lag periods for optimal predictive value.</a:t>
            </a:r>
          </a:p>
          <a:p>
            <a:r>
              <a:rPr lang="en-ZA" dirty="0"/>
              <a:t>Monitor keywords: banking services, financial advice, investment tips.</a:t>
            </a:r>
          </a:p>
          <a:p>
            <a:r>
              <a:rPr lang="en-ZA" dirty="0"/>
              <a:t>Combine with technical analysis and fundamental research.</a:t>
            </a:r>
          </a:p>
          <a:p>
            <a:r>
              <a:rPr lang="en-ZA" dirty="0"/>
              <a:t>71% directional accuracy is promising but requires validation.</a:t>
            </a:r>
          </a:p>
          <a:p>
            <a:endParaRPr lang="en-US" dirty="0"/>
          </a:p>
        </p:txBody>
      </p:sp>
      <p:sp>
        <p:nvSpPr>
          <p:cNvPr id="4" name="Content Placeholder 3">
            <a:extLst>
              <a:ext uri="{FF2B5EF4-FFF2-40B4-BE49-F238E27FC236}">
                <a16:creationId xmlns:a16="http://schemas.microsoft.com/office/drawing/2014/main" id="{46A937EE-1865-E53D-8200-F801B88CF2F7}"/>
              </a:ext>
            </a:extLst>
          </p:cNvPr>
          <p:cNvSpPr>
            <a:spLocks noGrp="1"/>
          </p:cNvSpPr>
          <p:nvPr>
            <p:ph sz="quarter" idx="4"/>
          </p:nvPr>
        </p:nvSpPr>
        <p:spPr>
          <a:xfrm>
            <a:off x="6338316" y="3143250"/>
            <a:ext cx="4253484" cy="3257550"/>
          </a:xfrm>
        </p:spPr>
        <p:txBody>
          <a:bodyPr>
            <a:normAutofit/>
          </a:bodyPr>
          <a:lstStyle/>
          <a:p>
            <a:r>
              <a:rPr lang="en-ZA" dirty="0"/>
              <a:t>Multi-year analysis to capture market cycles.</a:t>
            </a:r>
          </a:p>
          <a:p>
            <a:r>
              <a:rPr lang="en-ZA" dirty="0"/>
              <a:t>Test across multiple JSE-listed stocks.</a:t>
            </a:r>
          </a:p>
          <a:p>
            <a:r>
              <a:rPr lang="en-ZA" dirty="0"/>
              <a:t>Incorporate sentiment analysis of search queries.</a:t>
            </a:r>
          </a:p>
          <a:p>
            <a:r>
              <a:rPr lang="en-ZA" dirty="0"/>
              <a:t>Integrate macroeconomic indicators.</a:t>
            </a:r>
          </a:p>
          <a:p>
            <a:r>
              <a:rPr lang="en-ZA" dirty="0"/>
              <a:t>Real-time trading simulation and </a:t>
            </a:r>
            <a:r>
              <a:rPr lang="en-ZA" dirty="0" err="1"/>
              <a:t>backtesting</a:t>
            </a:r>
            <a:r>
              <a:rPr lang="en-ZA" dirty="0"/>
              <a:t>.</a:t>
            </a:r>
          </a:p>
          <a:p>
            <a:r>
              <a:rPr lang="en-US" dirty="0"/>
              <a:t>Is Google still the largest search engine?</a:t>
            </a:r>
          </a:p>
        </p:txBody>
      </p:sp>
      <p:sp>
        <p:nvSpPr>
          <p:cNvPr id="5" name="Text Placeholder 4">
            <a:extLst>
              <a:ext uri="{FF2B5EF4-FFF2-40B4-BE49-F238E27FC236}">
                <a16:creationId xmlns:a16="http://schemas.microsoft.com/office/drawing/2014/main" id="{803587C9-9AF8-5038-CDA3-E4012CD50FD2}"/>
              </a:ext>
            </a:extLst>
          </p:cNvPr>
          <p:cNvSpPr>
            <a:spLocks noGrp="1"/>
          </p:cNvSpPr>
          <p:nvPr>
            <p:ph type="body" sz="quarter" idx="13"/>
          </p:nvPr>
        </p:nvSpPr>
        <p:spPr/>
        <p:txBody>
          <a:bodyPr/>
          <a:lstStyle/>
          <a:p>
            <a:r>
              <a:rPr lang="en-US" dirty="0"/>
              <a:t>Future research</a:t>
            </a:r>
          </a:p>
        </p:txBody>
      </p:sp>
      <p:sp>
        <p:nvSpPr>
          <p:cNvPr id="6" name="Title 5">
            <a:extLst>
              <a:ext uri="{FF2B5EF4-FFF2-40B4-BE49-F238E27FC236}">
                <a16:creationId xmlns:a16="http://schemas.microsoft.com/office/drawing/2014/main" id="{23ECDC3C-4F5F-FC81-3ECB-72FD60992F7C}"/>
              </a:ext>
            </a:extLst>
          </p:cNvPr>
          <p:cNvSpPr>
            <a:spLocks noGrp="1"/>
          </p:cNvSpPr>
          <p:nvPr>
            <p:ph type="title"/>
          </p:nvPr>
        </p:nvSpPr>
        <p:spPr/>
        <p:txBody>
          <a:bodyPr/>
          <a:lstStyle/>
          <a:p>
            <a:r>
              <a:rPr lang="en-US" dirty="0"/>
              <a:t>Recommendations and future Directions</a:t>
            </a:r>
          </a:p>
        </p:txBody>
      </p:sp>
      <p:sp>
        <p:nvSpPr>
          <p:cNvPr id="7" name="TextBox 6">
            <a:extLst>
              <a:ext uri="{FF2B5EF4-FFF2-40B4-BE49-F238E27FC236}">
                <a16:creationId xmlns:a16="http://schemas.microsoft.com/office/drawing/2014/main" id="{965592CA-4F2A-C04E-B884-5FFC838C8918}"/>
              </a:ext>
            </a:extLst>
          </p:cNvPr>
          <p:cNvSpPr txBox="1"/>
          <p:nvPr/>
        </p:nvSpPr>
        <p:spPr>
          <a:xfrm>
            <a:off x="0" y="6488668"/>
            <a:ext cx="958917" cy="369332"/>
          </a:xfrm>
          <a:prstGeom prst="rect">
            <a:avLst/>
          </a:prstGeom>
          <a:noFill/>
        </p:spPr>
        <p:txBody>
          <a:bodyPr wrap="none" rtlCol="0">
            <a:spAutoFit/>
          </a:bodyPr>
          <a:lstStyle/>
          <a:p>
            <a:r>
              <a:rPr lang="en-US" dirty="0"/>
              <a:t>15 of 16</a:t>
            </a:r>
          </a:p>
        </p:txBody>
      </p:sp>
    </p:spTree>
    <p:extLst>
      <p:ext uri="{BB962C8B-B14F-4D97-AF65-F5344CB8AC3E}">
        <p14:creationId xmlns:p14="http://schemas.microsoft.com/office/powerpoint/2010/main" val="3198104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B9B8-91D7-886A-1939-E1E1AD0FA3E6}"/>
              </a:ext>
            </a:extLst>
          </p:cNvPr>
          <p:cNvSpPr>
            <a:spLocks noGrp="1"/>
          </p:cNvSpPr>
          <p:nvPr>
            <p:ph type="ctrTitle"/>
          </p:nvPr>
        </p:nvSpPr>
        <p:spPr/>
        <p:txBody>
          <a:bodyPr/>
          <a:lstStyle/>
          <a:p>
            <a:r>
              <a:rPr lang="en-GB" sz="4000" b="1" dirty="0">
                <a:solidFill>
                  <a:srgbClr val="2C3E50"/>
                </a:solidFill>
                <a:latin typeface="Verdana"/>
                <a:ea typeface="Verdana"/>
                <a:cs typeface="Verdana"/>
                <a:sym typeface="Verdana"/>
              </a:rPr>
              <a:t>Thank You</a:t>
            </a:r>
            <a:br>
              <a:rPr lang="en-GB" sz="4000" b="1" dirty="0">
                <a:solidFill>
                  <a:srgbClr val="2C3E50"/>
                </a:solidFill>
                <a:latin typeface="Verdana"/>
                <a:ea typeface="Verdana"/>
                <a:cs typeface="Verdana"/>
                <a:sym typeface="Verdana"/>
              </a:rPr>
            </a:br>
            <a:endParaRPr lang="en-US" dirty="0"/>
          </a:p>
        </p:txBody>
      </p:sp>
      <p:sp>
        <p:nvSpPr>
          <p:cNvPr id="3" name="Subtitle 2">
            <a:extLst>
              <a:ext uri="{FF2B5EF4-FFF2-40B4-BE49-F238E27FC236}">
                <a16:creationId xmlns:a16="http://schemas.microsoft.com/office/drawing/2014/main" id="{0C2E8CFF-7F49-8386-8DAA-7A2A96E38835}"/>
              </a:ext>
            </a:extLst>
          </p:cNvPr>
          <p:cNvSpPr>
            <a:spLocks noGrp="1"/>
          </p:cNvSpPr>
          <p:nvPr>
            <p:ph type="subTitle" idx="1"/>
          </p:nvPr>
        </p:nvSpPr>
        <p:spPr/>
        <p:txBody>
          <a:bodyPr/>
          <a:lstStyle/>
          <a:p>
            <a:r>
              <a:rPr lang="en-US" dirty="0"/>
              <a:t>Group 4 </a:t>
            </a:r>
          </a:p>
        </p:txBody>
      </p:sp>
      <p:pic>
        <p:nvPicPr>
          <p:cNvPr id="5" name="Google Shape;132;p25" descr="A black background with letters&#10;&#10;AI-generated content may be incorrect.">
            <a:extLst>
              <a:ext uri="{FF2B5EF4-FFF2-40B4-BE49-F238E27FC236}">
                <a16:creationId xmlns:a16="http://schemas.microsoft.com/office/drawing/2014/main" id="{5201D5E1-98AD-CF07-5550-B36F220DEFE9}"/>
              </a:ext>
            </a:extLst>
          </p:cNvPr>
          <p:cNvPicPr preferRelativeResize="0"/>
          <p:nvPr/>
        </p:nvPicPr>
        <p:blipFill rotWithShape="1">
          <a:blip r:embed="rId3"/>
          <a:stretch/>
        </p:blipFill>
        <p:spPr>
          <a:xfrm>
            <a:off x="1600200" y="338839"/>
            <a:ext cx="2338237" cy="2338237"/>
          </a:xfrm>
          <a:prstGeom prst="rect">
            <a:avLst/>
          </a:prstGeom>
          <a:noFill/>
        </p:spPr>
      </p:pic>
      <p:pic>
        <p:nvPicPr>
          <p:cNvPr id="7" name="Google Shape;133;p25" descr="A logo of a company&#10;&#10;AI-generated content may be incorrect.">
            <a:extLst>
              <a:ext uri="{FF2B5EF4-FFF2-40B4-BE49-F238E27FC236}">
                <a16:creationId xmlns:a16="http://schemas.microsoft.com/office/drawing/2014/main" id="{46815DCD-A65D-0EA8-C0FE-FD0B29A17ED5}"/>
              </a:ext>
            </a:extLst>
          </p:cNvPr>
          <p:cNvPicPr preferRelativeResize="0"/>
          <p:nvPr/>
        </p:nvPicPr>
        <p:blipFill rotWithShape="1">
          <a:blip r:embed="rId4"/>
          <a:stretch/>
        </p:blipFill>
        <p:spPr>
          <a:xfrm>
            <a:off x="4759964" y="331000"/>
            <a:ext cx="2338237" cy="2338237"/>
          </a:xfrm>
          <a:prstGeom prst="rect">
            <a:avLst/>
          </a:prstGeom>
          <a:noFill/>
        </p:spPr>
      </p:pic>
      <p:pic>
        <p:nvPicPr>
          <p:cNvPr id="9" name="Google Shape;134;p25" descr="A black and white logo with a lion in a circle&#10;&#10;AI-generated content may be incorrect.">
            <a:extLst>
              <a:ext uri="{FF2B5EF4-FFF2-40B4-BE49-F238E27FC236}">
                <a16:creationId xmlns:a16="http://schemas.microsoft.com/office/drawing/2014/main" id="{F972F9FD-7B81-21A4-41FF-8F8C71268C48}"/>
              </a:ext>
            </a:extLst>
          </p:cNvPr>
          <p:cNvPicPr preferRelativeResize="0"/>
          <p:nvPr/>
        </p:nvPicPr>
        <p:blipFill rotWithShape="1">
          <a:blip r:embed="rId5"/>
          <a:srcRect t="15264" b="15257"/>
          <a:stretch/>
        </p:blipFill>
        <p:spPr>
          <a:xfrm>
            <a:off x="7498995" y="818731"/>
            <a:ext cx="2632777" cy="1362773"/>
          </a:xfrm>
          <a:prstGeom prst="rect">
            <a:avLst/>
          </a:prstGeom>
          <a:noFill/>
        </p:spPr>
      </p:pic>
      <p:sp>
        <p:nvSpPr>
          <p:cNvPr id="4" name="TextBox 3">
            <a:extLst>
              <a:ext uri="{FF2B5EF4-FFF2-40B4-BE49-F238E27FC236}">
                <a16:creationId xmlns:a16="http://schemas.microsoft.com/office/drawing/2014/main" id="{4E35B836-9068-0E44-B42A-88D82391A818}"/>
              </a:ext>
            </a:extLst>
          </p:cNvPr>
          <p:cNvSpPr txBox="1"/>
          <p:nvPr/>
        </p:nvSpPr>
        <p:spPr>
          <a:xfrm>
            <a:off x="0" y="6488668"/>
            <a:ext cx="958917" cy="369332"/>
          </a:xfrm>
          <a:prstGeom prst="rect">
            <a:avLst/>
          </a:prstGeom>
          <a:noFill/>
        </p:spPr>
        <p:txBody>
          <a:bodyPr wrap="none" rtlCol="0">
            <a:spAutoFit/>
          </a:bodyPr>
          <a:lstStyle/>
          <a:p>
            <a:r>
              <a:rPr lang="en-US" dirty="0">
                <a:solidFill>
                  <a:schemeClr val="bg1"/>
                </a:solidFill>
              </a:rPr>
              <a:t>16 of 16</a:t>
            </a:r>
          </a:p>
        </p:txBody>
      </p:sp>
    </p:spTree>
    <p:extLst>
      <p:ext uri="{BB962C8B-B14F-4D97-AF65-F5344CB8AC3E}">
        <p14:creationId xmlns:p14="http://schemas.microsoft.com/office/powerpoint/2010/main" val="303188295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167</TotalTime>
  <Words>1888</Words>
  <Application>Microsoft Office PowerPoint</Application>
  <PresentationFormat>Widescreen</PresentationFormat>
  <Paragraphs>228</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Gill Sans MT</vt:lpstr>
      <vt:lpstr>Verdana</vt:lpstr>
      <vt:lpstr>-webkit-standard</vt:lpstr>
      <vt:lpstr>Parcel</vt:lpstr>
      <vt:lpstr> Assignment 1: Google Trends and Stock price fluctuations </vt:lpstr>
      <vt:lpstr>Introduction and Background </vt:lpstr>
      <vt:lpstr>Is This Possible (Evidence From literature)</vt:lpstr>
      <vt:lpstr>Why firstrand?</vt:lpstr>
      <vt:lpstr>Methodology (Time Series Analysis) </vt:lpstr>
      <vt:lpstr>Results and Insights</vt:lpstr>
      <vt:lpstr>Methodology  (Statistical Approach)</vt:lpstr>
      <vt:lpstr>Regression Findings</vt:lpstr>
      <vt:lpstr>Granger Causality Findings</vt:lpstr>
      <vt:lpstr>Methodology (Machine learning approach)</vt:lpstr>
      <vt:lpstr>Methodology (REGRESSION PERFOMANCE METRICS)</vt:lpstr>
      <vt:lpstr>MACHINE LEARNING RESULTS </vt:lpstr>
      <vt:lpstr>Machine Learning Results</vt:lpstr>
      <vt:lpstr>Research Question and Evidence</vt:lpstr>
      <vt:lpstr>Recommendations and future Directions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Anesu Mukuvari</dc:creator>
  <cp:lastModifiedBy>Ayanda Mhlauli</cp:lastModifiedBy>
  <cp:revision>6</cp:revision>
  <dcterms:created xsi:type="dcterms:W3CDTF">2025-11-13T14:59:01Z</dcterms:created>
  <dcterms:modified xsi:type="dcterms:W3CDTF">2025-11-14T16:34:47Z</dcterms:modified>
</cp:coreProperties>
</file>